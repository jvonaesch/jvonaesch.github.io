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256" r:id="rId2"/>
    <p:sldId id="261" r:id="rId3"/>
    <p:sldId id="292" r:id="rId4"/>
    <p:sldId id="311" r:id="rId5"/>
    <p:sldId id="312" r:id="rId6"/>
    <p:sldId id="314" r:id="rId7"/>
    <p:sldId id="316" r:id="rId8"/>
    <p:sldId id="324" r:id="rId9"/>
    <p:sldId id="315" r:id="rId10"/>
    <p:sldId id="318" r:id="rId11"/>
    <p:sldId id="317" r:id="rId12"/>
    <p:sldId id="319" r:id="rId13"/>
    <p:sldId id="320" r:id="rId14"/>
    <p:sldId id="321" r:id="rId15"/>
    <p:sldId id="326" r:id="rId16"/>
    <p:sldId id="322" r:id="rId17"/>
    <p:sldId id="323" r:id="rId18"/>
    <p:sldId id="327" r:id="rId19"/>
    <p:sldId id="328" r:id="rId20"/>
    <p:sldId id="325" r:id="rId21"/>
    <p:sldId id="329" r:id="rId22"/>
    <p:sldId id="330" r:id="rId23"/>
    <p:sldId id="331" r:id="rId24"/>
    <p:sldId id="332" r:id="rId25"/>
    <p:sldId id="336" r:id="rId26"/>
    <p:sldId id="334" r:id="rId27"/>
    <p:sldId id="335" r:id="rId28"/>
    <p:sldId id="337" r:id="rId29"/>
    <p:sldId id="309" r:id="rId3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A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9" autoAdjust="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82" y="27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5" d="100"/>
          <a:sy n="85" d="100"/>
        </p:scale>
        <p:origin x="3062" y="41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8AF70A90-CA7E-49EB-AB17-C37FEDD075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A7711EA-1FBE-4E98-9D43-C2D65C45D0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8ABEA4-9216-4FDF-AAE1-D8632908A8EC}" type="datetimeFigureOut">
              <a:rPr lang="de-CH" smtClean="0"/>
              <a:t>16.10.2026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2CCD3C8-8930-4E0E-A891-B770724F2B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7798FB5-86BC-42DA-9D05-F96D484814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685DCD-866D-47AE-A236-118539F53379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232272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8A90D-FE7E-41AF-B03D-808D82937CB9}" type="datetimeFigureOut">
              <a:rPr lang="de-CH" smtClean="0"/>
              <a:t>16.10.2026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15DDFD-030C-4D5A-B33E-3A7E7538D2BE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4149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62889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EB061823-3F7A-48C8-8477-B410C18AC1B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5580000" tIns="0" rIns="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33538"/>
            <a:ext cx="5904000" cy="2772000"/>
          </a:xfrm>
          <a:solidFill>
            <a:schemeClr val="accent1"/>
          </a:solidFill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3C296D1-2CD0-479F-A866-6EC741D2293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E41BE31-9613-4103-99FF-7DCFF643B3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3860495"/>
            <a:ext cx="468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DEB298C-798E-4D73-9DD6-F896C06530C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4293381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  <p15:guide id="3" orient="horz" pos="640" userDrawn="1">
          <p15:clr>
            <a:srgbClr val="FBAE40"/>
          </p15:clr>
        </p15:guide>
        <p15:guide id="4" orient="horz" pos="3952" userDrawn="1">
          <p15:clr>
            <a:srgbClr val="FBAE40"/>
          </p15:clr>
        </p15:guide>
        <p15:guide id="5" pos="610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8A01615F-450E-43D0-B554-DA3FBD48DF3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0" tIns="0" rIns="5580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04000" y="2957494"/>
            <a:ext cx="5688000" cy="2268000"/>
          </a:xfrm>
          <a:solidFill>
            <a:schemeClr val="accent6"/>
          </a:solidFill>
        </p:spPr>
        <p:txBody>
          <a:bodyPr lIns="324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9" name="Textplatzhalter 3">
            <a:extLst>
              <a:ext uri="{FF2B5EF4-FFF2-40B4-BE49-F238E27FC236}">
                <a16:creationId xmlns:a16="http://schemas.microsoft.com/office/drawing/2014/main" id="{003A487C-8977-4264-A8A1-D6C1DB6046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45210" y="4639666"/>
            <a:ext cx="4320000" cy="46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" name="Bildplatzhalter 8">
            <a:extLst>
              <a:ext uri="{FF2B5EF4-FFF2-40B4-BE49-F238E27FC236}">
                <a16:creationId xmlns:a16="http://schemas.microsoft.com/office/drawing/2014/main" id="{E91D3734-CD8F-4F94-A813-570EF31C473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8" name="Textplatzhalter 5">
            <a:extLst>
              <a:ext uri="{FF2B5EF4-FFF2-40B4-BE49-F238E27FC236}">
                <a16:creationId xmlns:a16="http://schemas.microsoft.com/office/drawing/2014/main" id="{547D2927-4A99-4714-8EBA-F773EAA2630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1002411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62D94F76-218E-49F2-87F8-05982912ED18}"/>
              </a:ext>
            </a:extLst>
          </p:cNvPr>
          <p:cNvSpPr/>
          <p:nvPr userDrawn="1"/>
        </p:nvSpPr>
        <p:spPr>
          <a:xfrm>
            <a:off x="731838" y="1016000"/>
            <a:ext cx="10728325" cy="5257800"/>
          </a:xfrm>
          <a:prstGeom prst="rect">
            <a:avLst/>
          </a:prstGeom>
          <a:solidFill>
            <a:srgbClr val="8E67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940405"/>
            <a:ext cx="10188000" cy="3420000"/>
          </a:xfrm>
          <a:solidFill>
            <a:schemeClr val="accent3"/>
          </a:solidFill>
          <a:ln>
            <a:noFill/>
          </a:ln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7" name="Textplatzhalter 3">
            <a:extLst>
              <a:ext uri="{FF2B5EF4-FFF2-40B4-BE49-F238E27FC236}">
                <a16:creationId xmlns:a16="http://schemas.microsoft.com/office/drawing/2014/main" id="{0503E57F-F89F-431B-8D38-7CC97B7C20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4217884"/>
            <a:ext cx="864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Bildplatzhalter 8">
            <a:extLst>
              <a:ext uri="{FF2B5EF4-FFF2-40B4-BE49-F238E27FC236}">
                <a16:creationId xmlns:a16="http://schemas.microsoft.com/office/drawing/2014/main" id="{1BEB6197-C509-4752-B57E-CEE955F5D92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8" name="Textplatzhalter 5">
            <a:extLst>
              <a:ext uri="{FF2B5EF4-FFF2-40B4-BE49-F238E27FC236}">
                <a16:creationId xmlns:a16="http://schemas.microsoft.com/office/drawing/2014/main" id="{4ADF7DEC-21BD-45CA-9E91-B9F58A69F62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3924069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837" y="1016000"/>
            <a:ext cx="10728326" cy="5256000"/>
          </a:xfrm>
          <a:solidFill>
            <a:schemeClr val="accent6"/>
          </a:solidFill>
          <a:ln>
            <a:noFill/>
          </a:ln>
        </p:spPr>
        <p:txBody>
          <a:bodyPr lIns="324000" tIns="11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6" name="Textplatzhalter 3">
            <a:extLst>
              <a:ext uri="{FF2B5EF4-FFF2-40B4-BE49-F238E27FC236}">
                <a16:creationId xmlns:a16="http://schemas.microsoft.com/office/drawing/2014/main" id="{5FCAD79B-EF47-46A0-9575-229F3DAA72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5" y="5122625"/>
            <a:ext cx="10044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Bildplatzhalter 8">
            <a:extLst>
              <a:ext uri="{FF2B5EF4-FFF2-40B4-BE49-F238E27FC236}">
                <a16:creationId xmlns:a16="http://schemas.microsoft.com/office/drawing/2014/main" id="{72236FC6-C8FF-43C1-86B9-BF112345926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789A3267-E086-4EC3-A0BB-F8ECD01A5C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732532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4 – Uni Zür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EB061823-3F7A-48C8-8477-B410C18AC1B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5580000" tIns="0" rIns="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33538"/>
            <a:ext cx="5904000" cy="2772000"/>
          </a:xfrm>
          <a:solidFill>
            <a:schemeClr val="accent2"/>
          </a:solidFill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93E2EDD-B19F-478D-BB03-AD55EC1E86B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7672" y="228020"/>
            <a:ext cx="3679200" cy="552508"/>
          </a:xfrm>
          <a:prstGeom prst="rect">
            <a:avLst/>
          </a:prstGeom>
        </p:spPr>
      </p:pic>
      <p:sp>
        <p:nvSpPr>
          <p:cNvPr id="7" name="Textplatzhalter 3">
            <a:extLst>
              <a:ext uri="{FF2B5EF4-FFF2-40B4-BE49-F238E27FC236}">
                <a16:creationId xmlns:a16="http://schemas.microsoft.com/office/drawing/2014/main" id="{D364BCB8-820F-4C3A-BA37-7048A4C8D4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3860495"/>
            <a:ext cx="468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" name="Bildplatzhalter 8">
            <a:extLst>
              <a:ext uri="{FF2B5EF4-FFF2-40B4-BE49-F238E27FC236}">
                <a16:creationId xmlns:a16="http://schemas.microsoft.com/office/drawing/2014/main" id="{A73913C2-8DFE-4F15-B2DB-2A6D5C26700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Textplatzhalter 5">
            <a:extLst>
              <a:ext uri="{FF2B5EF4-FFF2-40B4-BE49-F238E27FC236}">
                <a16:creationId xmlns:a16="http://schemas.microsoft.com/office/drawing/2014/main" id="{791A1AD7-DB7D-4C75-BEFB-EB6D34D3B2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2789257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39750" indent="-539750">
              <a:buFont typeface="+mj-lt"/>
              <a:buAutoNum type="arabicPeriod"/>
              <a:defRPr/>
            </a:lvl1pPr>
            <a:lvl2pPr marL="1079500" indent="-539750">
              <a:buFont typeface="+mj-lt"/>
              <a:buAutoNum type="arabicPeriod"/>
              <a:defRPr/>
            </a:lvl2pPr>
            <a:lvl3pPr marL="1612900" indent="-533400">
              <a:buFont typeface="+mj-lt"/>
              <a:buAutoNum type="arabicPeriod"/>
              <a:defRPr/>
            </a:lvl3pPr>
            <a:lvl4pPr marL="2152650" indent="-539750">
              <a:buFont typeface="+mj-lt"/>
              <a:buAutoNum type="arabicPeriod"/>
              <a:defRPr/>
            </a:lvl4pPr>
            <a:lvl5pPr marL="2692400" indent="-539750">
              <a:buFont typeface="+mj-lt"/>
              <a:buAutoNum type="arabicPeriod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16.10.2026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Department Informatik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599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16.10.2026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Department Informatik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753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Fuss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1412875"/>
            <a:ext cx="10728325" cy="396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1E762-278A-4155-9BEB-7C2CB2386E92}" type="datetime1">
              <a:rPr lang="de-CH" noProof="0" smtClean="0"/>
              <a:t>16.10.2026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Department Informatik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2F6D94FA-21C6-4AE0-AA4F-3A077810ED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836" y="5570135"/>
            <a:ext cx="5364164" cy="721233"/>
          </a:xfrm>
        </p:spPr>
        <p:txBody>
          <a:bodyPr anchor="b" anchorCtr="0"/>
          <a:lstStyle>
            <a:lvl1pPr marL="179388" indent="-179388">
              <a:spcBef>
                <a:spcPts val="0"/>
              </a:spcBef>
              <a:buFont typeface="+mj-lt"/>
              <a:buAutoNum type="arabicPeriod"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6001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224781"/>
            <a:ext cx="10728325" cy="1260000"/>
          </a:xfr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C4EAFE7-317E-4912-B75C-DD6945F82242}" type="datetime1">
              <a:rPr lang="de-CH" noProof="0" smtClean="0"/>
              <a:t>16.10.2026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Department Informatik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ACA52AF-F19D-405C-AD5F-7D94B96A5CC3}" type="slidenum">
              <a:rPr lang="de-CH" noProof="0" smtClean="0"/>
              <a:pPr/>
              <a:t>‹#›</a:t>
            </a:fld>
            <a:endParaRPr lang="de-CH" noProof="0"/>
          </a:p>
        </p:txBody>
      </p:sp>
      <p:grpSp>
        <p:nvGrpSpPr>
          <p:cNvPr id="10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GrpSpPr/>
          <p:nvPr/>
        </p:nvGrpSpPr>
        <p:grpSpPr>
          <a:xfrm>
            <a:off x="731837" y="6507088"/>
            <a:ext cx="984462" cy="162000"/>
            <a:chOff x="731837" y="6507088"/>
            <a:chExt cx="984462" cy="162000"/>
          </a:xfrm>
          <a:solidFill>
            <a:schemeClr val="bg1"/>
          </a:solidFill>
        </p:grpSpPr>
        <p:grpSp>
          <p:nvGrpSpPr>
            <p:cNvPr id="12" name="Grafik 6">
              <a:extLst>
                <a:ext uri="{FF2B5EF4-FFF2-40B4-BE49-F238E27FC236}">
                  <a16:creationId xmlns:a16="http://schemas.microsoft.com/office/drawing/2014/main" id="{7F7C476A-2849-4D68-9FA2-3A5CFC13C833}"/>
                </a:ext>
              </a:extLst>
            </p:cNvPr>
            <p:cNvGrpSpPr/>
            <p:nvPr/>
          </p:nvGrpSpPr>
          <p:grpSpPr>
            <a:xfrm>
              <a:off x="1266489" y="6555186"/>
              <a:ext cx="197463" cy="110963"/>
              <a:chOff x="1266489" y="6555186"/>
              <a:chExt cx="197463" cy="110963"/>
            </a:xfrm>
            <a:grpFill/>
          </p:grpSpPr>
          <p:sp>
            <p:nvSpPr>
              <p:cNvPr id="13" name="Freihandform: Form 12">
                <a:extLst>
                  <a:ext uri="{FF2B5EF4-FFF2-40B4-BE49-F238E27FC236}">
                    <a16:creationId xmlns:a16="http://schemas.microsoft.com/office/drawing/2014/main" id="{18BB0752-F87C-44D9-A9A5-97AF1DEDA1AE}"/>
                  </a:ext>
                </a:extLst>
              </p:cNvPr>
              <p:cNvSpPr/>
              <p:nvPr/>
            </p:nvSpPr>
            <p:spPr>
              <a:xfrm>
                <a:off x="1266489" y="6556934"/>
                <a:ext cx="95902" cy="109216"/>
              </a:xfrm>
              <a:custGeom>
                <a:avLst/>
                <a:gdLst>
                  <a:gd name="connsiteX0" fmla="*/ 66742 w 95902"/>
                  <a:gd name="connsiteY0" fmla="*/ 65797 h 109216"/>
                  <a:gd name="connsiteX1" fmla="*/ 35339 w 95902"/>
                  <a:gd name="connsiteY1" fmla="*/ 95082 h 109216"/>
                  <a:gd name="connsiteX2" fmla="*/ 15953 w 95902"/>
                  <a:gd name="connsiteY2" fmla="*/ 79537 h 109216"/>
                  <a:gd name="connsiteX3" fmla="*/ 15899 w 95902"/>
                  <a:gd name="connsiteY3" fmla="*/ 76265 h 109216"/>
                  <a:gd name="connsiteX4" fmla="*/ 16896 w 95902"/>
                  <a:gd name="connsiteY4" fmla="*/ 66295 h 109216"/>
                  <a:gd name="connsiteX5" fmla="*/ 30230 w 95902"/>
                  <a:gd name="connsiteY5" fmla="*/ 0 h 109216"/>
                  <a:gd name="connsiteX6" fmla="*/ 30230 w 95902"/>
                  <a:gd name="connsiteY6" fmla="*/ 0 h 109216"/>
                  <a:gd name="connsiteX7" fmla="*/ 14528 w 95902"/>
                  <a:gd name="connsiteY7" fmla="*/ 0 h 109216"/>
                  <a:gd name="connsiteX8" fmla="*/ 1194 w 95902"/>
                  <a:gd name="connsiteY8" fmla="*/ 67791 h 109216"/>
                  <a:gd name="connsiteX9" fmla="*/ 1194 w 95902"/>
                  <a:gd name="connsiteY9" fmla="*/ 68788 h 109216"/>
                  <a:gd name="connsiteX10" fmla="*/ 73 w 95902"/>
                  <a:gd name="connsiteY10" fmla="*/ 78508 h 109216"/>
                  <a:gd name="connsiteX11" fmla="*/ 26638 w 95902"/>
                  <a:gd name="connsiteY11" fmla="*/ 109122 h 109216"/>
                  <a:gd name="connsiteX12" fmla="*/ 29980 w 95902"/>
                  <a:gd name="connsiteY12" fmla="*/ 109163 h 109216"/>
                  <a:gd name="connsiteX13" fmla="*/ 61384 w 95902"/>
                  <a:gd name="connsiteY13" fmla="*/ 96702 h 109216"/>
                  <a:gd name="connsiteX14" fmla="*/ 59265 w 95902"/>
                  <a:gd name="connsiteY14" fmla="*/ 107917 h 109216"/>
                  <a:gd name="connsiteX15" fmla="*/ 59265 w 95902"/>
                  <a:gd name="connsiteY15" fmla="*/ 107917 h 109216"/>
                  <a:gd name="connsiteX16" fmla="*/ 74842 w 95902"/>
                  <a:gd name="connsiteY16" fmla="*/ 107917 h 109216"/>
                  <a:gd name="connsiteX17" fmla="*/ 95902 w 95902"/>
                  <a:gd name="connsiteY17" fmla="*/ 0 h 109216"/>
                  <a:gd name="connsiteX18" fmla="*/ 95902 w 95902"/>
                  <a:gd name="connsiteY18" fmla="*/ 0 h 109216"/>
                  <a:gd name="connsiteX19" fmla="*/ 79951 w 95902"/>
                  <a:gd name="connsiteY19" fmla="*/ 0 h 109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5902" h="109216">
                    <a:moveTo>
                      <a:pt x="66742" y="65797"/>
                    </a:moveTo>
                    <a:cubicBezTo>
                      <a:pt x="65228" y="82115"/>
                      <a:pt x="51723" y="94709"/>
                      <a:pt x="35339" y="95082"/>
                    </a:cubicBezTo>
                    <a:cubicBezTo>
                      <a:pt x="25692" y="96142"/>
                      <a:pt x="17013" y="89183"/>
                      <a:pt x="15953" y="79537"/>
                    </a:cubicBezTo>
                    <a:cubicBezTo>
                      <a:pt x="15833" y="78450"/>
                      <a:pt x="15814" y="77355"/>
                      <a:pt x="15899" y="76265"/>
                    </a:cubicBezTo>
                    <a:cubicBezTo>
                      <a:pt x="15976" y="72921"/>
                      <a:pt x="16309" y="69588"/>
                      <a:pt x="16896" y="66295"/>
                    </a:cubicBezTo>
                    <a:lnTo>
                      <a:pt x="30230" y="0"/>
                    </a:lnTo>
                    <a:lnTo>
                      <a:pt x="30230" y="0"/>
                    </a:lnTo>
                    <a:lnTo>
                      <a:pt x="14528" y="0"/>
                    </a:lnTo>
                    <a:lnTo>
                      <a:pt x="1194" y="67791"/>
                    </a:lnTo>
                    <a:lnTo>
                      <a:pt x="1194" y="68788"/>
                    </a:lnTo>
                    <a:cubicBezTo>
                      <a:pt x="472" y="71978"/>
                      <a:pt x="95" y="75237"/>
                      <a:pt x="73" y="78508"/>
                    </a:cubicBezTo>
                    <a:cubicBezTo>
                      <a:pt x="-1045" y="94298"/>
                      <a:pt x="10848" y="108004"/>
                      <a:pt x="26638" y="109122"/>
                    </a:cubicBezTo>
                    <a:cubicBezTo>
                      <a:pt x="27751" y="109200"/>
                      <a:pt x="28866" y="109214"/>
                      <a:pt x="29980" y="109163"/>
                    </a:cubicBezTo>
                    <a:cubicBezTo>
                      <a:pt x="41760" y="109765"/>
                      <a:pt x="53221" y="105218"/>
                      <a:pt x="61384" y="96702"/>
                    </a:cubicBezTo>
                    <a:lnTo>
                      <a:pt x="59265" y="107917"/>
                    </a:lnTo>
                    <a:lnTo>
                      <a:pt x="59265" y="107917"/>
                    </a:lnTo>
                    <a:lnTo>
                      <a:pt x="74842" y="107917"/>
                    </a:lnTo>
                    <a:lnTo>
                      <a:pt x="95902" y="0"/>
                    </a:lnTo>
                    <a:lnTo>
                      <a:pt x="95902" y="0"/>
                    </a:lnTo>
                    <a:lnTo>
                      <a:pt x="79951" y="0"/>
                    </a:lnTo>
                    <a:close/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  <p:sp>
            <p:nvSpPr>
              <p:cNvPr id="14" name="Freihandform: Form 13">
                <a:extLst>
                  <a:ext uri="{FF2B5EF4-FFF2-40B4-BE49-F238E27FC236}">
                    <a16:creationId xmlns:a16="http://schemas.microsoft.com/office/drawing/2014/main" id="{ED44DE23-7081-4AC9-BF06-502BEC71C004}"/>
                  </a:ext>
                </a:extLst>
              </p:cNvPr>
              <p:cNvSpPr/>
              <p:nvPr/>
            </p:nvSpPr>
            <p:spPr>
              <a:xfrm>
                <a:off x="1376472" y="6555186"/>
                <a:ext cx="87480" cy="109664"/>
              </a:xfrm>
              <a:custGeom>
                <a:avLst/>
                <a:gdLst>
                  <a:gd name="connsiteX0" fmla="*/ 64302 w 87480"/>
                  <a:gd name="connsiteY0" fmla="*/ 3 h 109664"/>
                  <a:gd name="connsiteX1" fmla="*/ 34518 w 87480"/>
                  <a:gd name="connsiteY1" fmla="*/ 14209 h 109664"/>
                  <a:gd name="connsiteX2" fmla="*/ 36886 w 87480"/>
                  <a:gd name="connsiteY2" fmla="*/ 1747 h 109664"/>
                  <a:gd name="connsiteX3" fmla="*/ 36886 w 87480"/>
                  <a:gd name="connsiteY3" fmla="*/ 1747 h 109664"/>
                  <a:gd name="connsiteX4" fmla="*/ 21434 w 87480"/>
                  <a:gd name="connsiteY4" fmla="*/ 1747 h 109664"/>
                  <a:gd name="connsiteX5" fmla="*/ 0 w 87480"/>
                  <a:gd name="connsiteY5" fmla="*/ 109664 h 109664"/>
                  <a:gd name="connsiteX6" fmla="*/ 0 w 87480"/>
                  <a:gd name="connsiteY6" fmla="*/ 109664 h 109664"/>
                  <a:gd name="connsiteX7" fmla="*/ 15826 w 87480"/>
                  <a:gd name="connsiteY7" fmla="*/ 109664 h 109664"/>
                  <a:gd name="connsiteX8" fmla="*/ 28288 w 87480"/>
                  <a:gd name="connsiteY8" fmla="*/ 43493 h 109664"/>
                  <a:gd name="connsiteX9" fmla="*/ 59940 w 87480"/>
                  <a:gd name="connsiteY9" fmla="*/ 14209 h 109664"/>
                  <a:gd name="connsiteX10" fmla="*/ 75019 w 87480"/>
                  <a:gd name="connsiteY10" fmla="*/ 21810 h 109664"/>
                  <a:gd name="connsiteX11" fmla="*/ 75019 w 87480"/>
                  <a:gd name="connsiteY11" fmla="*/ 21810 h 109664"/>
                  <a:gd name="connsiteX12" fmla="*/ 87480 w 87480"/>
                  <a:gd name="connsiteY12" fmla="*/ 10346 h 109664"/>
                  <a:gd name="connsiteX13" fmla="*/ 87480 w 87480"/>
                  <a:gd name="connsiteY13" fmla="*/ 10346 h 109664"/>
                  <a:gd name="connsiteX14" fmla="*/ 63928 w 87480"/>
                  <a:gd name="connsiteY14" fmla="*/ 252 h 10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7480" h="109664">
                    <a:moveTo>
                      <a:pt x="64302" y="3"/>
                    </a:moveTo>
                    <a:cubicBezTo>
                      <a:pt x="52709" y="-136"/>
                      <a:pt x="41706" y="5111"/>
                      <a:pt x="34518" y="14209"/>
                    </a:cubicBezTo>
                    <a:lnTo>
                      <a:pt x="36886" y="1747"/>
                    </a:lnTo>
                    <a:lnTo>
                      <a:pt x="36886" y="1747"/>
                    </a:lnTo>
                    <a:lnTo>
                      <a:pt x="21434" y="1747"/>
                    </a:lnTo>
                    <a:lnTo>
                      <a:pt x="0" y="109664"/>
                    </a:lnTo>
                    <a:lnTo>
                      <a:pt x="0" y="109664"/>
                    </a:lnTo>
                    <a:lnTo>
                      <a:pt x="15826" y="109664"/>
                    </a:lnTo>
                    <a:lnTo>
                      <a:pt x="28288" y="43493"/>
                    </a:lnTo>
                    <a:cubicBezTo>
                      <a:pt x="30515" y="27438"/>
                      <a:pt x="43760" y="15183"/>
                      <a:pt x="59940" y="14209"/>
                    </a:cubicBezTo>
                    <a:cubicBezTo>
                      <a:pt x="65919" y="14072"/>
                      <a:pt x="71573" y="16922"/>
                      <a:pt x="75019" y="21810"/>
                    </a:cubicBezTo>
                    <a:lnTo>
                      <a:pt x="75019" y="21810"/>
                    </a:lnTo>
                    <a:lnTo>
                      <a:pt x="87480" y="10346"/>
                    </a:lnTo>
                    <a:lnTo>
                      <a:pt x="87480" y="10346"/>
                    </a:lnTo>
                    <a:cubicBezTo>
                      <a:pt x="81552" y="3603"/>
                      <a:pt x="72899" y="-105"/>
                      <a:pt x="63928" y="252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</p:grp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18C24FD2-AEE2-43CA-8EB3-8E646C2E5E46}"/>
                </a:ext>
              </a:extLst>
            </p:cNvPr>
            <p:cNvSpPr/>
            <p:nvPr/>
          </p:nvSpPr>
          <p:spPr>
            <a:xfrm>
              <a:off x="1159517" y="6556560"/>
              <a:ext cx="96452" cy="108166"/>
            </a:xfrm>
            <a:custGeom>
              <a:avLst/>
              <a:gdLst>
                <a:gd name="connsiteX0" fmla="*/ 23303 w 96452"/>
                <a:gd name="connsiteY0" fmla="*/ 0 h 108166"/>
                <a:gd name="connsiteX1" fmla="*/ 20562 w 96452"/>
                <a:gd name="connsiteY1" fmla="*/ 13708 h 108166"/>
                <a:gd name="connsiteX2" fmla="*/ 20562 w 96452"/>
                <a:gd name="connsiteY2" fmla="*/ 13957 h 108166"/>
                <a:gd name="connsiteX3" fmla="*/ 74271 w 96452"/>
                <a:gd name="connsiteY3" fmla="*/ 13957 h 108166"/>
                <a:gd name="connsiteX4" fmla="*/ 2742 w 96452"/>
                <a:gd name="connsiteY4" fmla="*/ 94957 h 108166"/>
                <a:gd name="connsiteX5" fmla="*/ 2617 w 96452"/>
                <a:gd name="connsiteY5" fmla="*/ 94957 h 108166"/>
                <a:gd name="connsiteX6" fmla="*/ 0 w 96452"/>
                <a:gd name="connsiteY6" fmla="*/ 108166 h 108166"/>
                <a:gd name="connsiteX7" fmla="*/ 76265 w 96452"/>
                <a:gd name="connsiteY7" fmla="*/ 108166 h 108166"/>
                <a:gd name="connsiteX8" fmla="*/ 79006 w 96452"/>
                <a:gd name="connsiteY8" fmla="*/ 94209 h 108166"/>
                <a:gd name="connsiteX9" fmla="*/ 21932 w 96452"/>
                <a:gd name="connsiteY9" fmla="*/ 94209 h 108166"/>
                <a:gd name="connsiteX10" fmla="*/ 93835 w 96452"/>
                <a:gd name="connsiteY10" fmla="*/ 13209 h 108166"/>
                <a:gd name="connsiteX11" fmla="*/ 93835 w 96452"/>
                <a:gd name="connsiteY11" fmla="*/ 13209 h 108166"/>
                <a:gd name="connsiteX12" fmla="*/ 96452 w 96452"/>
                <a:gd name="connsiteY12" fmla="*/ 0 h 108166"/>
                <a:gd name="connsiteX13" fmla="*/ 23303 w 96452"/>
                <a:gd name="connsiteY13" fmla="*/ 0 h 10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6452" h="108166">
                  <a:moveTo>
                    <a:pt x="23303" y="0"/>
                  </a:moveTo>
                  <a:lnTo>
                    <a:pt x="20562" y="13708"/>
                  </a:lnTo>
                  <a:lnTo>
                    <a:pt x="20562" y="13957"/>
                  </a:lnTo>
                  <a:lnTo>
                    <a:pt x="74271" y="13957"/>
                  </a:lnTo>
                  <a:lnTo>
                    <a:pt x="2742" y="94957"/>
                  </a:lnTo>
                  <a:lnTo>
                    <a:pt x="2617" y="94957"/>
                  </a:lnTo>
                  <a:lnTo>
                    <a:pt x="0" y="108166"/>
                  </a:lnTo>
                  <a:lnTo>
                    <a:pt x="76265" y="108166"/>
                  </a:lnTo>
                  <a:lnTo>
                    <a:pt x="79006" y="94209"/>
                  </a:lnTo>
                  <a:lnTo>
                    <a:pt x="21932" y="94209"/>
                  </a:lnTo>
                  <a:lnTo>
                    <a:pt x="93835" y="13209"/>
                  </a:lnTo>
                  <a:lnTo>
                    <a:pt x="93835" y="13209"/>
                  </a:lnTo>
                  <a:lnTo>
                    <a:pt x="96452" y="0"/>
                  </a:lnTo>
                  <a:lnTo>
                    <a:pt x="23303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AEE7F6F4-4D2C-45B3-A061-9606B2BD36A7}"/>
                </a:ext>
              </a:extLst>
            </p:cNvPr>
            <p:cNvSpPr/>
            <p:nvPr/>
          </p:nvSpPr>
          <p:spPr>
            <a:xfrm>
              <a:off x="1466445" y="6556560"/>
              <a:ext cx="37259" cy="108166"/>
            </a:xfrm>
            <a:custGeom>
              <a:avLst/>
              <a:gdLst>
                <a:gd name="connsiteX0" fmla="*/ 21683 w 37259"/>
                <a:gd name="connsiteY0" fmla="*/ 0 h 108166"/>
                <a:gd name="connsiteX1" fmla="*/ 0 w 37259"/>
                <a:gd name="connsiteY1" fmla="*/ 107917 h 108166"/>
                <a:gd name="connsiteX2" fmla="*/ 0 w 37259"/>
                <a:gd name="connsiteY2" fmla="*/ 108166 h 108166"/>
                <a:gd name="connsiteX3" fmla="*/ 15702 w 37259"/>
                <a:gd name="connsiteY3" fmla="*/ 108166 h 108166"/>
                <a:gd name="connsiteX4" fmla="*/ 37260 w 37259"/>
                <a:gd name="connsiteY4" fmla="*/ 0 h 108166"/>
                <a:gd name="connsiteX5" fmla="*/ 21683 w 37259"/>
                <a:gd name="connsiteY5" fmla="*/ 0 h 10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259" h="108166">
                  <a:moveTo>
                    <a:pt x="21683" y="0"/>
                  </a:moveTo>
                  <a:lnTo>
                    <a:pt x="0" y="107917"/>
                  </a:lnTo>
                  <a:lnTo>
                    <a:pt x="0" y="108166"/>
                  </a:lnTo>
                  <a:lnTo>
                    <a:pt x="15702" y="108166"/>
                  </a:lnTo>
                  <a:lnTo>
                    <a:pt x="37260" y="0"/>
                  </a:lnTo>
                  <a:lnTo>
                    <a:pt x="21683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grpSp>
          <p:nvGrpSpPr>
            <p:cNvPr id="17" name="Grafik 6">
              <a:extLst>
                <a:ext uri="{FF2B5EF4-FFF2-40B4-BE49-F238E27FC236}">
                  <a16:creationId xmlns:a16="http://schemas.microsoft.com/office/drawing/2014/main" id="{7F7C476A-2849-4D68-9FA2-3A5CFC13C833}"/>
                </a:ext>
              </a:extLst>
            </p:cNvPr>
            <p:cNvGrpSpPr/>
            <p:nvPr/>
          </p:nvGrpSpPr>
          <p:grpSpPr>
            <a:xfrm>
              <a:off x="1518879" y="6507337"/>
              <a:ext cx="191395" cy="158803"/>
              <a:chOff x="1518879" y="6507337"/>
              <a:chExt cx="191395" cy="158803"/>
            </a:xfrm>
            <a:grpFill/>
          </p:grpSpPr>
          <p:sp>
            <p:nvSpPr>
              <p:cNvPr id="18" name="Freihandform: Form 17">
                <a:extLst>
                  <a:ext uri="{FF2B5EF4-FFF2-40B4-BE49-F238E27FC236}">
                    <a16:creationId xmlns:a16="http://schemas.microsoft.com/office/drawing/2014/main" id="{B2186F78-5D28-4695-8B1C-5A3F1A53AAB3}"/>
                  </a:ext>
                </a:extLst>
              </p:cNvPr>
              <p:cNvSpPr/>
              <p:nvPr/>
            </p:nvSpPr>
            <p:spPr>
              <a:xfrm>
                <a:off x="1614114" y="6507337"/>
                <a:ext cx="96160" cy="157638"/>
              </a:xfrm>
              <a:custGeom>
                <a:avLst/>
                <a:gdLst>
                  <a:gd name="connsiteX0" fmla="*/ 66046 w 96160"/>
                  <a:gd name="connsiteY0" fmla="*/ 47852 h 157638"/>
                  <a:gd name="connsiteX1" fmla="*/ 35142 w 96160"/>
                  <a:gd name="connsiteY1" fmla="*/ 60314 h 157638"/>
                  <a:gd name="connsiteX2" fmla="*/ 47603 w 96160"/>
                  <a:gd name="connsiteY2" fmla="*/ 0 h 157638"/>
                  <a:gd name="connsiteX3" fmla="*/ 31652 w 96160"/>
                  <a:gd name="connsiteY3" fmla="*/ 0 h 157638"/>
                  <a:gd name="connsiteX4" fmla="*/ 0 w 96160"/>
                  <a:gd name="connsiteY4" fmla="*/ 157389 h 157638"/>
                  <a:gd name="connsiteX5" fmla="*/ 15701 w 96160"/>
                  <a:gd name="connsiteY5" fmla="*/ 157389 h 157638"/>
                  <a:gd name="connsiteX6" fmla="*/ 28911 w 96160"/>
                  <a:gd name="connsiteY6" fmla="*/ 91218 h 157638"/>
                  <a:gd name="connsiteX7" fmla="*/ 60563 w 96160"/>
                  <a:gd name="connsiteY7" fmla="*/ 62058 h 157638"/>
                  <a:gd name="connsiteX8" fmla="*/ 79837 w 96160"/>
                  <a:gd name="connsiteY8" fmla="*/ 77742 h 157638"/>
                  <a:gd name="connsiteX9" fmla="*/ 79878 w 96160"/>
                  <a:gd name="connsiteY9" fmla="*/ 80875 h 157638"/>
                  <a:gd name="connsiteX10" fmla="*/ 78757 w 96160"/>
                  <a:gd name="connsiteY10" fmla="*/ 90969 h 157638"/>
                  <a:gd name="connsiteX11" fmla="*/ 65423 w 96160"/>
                  <a:gd name="connsiteY11" fmla="*/ 157638 h 157638"/>
                  <a:gd name="connsiteX12" fmla="*/ 81125 w 96160"/>
                  <a:gd name="connsiteY12" fmla="*/ 157638 h 157638"/>
                  <a:gd name="connsiteX13" fmla="*/ 94957 w 96160"/>
                  <a:gd name="connsiteY13" fmla="*/ 89474 h 157638"/>
                  <a:gd name="connsiteX14" fmla="*/ 96078 w 96160"/>
                  <a:gd name="connsiteY14" fmla="*/ 78757 h 157638"/>
                  <a:gd name="connsiteX15" fmla="*/ 69522 w 96160"/>
                  <a:gd name="connsiteY15" fmla="*/ 47902 h 157638"/>
                  <a:gd name="connsiteX16" fmla="*/ 66046 w 96160"/>
                  <a:gd name="connsiteY16" fmla="*/ 47852 h 157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6160" h="157638">
                    <a:moveTo>
                      <a:pt x="66046" y="47852"/>
                    </a:moveTo>
                    <a:cubicBezTo>
                      <a:pt x="54431" y="47363"/>
                      <a:pt x="43168" y="51904"/>
                      <a:pt x="35142" y="60314"/>
                    </a:cubicBezTo>
                    <a:lnTo>
                      <a:pt x="47603" y="0"/>
                    </a:lnTo>
                    <a:lnTo>
                      <a:pt x="31652" y="0"/>
                    </a:lnTo>
                    <a:lnTo>
                      <a:pt x="0" y="157389"/>
                    </a:lnTo>
                    <a:lnTo>
                      <a:pt x="15701" y="157389"/>
                    </a:lnTo>
                    <a:lnTo>
                      <a:pt x="28911" y="91218"/>
                    </a:lnTo>
                    <a:cubicBezTo>
                      <a:pt x="30603" y="74910"/>
                      <a:pt x="44170" y="62411"/>
                      <a:pt x="60563" y="62058"/>
                    </a:cubicBezTo>
                    <a:cubicBezTo>
                      <a:pt x="70216" y="61067"/>
                      <a:pt x="78845" y="68088"/>
                      <a:pt x="79837" y="77742"/>
                    </a:cubicBezTo>
                    <a:cubicBezTo>
                      <a:pt x="79945" y="78783"/>
                      <a:pt x="79958" y="79832"/>
                      <a:pt x="79878" y="80875"/>
                    </a:cubicBezTo>
                    <a:cubicBezTo>
                      <a:pt x="79822" y="84268"/>
                      <a:pt x="79446" y="87647"/>
                      <a:pt x="78757" y="90969"/>
                    </a:cubicBezTo>
                    <a:lnTo>
                      <a:pt x="65423" y="157638"/>
                    </a:lnTo>
                    <a:lnTo>
                      <a:pt x="81125" y="157638"/>
                    </a:lnTo>
                    <a:lnTo>
                      <a:pt x="94957" y="89474"/>
                    </a:lnTo>
                    <a:cubicBezTo>
                      <a:pt x="95657" y="85943"/>
                      <a:pt x="96034" y="82356"/>
                      <a:pt x="96078" y="78757"/>
                    </a:cubicBezTo>
                    <a:cubicBezTo>
                      <a:pt x="97265" y="62903"/>
                      <a:pt x="85375" y="49089"/>
                      <a:pt x="69522" y="47902"/>
                    </a:cubicBezTo>
                    <a:cubicBezTo>
                      <a:pt x="68365" y="47815"/>
                      <a:pt x="67205" y="47799"/>
                      <a:pt x="66046" y="47852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  <p:sp>
            <p:nvSpPr>
              <p:cNvPr id="19" name="Freihandform: Form 18">
                <a:extLst>
                  <a:ext uri="{FF2B5EF4-FFF2-40B4-BE49-F238E27FC236}">
                    <a16:creationId xmlns:a16="http://schemas.microsoft.com/office/drawing/2014/main" id="{1FE5475E-83C3-4BE3-BBF1-FAE9A6986B3F}"/>
                  </a:ext>
                </a:extLst>
              </p:cNvPr>
              <p:cNvSpPr/>
              <p:nvPr/>
            </p:nvSpPr>
            <p:spPr>
              <a:xfrm>
                <a:off x="1518879" y="6555189"/>
                <a:ext cx="87882" cy="110951"/>
              </a:xfrm>
              <a:custGeom>
                <a:avLst/>
                <a:gdLst>
                  <a:gd name="connsiteX0" fmla="*/ 56853 w 87882"/>
                  <a:gd name="connsiteY0" fmla="*/ 0 h 110951"/>
                  <a:gd name="connsiteX1" fmla="*/ 1649 w 87882"/>
                  <a:gd name="connsiteY1" fmla="*/ 55329 h 110951"/>
                  <a:gd name="connsiteX2" fmla="*/ 153 w 87882"/>
                  <a:gd name="connsiteY2" fmla="*/ 71903 h 110951"/>
                  <a:gd name="connsiteX3" fmla="*/ 32484 w 87882"/>
                  <a:gd name="connsiteY3" fmla="*/ 110801 h 110951"/>
                  <a:gd name="connsiteX4" fmla="*/ 37538 w 87882"/>
                  <a:gd name="connsiteY4" fmla="*/ 110908 h 110951"/>
                  <a:gd name="connsiteX5" fmla="*/ 73552 w 87882"/>
                  <a:gd name="connsiteY5" fmla="*/ 95705 h 110951"/>
                  <a:gd name="connsiteX6" fmla="*/ 73552 w 87882"/>
                  <a:gd name="connsiteY6" fmla="*/ 95705 h 110951"/>
                  <a:gd name="connsiteX7" fmla="*/ 64455 w 87882"/>
                  <a:gd name="connsiteY7" fmla="*/ 84614 h 110951"/>
                  <a:gd name="connsiteX8" fmla="*/ 64455 w 87882"/>
                  <a:gd name="connsiteY8" fmla="*/ 84614 h 110951"/>
                  <a:gd name="connsiteX9" fmla="*/ 64455 w 87882"/>
                  <a:gd name="connsiteY9" fmla="*/ 84614 h 110951"/>
                  <a:gd name="connsiteX10" fmla="*/ 38535 w 87882"/>
                  <a:gd name="connsiteY10" fmla="*/ 97075 h 110951"/>
                  <a:gd name="connsiteX11" fmla="*/ 15233 w 87882"/>
                  <a:gd name="connsiteY11" fmla="*/ 75551 h 110951"/>
                  <a:gd name="connsiteX12" fmla="*/ 15356 w 87882"/>
                  <a:gd name="connsiteY12" fmla="*/ 72152 h 110951"/>
                  <a:gd name="connsiteX13" fmla="*/ 17101 w 87882"/>
                  <a:gd name="connsiteY13" fmla="*/ 55952 h 110951"/>
                  <a:gd name="connsiteX14" fmla="*/ 31058 w 87882"/>
                  <a:gd name="connsiteY14" fmla="*/ 25048 h 110951"/>
                  <a:gd name="connsiteX15" fmla="*/ 55233 w 87882"/>
                  <a:gd name="connsiteY15" fmla="*/ 14206 h 110951"/>
                  <a:gd name="connsiteX16" fmla="*/ 76293 w 87882"/>
                  <a:gd name="connsiteY16" fmla="*/ 26668 h 110951"/>
                  <a:gd name="connsiteX17" fmla="*/ 76293 w 87882"/>
                  <a:gd name="connsiteY17" fmla="*/ 26668 h 110951"/>
                  <a:gd name="connsiteX18" fmla="*/ 87883 w 87882"/>
                  <a:gd name="connsiteY18" fmla="*/ 16823 h 110951"/>
                  <a:gd name="connsiteX19" fmla="*/ 87883 w 87882"/>
                  <a:gd name="connsiteY19" fmla="*/ 16823 h 110951"/>
                  <a:gd name="connsiteX20" fmla="*/ 56729 w 87882"/>
                  <a:gd name="connsiteY20" fmla="*/ 748 h 110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87882" h="110951">
                    <a:moveTo>
                      <a:pt x="56853" y="0"/>
                    </a:moveTo>
                    <a:cubicBezTo>
                      <a:pt x="28192" y="0"/>
                      <a:pt x="8129" y="20188"/>
                      <a:pt x="1649" y="55329"/>
                    </a:cubicBezTo>
                    <a:cubicBezTo>
                      <a:pt x="671" y="60800"/>
                      <a:pt x="170" y="66345"/>
                      <a:pt x="153" y="71903"/>
                    </a:cubicBezTo>
                    <a:cubicBezTo>
                      <a:pt x="-1660" y="91572"/>
                      <a:pt x="12814" y="108987"/>
                      <a:pt x="32484" y="110801"/>
                    </a:cubicBezTo>
                    <a:cubicBezTo>
                      <a:pt x="34163" y="110955"/>
                      <a:pt x="35853" y="110991"/>
                      <a:pt x="37538" y="110908"/>
                    </a:cubicBezTo>
                    <a:cubicBezTo>
                      <a:pt x="51112" y="110955"/>
                      <a:pt x="64118" y="105465"/>
                      <a:pt x="73552" y="95705"/>
                    </a:cubicBezTo>
                    <a:lnTo>
                      <a:pt x="73552" y="95705"/>
                    </a:lnTo>
                    <a:lnTo>
                      <a:pt x="64455" y="84614"/>
                    </a:lnTo>
                    <a:lnTo>
                      <a:pt x="64455" y="84614"/>
                    </a:lnTo>
                    <a:lnTo>
                      <a:pt x="64455" y="84614"/>
                    </a:lnTo>
                    <a:cubicBezTo>
                      <a:pt x="58138" y="92466"/>
                      <a:pt x="48613" y="97045"/>
                      <a:pt x="38535" y="97075"/>
                    </a:cubicBezTo>
                    <a:cubicBezTo>
                      <a:pt x="26157" y="97566"/>
                      <a:pt x="15724" y="87929"/>
                      <a:pt x="15233" y="75551"/>
                    </a:cubicBezTo>
                    <a:cubicBezTo>
                      <a:pt x="15188" y="74416"/>
                      <a:pt x="15229" y="73280"/>
                      <a:pt x="15356" y="72152"/>
                    </a:cubicBezTo>
                    <a:cubicBezTo>
                      <a:pt x="15424" y="66709"/>
                      <a:pt x="16008" y="61285"/>
                      <a:pt x="17101" y="55952"/>
                    </a:cubicBezTo>
                    <a:cubicBezTo>
                      <a:pt x="18838" y="44568"/>
                      <a:pt x="23666" y="33878"/>
                      <a:pt x="31058" y="25048"/>
                    </a:cubicBezTo>
                    <a:cubicBezTo>
                      <a:pt x="37213" y="18167"/>
                      <a:pt x="46002" y="14225"/>
                      <a:pt x="55233" y="14206"/>
                    </a:cubicBezTo>
                    <a:cubicBezTo>
                      <a:pt x="64085" y="13892"/>
                      <a:pt x="72308" y="18758"/>
                      <a:pt x="76293" y="26668"/>
                    </a:cubicBezTo>
                    <a:lnTo>
                      <a:pt x="76293" y="26668"/>
                    </a:lnTo>
                    <a:lnTo>
                      <a:pt x="87883" y="16823"/>
                    </a:lnTo>
                    <a:lnTo>
                      <a:pt x="87883" y="16823"/>
                    </a:lnTo>
                    <a:cubicBezTo>
                      <a:pt x="81104" y="6298"/>
                      <a:pt x="69235" y="174"/>
                      <a:pt x="56729" y="748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</p:grp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41B77B6E-E7CB-412B-95AC-A9322C6799BB}"/>
                </a:ext>
              </a:extLst>
            </p:cNvPr>
            <p:cNvSpPr/>
            <p:nvPr/>
          </p:nvSpPr>
          <p:spPr>
            <a:xfrm>
              <a:off x="1493985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826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826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1" name="Freihandform: Form 20">
              <a:extLst>
                <a:ext uri="{FF2B5EF4-FFF2-40B4-BE49-F238E27FC236}">
                  <a16:creationId xmlns:a16="http://schemas.microsoft.com/office/drawing/2014/main" id="{832E5C1A-13CE-49A6-B590-B6EAA5F9E1AD}"/>
                </a:ext>
              </a:extLst>
            </p:cNvPr>
            <p:cNvSpPr/>
            <p:nvPr/>
          </p:nvSpPr>
          <p:spPr>
            <a:xfrm>
              <a:off x="1340708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826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826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63AE00B0-780F-4053-8FE9-B7D321217AFF}"/>
                </a:ext>
              </a:extLst>
            </p:cNvPr>
            <p:cNvSpPr/>
            <p:nvPr/>
          </p:nvSpPr>
          <p:spPr>
            <a:xfrm>
              <a:off x="1298712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702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702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3" name="Freihandform: Form 22">
              <a:extLst>
                <a:ext uri="{FF2B5EF4-FFF2-40B4-BE49-F238E27FC236}">
                  <a16:creationId xmlns:a16="http://schemas.microsoft.com/office/drawing/2014/main" id="{2406CEAF-7399-4CCB-A322-03F0BA2532F5}"/>
                </a:ext>
              </a:extLst>
            </p:cNvPr>
            <p:cNvSpPr/>
            <p:nvPr/>
          </p:nvSpPr>
          <p:spPr>
            <a:xfrm>
              <a:off x="731837" y="6507088"/>
              <a:ext cx="417960" cy="157638"/>
            </a:xfrm>
            <a:custGeom>
              <a:avLst/>
              <a:gdLst>
                <a:gd name="connsiteX0" fmla="*/ 368612 w 417960"/>
                <a:gd name="connsiteY0" fmla="*/ 0 h 157638"/>
                <a:gd name="connsiteX1" fmla="*/ 356151 w 417960"/>
                <a:gd name="connsiteY1" fmla="*/ 61062 h 157638"/>
                <a:gd name="connsiteX2" fmla="*/ 320760 w 417960"/>
                <a:gd name="connsiteY2" fmla="*/ 61062 h 157638"/>
                <a:gd name="connsiteX3" fmla="*/ 333222 w 417960"/>
                <a:gd name="connsiteY3" fmla="*/ 0 h 157638"/>
                <a:gd name="connsiteX4" fmla="*/ 31652 w 417960"/>
                <a:gd name="connsiteY4" fmla="*/ 0 h 157638"/>
                <a:gd name="connsiteX5" fmla="*/ 0 w 417960"/>
                <a:gd name="connsiteY5" fmla="*/ 157638 h 157638"/>
                <a:gd name="connsiteX6" fmla="*/ 120254 w 417960"/>
                <a:gd name="connsiteY6" fmla="*/ 157638 h 157638"/>
                <a:gd name="connsiteX7" fmla="*/ 128105 w 417960"/>
                <a:gd name="connsiteY7" fmla="*/ 118260 h 157638"/>
                <a:gd name="connsiteX8" fmla="*/ 57074 w 417960"/>
                <a:gd name="connsiteY8" fmla="*/ 118260 h 157638"/>
                <a:gd name="connsiteX9" fmla="*/ 61435 w 417960"/>
                <a:gd name="connsiteY9" fmla="*/ 96577 h 157638"/>
                <a:gd name="connsiteX10" fmla="*/ 132342 w 417960"/>
                <a:gd name="connsiteY10" fmla="*/ 96577 h 157638"/>
                <a:gd name="connsiteX11" fmla="*/ 139569 w 417960"/>
                <a:gd name="connsiteY11" fmla="*/ 61062 h 157638"/>
                <a:gd name="connsiteX12" fmla="*/ 68538 w 417960"/>
                <a:gd name="connsiteY12" fmla="*/ 61062 h 157638"/>
                <a:gd name="connsiteX13" fmla="*/ 72900 w 417960"/>
                <a:gd name="connsiteY13" fmla="*/ 39378 h 157638"/>
                <a:gd name="connsiteX14" fmla="*/ 185303 w 417960"/>
                <a:gd name="connsiteY14" fmla="*/ 39378 h 157638"/>
                <a:gd name="connsiteX15" fmla="*/ 161626 w 417960"/>
                <a:gd name="connsiteY15" fmla="*/ 157638 h 157638"/>
                <a:gd name="connsiteX16" fmla="*/ 210849 w 417960"/>
                <a:gd name="connsiteY16" fmla="*/ 157638 h 157638"/>
                <a:gd name="connsiteX17" fmla="*/ 234651 w 417960"/>
                <a:gd name="connsiteY17" fmla="*/ 39378 h 157638"/>
                <a:gd name="connsiteX18" fmla="*/ 276023 w 417960"/>
                <a:gd name="connsiteY18" fmla="*/ 39378 h 157638"/>
                <a:gd name="connsiteX19" fmla="*/ 252222 w 417960"/>
                <a:gd name="connsiteY19" fmla="*/ 157638 h 157638"/>
                <a:gd name="connsiteX20" fmla="*/ 301569 w 417960"/>
                <a:gd name="connsiteY20" fmla="*/ 157638 h 157638"/>
                <a:gd name="connsiteX21" fmla="*/ 313657 w 417960"/>
                <a:gd name="connsiteY21" fmla="*/ 96577 h 157638"/>
                <a:gd name="connsiteX22" fmla="*/ 349172 w 417960"/>
                <a:gd name="connsiteY22" fmla="*/ 96577 h 157638"/>
                <a:gd name="connsiteX23" fmla="*/ 336960 w 417960"/>
                <a:gd name="connsiteY23" fmla="*/ 157638 h 157638"/>
                <a:gd name="connsiteX24" fmla="*/ 386308 w 417960"/>
                <a:gd name="connsiteY24" fmla="*/ 157638 h 157638"/>
                <a:gd name="connsiteX25" fmla="*/ 417960 w 417960"/>
                <a:gd name="connsiteY25" fmla="*/ 0 h 157638"/>
                <a:gd name="connsiteX26" fmla="*/ 368612 w 417960"/>
                <a:gd name="connsiteY26" fmla="*/ 0 h 157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17960" h="157638">
                  <a:moveTo>
                    <a:pt x="368612" y="0"/>
                  </a:moveTo>
                  <a:lnTo>
                    <a:pt x="356151" y="61062"/>
                  </a:lnTo>
                  <a:lnTo>
                    <a:pt x="320760" y="61062"/>
                  </a:lnTo>
                  <a:lnTo>
                    <a:pt x="333222" y="0"/>
                  </a:lnTo>
                  <a:lnTo>
                    <a:pt x="31652" y="0"/>
                  </a:lnTo>
                  <a:lnTo>
                    <a:pt x="0" y="157638"/>
                  </a:lnTo>
                  <a:lnTo>
                    <a:pt x="120254" y="157638"/>
                  </a:lnTo>
                  <a:lnTo>
                    <a:pt x="128105" y="118260"/>
                  </a:lnTo>
                  <a:lnTo>
                    <a:pt x="57074" y="118260"/>
                  </a:lnTo>
                  <a:lnTo>
                    <a:pt x="61435" y="96577"/>
                  </a:lnTo>
                  <a:lnTo>
                    <a:pt x="132342" y="96577"/>
                  </a:lnTo>
                  <a:lnTo>
                    <a:pt x="139569" y="61062"/>
                  </a:lnTo>
                  <a:lnTo>
                    <a:pt x="68538" y="61062"/>
                  </a:lnTo>
                  <a:lnTo>
                    <a:pt x="72900" y="39378"/>
                  </a:lnTo>
                  <a:lnTo>
                    <a:pt x="185303" y="39378"/>
                  </a:lnTo>
                  <a:lnTo>
                    <a:pt x="161626" y="157638"/>
                  </a:lnTo>
                  <a:lnTo>
                    <a:pt x="210849" y="157638"/>
                  </a:lnTo>
                  <a:lnTo>
                    <a:pt x="234651" y="39378"/>
                  </a:lnTo>
                  <a:lnTo>
                    <a:pt x="276023" y="39378"/>
                  </a:lnTo>
                  <a:lnTo>
                    <a:pt x="252222" y="157638"/>
                  </a:lnTo>
                  <a:lnTo>
                    <a:pt x="301569" y="157638"/>
                  </a:lnTo>
                  <a:lnTo>
                    <a:pt x="313657" y="96577"/>
                  </a:lnTo>
                  <a:lnTo>
                    <a:pt x="349172" y="96577"/>
                  </a:lnTo>
                  <a:lnTo>
                    <a:pt x="336960" y="157638"/>
                  </a:lnTo>
                  <a:lnTo>
                    <a:pt x="386308" y="157638"/>
                  </a:lnTo>
                  <a:lnTo>
                    <a:pt x="417960" y="0"/>
                  </a:lnTo>
                  <a:lnTo>
                    <a:pt x="368612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</p:grpSp>
    </p:spTree>
    <p:extLst>
      <p:ext uri="{BB962C8B-B14F-4D97-AF65-F5344CB8AC3E}">
        <p14:creationId xmlns:p14="http://schemas.microsoft.com/office/powerpoint/2010/main" val="3716835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C2547-0B26-4181-9958-0F74634B97A1}" type="datetime1">
              <a:rPr lang="de-CH" noProof="0" smtClean="0"/>
              <a:t>16.10.2026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Department Informatik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05941150-30DE-48F5-9038-0E82CD18DE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7" y="1412874"/>
            <a:ext cx="10728000" cy="4860000"/>
          </a:xfrm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943852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33879-9C0F-4F94-919F-30B833E8871A}" type="datetime1">
              <a:rPr lang="de-CH" noProof="0" smtClean="0"/>
              <a:t>16.10.2026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Department Informatik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05941150-30DE-48F5-9038-0E82CD18DE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7" y="260350"/>
            <a:ext cx="10728000" cy="6012524"/>
          </a:xfrm>
        </p:spPr>
        <p:txBody>
          <a:bodyPr tIns="21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8420483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zwei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4163" y="1412875"/>
            <a:ext cx="5256000" cy="486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16.10.2026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Department Informatik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8" y="1412875"/>
            <a:ext cx="5040000" cy="4860000"/>
          </a:xfrm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39963947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6" y="5121800"/>
            <a:ext cx="5255999" cy="11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B9425-7348-43E2-B0E9-6A2A48F5FA8A}" type="datetime1">
              <a:rPr lang="de-CH" noProof="0" smtClean="0"/>
              <a:t>16.10.2026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Department Informatik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8" y="1412875"/>
            <a:ext cx="5256000" cy="3420000"/>
          </a:xfrm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Bildplatzhalter 10">
            <a:extLst>
              <a:ext uri="{FF2B5EF4-FFF2-40B4-BE49-F238E27FC236}">
                <a16:creationId xmlns:a16="http://schemas.microsoft.com/office/drawing/2014/main" id="{1AAB6914-2518-430D-BF4C-14EA51B6141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04162" y="1412875"/>
            <a:ext cx="5256000" cy="3420000"/>
          </a:xfrm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5092EEFB-079B-4C38-A665-E52B9837601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04162" y="5121800"/>
            <a:ext cx="5256001" cy="11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1085750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3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6" y="4166439"/>
            <a:ext cx="10728327" cy="2124401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782B2-018B-4FD3-AD95-2F64EDE0E9D6}" type="datetime1">
              <a:rPr lang="de-CH" noProof="0" smtClean="0"/>
              <a:t>16.10.2026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Department Informatik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8" y="1412875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36793346-BF6B-42A8-ADE0-3AA3DC3B239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040162" y="1414800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4" name="Bildplatzhalter 10">
            <a:extLst>
              <a:ext uri="{FF2B5EF4-FFF2-40B4-BE49-F238E27FC236}">
                <a16:creationId xmlns:a16="http://schemas.microsoft.com/office/drawing/2014/main" id="{FE637F68-618E-43EB-B240-4BFA26852FC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385999" y="1414800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2529889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1412875"/>
            <a:ext cx="10728325" cy="396000"/>
          </a:xfrm>
        </p:spPr>
        <p:txBody>
          <a:bodyPr/>
          <a:lstStyle>
            <a:lvl1pPr marL="0" indent="0">
              <a:buNone/>
              <a:defRPr b="1"/>
            </a:lvl1pPr>
            <a:lvl2pPr marL="266700" indent="0">
              <a:buNone/>
              <a:defRPr b="1"/>
            </a:lvl2pPr>
            <a:lvl3pPr marL="538163" indent="0">
              <a:buNone/>
              <a:defRPr b="1"/>
            </a:lvl3pPr>
            <a:lvl4pPr marL="804862" indent="0">
              <a:buNone/>
              <a:defRPr b="1"/>
            </a:lvl4pPr>
            <a:lvl5pPr marL="1076325" indent="0">
              <a:buNone/>
              <a:defRPr b="1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0FED0-443D-411A-B8E4-0668A8890EE3}" type="datetime1">
              <a:rPr lang="de-CH" noProof="0" smtClean="0"/>
              <a:t>16.10.2026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Department Informatik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9" name="Tabellenplatzhalter 8">
            <a:extLst>
              <a:ext uri="{FF2B5EF4-FFF2-40B4-BE49-F238E27FC236}">
                <a16:creationId xmlns:a16="http://schemas.microsoft.com/office/drawing/2014/main" id="{A1D947E6-CC00-458E-BDE1-B0877E30333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731838" y="2061398"/>
            <a:ext cx="10728325" cy="4212401"/>
          </a:xfrm>
        </p:spPr>
        <p:txBody>
          <a:bodyPr tIns="1260000"/>
          <a:lstStyle>
            <a:lvl1pPr marL="0" indent="0" algn="ctr">
              <a:spcBef>
                <a:spcPts val="0"/>
              </a:spcBef>
              <a:buNone/>
              <a:defRPr sz="1400"/>
            </a:lvl1pPr>
          </a:lstStyle>
          <a:p>
            <a:r>
              <a:rPr lang="en-US" noProof="0"/>
              <a:t>Click icon to add table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928661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394B20FF-3667-40DF-92A1-C6CF3BBCA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2135492"/>
            <a:ext cx="10728325" cy="39600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540000" indent="0">
              <a:buNone/>
              <a:defRPr>
                <a:solidFill>
                  <a:schemeClr val="bg1"/>
                </a:solidFill>
              </a:defRPr>
            </a:lvl3pPr>
            <a:lvl4pPr marL="808537" indent="0">
              <a:buNone/>
              <a:defRPr>
                <a:solidFill>
                  <a:schemeClr val="bg1"/>
                </a:solidFill>
              </a:defRPr>
            </a:lvl4pPr>
            <a:lvl5pPr marL="1080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1" name="Bildplatzhalter 8">
            <a:extLst>
              <a:ext uri="{FF2B5EF4-FFF2-40B4-BE49-F238E27FC236}">
                <a16:creationId xmlns:a16="http://schemas.microsoft.com/office/drawing/2014/main" id="{794484F1-3B7F-46CE-AD0B-2310A557A99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F900572E-A73E-42BE-96FA-38ADC4E79F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6703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98">
          <p15:clr>
            <a:srgbClr val="FBAE40"/>
          </p15:clr>
        </p15:guide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9CEF804-E58C-481B-A606-7D35AF68F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CH" noProof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5C6EC0D-393C-42F2-B6A7-B19C9B098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837" y="1412875"/>
            <a:ext cx="10728325" cy="46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CH" noProof="0"/>
              <a:t>Mastertextformat bearbeiten</a:t>
            </a:r>
          </a:p>
          <a:p>
            <a:pPr lvl="1"/>
            <a:r>
              <a:rPr lang="de-CH" noProof="0"/>
              <a:t>Zweite Ebene</a:t>
            </a:r>
          </a:p>
          <a:p>
            <a:pPr lvl="2"/>
            <a:r>
              <a:rPr lang="de-CH" noProof="0"/>
              <a:t>Dritte Ebene</a:t>
            </a:r>
          </a:p>
          <a:p>
            <a:pPr lvl="3"/>
            <a:r>
              <a:rPr lang="de-CH" noProof="0"/>
              <a:t>Vierte Ebene</a:t>
            </a:r>
          </a:p>
          <a:p>
            <a:pPr lvl="4"/>
            <a:r>
              <a:rPr lang="de-CH" noProof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7C96E51-36C9-4BEE-A761-33378A0DF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3692" y="6522444"/>
            <a:ext cx="612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4A358CF3-A22A-46C1-A4E5-5810212466EF}" type="datetime1">
              <a:rPr lang="de-CH" noProof="0" smtClean="0"/>
              <a:t>16.10.2026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11EC403-6E63-4450-AFDD-66CA49D6CC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71700" y="6522444"/>
            <a:ext cx="540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FDFCC57-7DDC-4B2C-A6BE-862DAF9C9F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5ACA52AF-F19D-405C-AD5F-7D94B96A5CC3}" type="slidenum">
              <a:rPr lang="de-CH" noProof="0" smtClean="0"/>
              <a:pPr/>
              <a:t>‹#›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409606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0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38163" indent="-271463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10000" indent="-27000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80000" indent="-271463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50000" indent="-27000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461" userDrawn="1">
          <p15:clr>
            <a:srgbClr val="F26B43"/>
          </p15:clr>
        </p15:guide>
        <p15:guide id="3" pos="7219" userDrawn="1">
          <p15:clr>
            <a:srgbClr val="F26B43"/>
          </p15:clr>
        </p15:guide>
        <p15:guide id="4" orient="horz" pos="164" userDrawn="1">
          <p15:clr>
            <a:srgbClr val="F26B43"/>
          </p15:clr>
        </p15:guide>
        <p15:guide id="5" orient="horz" pos="890" userDrawn="1">
          <p15:clr>
            <a:srgbClr val="F26B43"/>
          </p15:clr>
        </p15:guide>
        <p15:guide id="6" orient="horz" pos="4201" userDrawn="1">
          <p15:clr>
            <a:srgbClr val="F26B43"/>
          </p15:clr>
        </p15:guide>
        <p15:guide id="7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66563B3-27E0-6DAE-53A4-EA49A3CAA2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43" b="8861"/>
          <a:stretch>
            <a:fillRect/>
          </a:stretch>
        </p:blipFill>
        <p:spPr>
          <a:xfrm>
            <a:off x="731837" y="1013567"/>
            <a:ext cx="10728325" cy="5256001"/>
          </a:xfrm>
          <a:prstGeom prst="rect">
            <a:avLst/>
          </a:prstGeom>
        </p:spPr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AC1FB292-90C1-439C-8480-EB4116CF23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2233538"/>
            <a:ext cx="7726947" cy="2772000"/>
          </a:xfrm>
        </p:spPr>
        <p:txBody>
          <a:bodyPr/>
          <a:lstStyle/>
          <a:p>
            <a:r>
              <a:rPr lang="de-DE" dirty="0"/>
              <a:t>Woche 5: </a:t>
            </a:r>
            <a:br>
              <a:rPr lang="de-DE" dirty="0"/>
            </a:br>
            <a:endParaRPr lang="de-CH" dirty="0"/>
          </a:p>
        </p:txBody>
      </p:sp>
      <p:sp>
        <p:nvSpPr>
          <p:cNvPr id="2" name="Bildplatzhalter 1">
            <a:extLst>
              <a:ext uri="{FF2B5EF4-FFF2-40B4-BE49-F238E27FC236}">
                <a16:creationId xmlns:a16="http://schemas.microsoft.com/office/drawing/2014/main" id="{11ADABBC-2742-48DB-BA2B-E411F07CEE7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4171C1F6-869F-40B1-8975-92FF2042F4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b="1" dirty="0"/>
              <a:t>Jonas Vonäsch</a:t>
            </a:r>
          </a:p>
          <a:p>
            <a:r>
              <a:rPr lang="de-DE" dirty="0"/>
              <a:t>Numerical Methods for Computer Science</a:t>
            </a:r>
          </a:p>
          <a:p>
            <a:r>
              <a:rPr lang="de-DE" dirty="0"/>
              <a:t>19. Oktober 2026</a:t>
            </a:r>
            <a:endParaRPr lang="de-CH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C6B18E6F-BDD9-4B0B-9B9E-C25187E0E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 dirty="0"/>
              <a:t>Department Informatik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536168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050A74-6ED2-41B3-AD63-74F89C447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Agenda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4792F61-F3A1-4E2C-B0EE-9742603FD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Quadratur Basics</a:t>
            </a:r>
          </a:p>
          <a:p>
            <a:r>
              <a:rPr lang="de-DE" dirty="0"/>
              <a:t>Fehler, Konvergenz, Ordnung</a:t>
            </a:r>
          </a:p>
          <a:p>
            <a:r>
              <a:rPr lang="de-DE" dirty="0"/>
              <a:t>Äquidistante Quadraturregeln</a:t>
            </a:r>
          </a:p>
          <a:p>
            <a:r>
              <a:rPr lang="en-US" dirty="0" err="1"/>
              <a:t>Summierte</a:t>
            </a:r>
            <a:r>
              <a:rPr lang="en-US" dirty="0"/>
              <a:t> </a:t>
            </a:r>
            <a:r>
              <a:rPr lang="en-US" dirty="0" err="1"/>
              <a:t>Quadraturformeln</a:t>
            </a:r>
            <a:endParaRPr lang="de-CH" dirty="0"/>
          </a:p>
          <a:p>
            <a:r>
              <a:rPr lang="de-CH" dirty="0"/>
              <a:t>Romberg</a:t>
            </a:r>
          </a:p>
          <a:p>
            <a:r>
              <a:rPr lang="de-CH" dirty="0"/>
              <a:t>Nicht Äquidistante Quadratur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A08BFF2-5DEB-4FE4-A3E3-C18FD3A38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Department Informatik</a:t>
            </a:r>
            <a:endParaRPr lang="de-CH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B726846-AD64-4677-BEA5-D3BDD96C7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2947E-D2DB-4F76-9588-775FC8D85F8C}" type="datetime1">
              <a:rPr lang="de-CH" noProof="0" smtClean="0"/>
              <a:t>16.10.2026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665EC3-3ED3-4D21-AC3C-EAD0881BA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3164086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3B426-DF10-39FC-3293-8CF86202C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Quadratur</a:t>
            </a:r>
            <a:endParaRPr lang="en-CH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E95860-970E-4DCD-AC8A-5F175D39D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EAFE7-317E-4912-B75C-DD6945F82242}" type="datetime1">
              <a:rPr lang="de-CH" noProof="0" smtClean="0"/>
              <a:t>16.10.2026</a:t>
            </a:fld>
            <a:endParaRPr lang="de-CH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B1C382-D614-911E-89A4-70F284229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Department Informatik</a:t>
            </a:r>
            <a:endParaRPr lang="de-CH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EF6AEF-B382-6E10-972C-D701C760C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pPr/>
              <a:t>3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4088133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D6B42-ED4A-B2BB-5009-EB9C3E0DC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Quadratur</a:t>
            </a:r>
            <a:r>
              <a:rPr lang="en-US" dirty="0"/>
              <a:t>: Idee</a:t>
            </a:r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1B70A-06A0-B73F-5418-F637A88D34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i="1" dirty="0"/>
              <a:t>Wir </a:t>
            </a:r>
            <a:r>
              <a:rPr lang="en-US" i="1" dirty="0" err="1"/>
              <a:t>wollen</a:t>
            </a:r>
            <a:r>
              <a:rPr lang="en-US" i="1" dirty="0"/>
              <a:t> </a:t>
            </a:r>
            <a:r>
              <a:rPr lang="en-US" i="1" dirty="0" err="1"/>
              <a:t>ein</a:t>
            </a:r>
            <a:r>
              <a:rPr lang="en-US" i="1" dirty="0"/>
              <a:t> Integral </a:t>
            </a:r>
            <a:r>
              <a:rPr lang="en-US" i="1" dirty="0" err="1"/>
              <a:t>numerisch</a:t>
            </a:r>
            <a:r>
              <a:rPr lang="en-US" i="1" dirty="0"/>
              <a:t> </a:t>
            </a:r>
            <a:r>
              <a:rPr lang="en-US" i="1" dirty="0" err="1"/>
              <a:t>annähern</a:t>
            </a:r>
            <a:r>
              <a:rPr lang="en-US" i="1" dirty="0"/>
              <a:t>! </a:t>
            </a:r>
          </a:p>
          <a:p>
            <a:pPr marL="0" indent="0">
              <a:buNone/>
            </a:pPr>
            <a:r>
              <a:rPr lang="en-US" dirty="0" err="1"/>
              <a:t>Bsp</a:t>
            </a:r>
            <a:r>
              <a:rPr lang="en-US" dirty="0"/>
              <a:t>: Riemann-</a:t>
            </a:r>
            <a:r>
              <a:rPr lang="en-US" dirty="0" err="1"/>
              <a:t>summen</a:t>
            </a:r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EA7984-B3D9-596D-34EB-961579A3D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16.10.2026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C565DB-9661-2101-3845-A6B91CE24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Department Informatik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559354-CBF7-D42C-395D-C7FA9C2BB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4</a:t>
            </a:fld>
            <a:endParaRPr lang="de-CH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DBEEB5E-0404-E11F-84F7-4DE65246E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2445" y="2477558"/>
            <a:ext cx="4867109" cy="3615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084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2D038-E3EC-78B1-59BC-3CAC0C655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DC18D-13D2-278E-724F-085931D8D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Quadratur</a:t>
            </a:r>
            <a:r>
              <a:rPr lang="en-US" dirty="0"/>
              <a:t>: Idee</a:t>
            </a:r>
            <a:endParaRPr lang="en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48BAEB-F823-EA2C-D880-A6832F86D3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Wir </a:t>
                </a:r>
                <a:r>
                  <a:rPr lang="en-US" dirty="0" err="1"/>
                  <a:t>suchen</a:t>
                </a:r>
                <a:r>
                  <a:rPr lang="en-US" dirty="0"/>
                  <a:t> </a:t>
                </a:r>
                <a:r>
                  <a:rPr lang="en-US" dirty="0" err="1"/>
                  <a:t>Stützstellen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US" dirty="0"/>
                  <a:t> und </a:t>
                </a:r>
                <a:r>
                  <a:rPr lang="en-US" dirty="0" err="1"/>
                  <a:t>Gewichte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Wir </a:t>
                </a:r>
                <a:r>
                  <a:rPr lang="en-US" dirty="0" err="1"/>
                  <a:t>messen</a:t>
                </a:r>
                <a:r>
                  <a:rPr lang="en-US" dirty="0"/>
                  <a:t> an </a:t>
                </a:r>
                <a:r>
                  <a:rPr lang="en-US" dirty="0" err="1"/>
                  <a:t>allen</a:t>
                </a:r>
                <a:r>
                  <a:rPr lang="en-US" dirty="0"/>
                  <a:t> </a:t>
                </a:r>
                <a:r>
                  <a:rPr lang="en-US" dirty="0" err="1"/>
                  <a:t>Stellen</a:t>
                </a:r>
                <a:r>
                  <a:rPr lang="en-US" dirty="0"/>
                  <a:t> und </a:t>
                </a:r>
                <a:r>
                  <a:rPr lang="en-US" dirty="0" err="1"/>
                  <a:t>summieren</a:t>
                </a:r>
                <a:r>
                  <a:rPr lang="en-US" dirty="0"/>
                  <a:t> auf: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:=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≈</m:t>
                      </m:r>
                      <m:nary>
                        <m:naryPr>
                          <m:limLoc m:val="subSup"/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nary>
                      <m:d>
                        <m:d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 err="1"/>
                  <a:t>Jede</a:t>
                </a:r>
                <a:r>
                  <a:rPr lang="en-US" dirty="0"/>
                  <a:t> </a:t>
                </a:r>
                <a:r>
                  <a:rPr lang="en-US" dirty="0" err="1"/>
                  <a:t>quadratur</a:t>
                </a:r>
                <a:r>
                  <a:rPr lang="en-US" dirty="0"/>
                  <a:t> </a:t>
                </a:r>
                <a:r>
                  <a:rPr lang="en-US" dirty="0" err="1"/>
                  <a:t>funktioniert</a:t>
                </a:r>
                <a:r>
                  <a:rPr lang="en-US" dirty="0"/>
                  <a:t> so, </a:t>
                </a:r>
                <a:r>
                  <a:rPr lang="en-US" dirty="0" err="1"/>
                  <a:t>ob</a:t>
                </a:r>
                <a:r>
                  <a:rPr lang="en-US" dirty="0"/>
                  <a:t> auf </a:t>
                </a:r>
                <a:r>
                  <a:rPr lang="en-US" dirty="0" err="1"/>
                  <a:t>einem</a:t>
                </a:r>
                <a:r>
                  <a:rPr lang="en-US" dirty="0"/>
                  <a:t> </a:t>
                </a:r>
                <a:r>
                  <a:rPr lang="en-US" dirty="0" err="1"/>
                  <a:t>beschränkten</a:t>
                </a:r>
                <a:r>
                  <a:rPr lang="en-US" dirty="0"/>
                  <a:t> </a:t>
                </a:r>
                <a:r>
                  <a:rPr lang="en-US" dirty="0" err="1"/>
                  <a:t>oder</a:t>
                </a:r>
                <a:r>
                  <a:rPr lang="en-US" dirty="0"/>
                  <a:t> </a:t>
                </a:r>
                <a:r>
                  <a:rPr lang="en-US" dirty="0" err="1"/>
                  <a:t>offenen</a:t>
                </a:r>
                <a:r>
                  <a:rPr lang="en-US" dirty="0"/>
                  <a:t> </a:t>
                </a:r>
                <a:r>
                  <a:rPr lang="en-US" dirty="0" err="1"/>
                  <a:t>Intervall</a:t>
                </a:r>
                <a:r>
                  <a:rPr lang="en-US" dirty="0"/>
                  <a:t>!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48BAEB-F823-EA2C-D880-A6832F86D3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7" t="-1695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E5FB0-66AF-00CB-0D1E-B748B18BB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16.10.2026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8B753E-8152-79E5-BD35-58514920E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Department Informatik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2F4DD8-0704-B3DA-6933-3EBEA07E0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5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3601465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8D0858-1FBC-8033-D463-D0B3D2835F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4400" dirty="0" err="1"/>
                  <a:t>Jede</a:t>
                </a:r>
                <a:r>
                  <a:rPr lang="en-US" sz="4400" dirty="0"/>
                  <a:t> </a:t>
                </a:r>
                <a:r>
                  <a:rPr lang="en-US" sz="4400" dirty="0" err="1"/>
                  <a:t>Quadraturmethode</a:t>
                </a:r>
                <a:r>
                  <a:rPr lang="en-US" sz="4400" dirty="0"/>
                  <a:t> </a:t>
                </a:r>
              </a:p>
              <a:p>
                <a:pPr marL="0" indent="0">
                  <a:buNone/>
                </a:pPr>
                <a:r>
                  <a:rPr lang="en-US" sz="4400" dirty="0" err="1"/>
                  <a:t>definiert</a:t>
                </a:r>
                <a:r>
                  <a:rPr lang="en-US" sz="4400" dirty="0"/>
                  <a:t> </a:t>
                </a:r>
                <a:r>
                  <a:rPr lang="en-US" sz="4400" dirty="0" err="1"/>
                  <a:t>uns</a:t>
                </a:r>
                <a:r>
                  <a:rPr lang="en-US" sz="4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4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4400" dirty="0"/>
                  <a:t>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CH" sz="4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8D0858-1FBC-8033-D463-D0B3D2835F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125" t="-3781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0F83CB-F6DB-74B6-55FF-8DE4E8471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16.10.2026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504BE-7C3B-7780-A097-2FE36964E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Department Informatik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F4957C-6B59-F144-D35B-1E38A7C08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6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143316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4D0CA-6E87-3032-B338-FEDDF7718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Beispiel</a:t>
            </a:r>
            <a:r>
              <a:rPr lang="en-US" dirty="0"/>
              <a:t>: </a:t>
            </a:r>
            <a:r>
              <a:rPr lang="en-US" dirty="0" err="1"/>
              <a:t>Quadratur</a:t>
            </a:r>
            <a:r>
              <a:rPr lang="en-US" dirty="0"/>
              <a:t> </a:t>
            </a:r>
            <a:r>
              <a:rPr lang="en-US" dirty="0" err="1"/>
              <a:t>mit</a:t>
            </a:r>
            <a:r>
              <a:rPr lang="en-US" dirty="0"/>
              <a:t> Lagrange</a:t>
            </a:r>
            <a:endParaRPr lang="en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B9A42-1E1B-948B-517A-5C1688998C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Wir </a:t>
                </a:r>
                <a:r>
                  <a:rPr lang="en-US" dirty="0" err="1"/>
                  <a:t>erinnern</a:t>
                </a:r>
                <a:r>
                  <a:rPr lang="en-US" dirty="0"/>
                  <a:t> </a:t>
                </a:r>
                <a:r>
                  <a:rPr lang="en-US" dirty="0" err="1"/>
                  <a:t>uns</a:t>
                </a:r>
                <a:r>
                  <a:rPr lang="en-US" dirty="0"/>
                  <a:t> an Lagrange: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CH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CH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H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CH" b="0" i="1" smtClean="0">
                          <a:latin typeface="Cambria Math" panose="02040503050406030204" pitchFamily="18" charset="0"/>
                        </a:rPr>
                        <m:t>≈</m:t>
                      </m:r>
                      <m:acc>
                        <m:accPr>
                          <m:chr m:val="ˆ"/>
                          <m:ctrlPr>
                            <a:rPr lang="en-CH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CH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d>
                        <m:dPr>
                          <m:ctrlPr>
                            <a:rPr lang="en-CH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H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CH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CH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CH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CH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CH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CH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nary>
                      <m:d>
                        <m:dPr>
                          <m:ctrlPr>
                            <a:rPr lang="en-CH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H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H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CH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CH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CH" b="0" i="1" smtClean="0"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a:rPr lang="en-CH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CH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H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Integrale</a:t>
                </a:r>
                <a:r>
                  <a:rPr lang="en-US" dirty="0"/>
                  <a:t> </a:t>
                </a:r>
                <a:r>
                  <a:rPr lang="en-US" dirty="0" err="1"/>
                  <a:t>sind</a:t>
                </a:r>
                <a:r>
                  <a:rPr lang="en-US" dirty="0"/>
                  <a:t> </a:t>
                </a:r>
                <a:r>
                  <a:rPr lang="en-US" dirty="0" err="1"/>
                  <a:t>additiv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limLoc m:val="subSup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nary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</m:t>
                      </m:r>
                      <m:nary>
                        <m:naryPr>
                          <m:limLoc m:val="subSup"/>
                          <m:ctrlPr>
                            <a:rPr lang="en-US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acc>
                            <m:accPr>
                              <m:chr m:val="ˆ"/>
                              <m:ctrlPr>
                                <a:rPr lang="en-US" b="0" i="1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nary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nary>
                        <m:naryPr>
                          <m:limLoc m:val="subSup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Wir </a:t>
                </a:r>
                <a:r>
                  <a:rPr lang="en-US" dirty="0" err="1"/>
                  <a:t>wählen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subSup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r>
                  <a:rPr lang="en-US" dirty="0"/>
                  <a:t>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limLoc m:val="subSup"/>
                          <m:ctrlPr>
                            <a:rPr lang="en-US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US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Das </a:t>
                </a:r>
                <a:r>
                  <a:rPr lang="en-US" dirty="0" err="1"/>
                  <a:t>ist</a:t>
                </a:r>
                <a:r>
                  <a:rPr lang="en-US" dirty="0"/>
                  <a:t> </a:t>
                </a:r>
                <a:r>
                  <a:rPr lang="en-US" dirty="0" err="1"/>
                  <a:t>eine</a:t>
                </a:r>
                <a:r>
                  <a:rPr lang="en-US" dirty="0"/>
                  <a:t> </a:t>
                </a:r>
                <a:r>
                  <a:rPr lang="en-US" dirty="0" err="1"/>
                  <a:t>Quadraturformel</a:t>
                </a:r>
                <a:r>
                  <a:rPr lang="en-US" dirty="0"/>
                  <a:t> – Nicht </a:t>
                </a:r>
                <a:r>
                  <a:rPr lang="en-US" dirty="0" err="1"/>
                  <a:t>unbedingt</a:t>
                </a:r>
                <a:r>
                  <a:rPr lang="en-US" dirty="0"/>
                  <a:t> </a:t>
                </a:r>
                <a:r>
                  <a:rPr lang="en-US" dirty="0" err="1"/>
                  <a:t>praktisch</a:t>
                </a:r>
                <a:r>
                  <a:rPr lang="en-US" dirty="0"/>
                  <a:t>, </a:t>
                </a:r>
                <a:r>
                  <a:rPr lang="en-US" dirty="0" err="1"/>
                  <a:t>aber</a:t>
                </a:r>
                <a:r>
                  <a:rPr lang="en-US" dirty="0"/>
                  <a:t> </a:t>
                </a:r>
                <a:r>
                  <a:rPr lang="en-US" dirty="0" err="1"/>
                  <a:t>funktioniert</a:t>
                </a:r>
                <a:r>
                  <a:rPr lang="en-US" dirty="0"/>
                  <a:t>!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B9A42-1E1B-948B-517A-5C1688998C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7" t="-1695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54C1BF-286B-2E1F-361D-CAE05D438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16.10.2026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DEF9B4-5B3E-ECA0-41D3-C618DA02E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Department Informatik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EE8836-7B4E-E708-FE0E-D7B57FA7A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7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678367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84C0D-E646-9BFF-53B2-18E4A9689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Fehler, </a:t>
            </a:r>
            <a:r>
              <a:rPr lang="en-US" dirty="0" err="1"/>
              <a:t>Konvergenz</a:t>
            </a:r>
            <a:r>
              <a:rPr lang="en-US" dirty="0"/>
              <a:t>, Ordnung</a:t>
            </a:r>
            <a:endParaRPr lang="en-CH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00C089-2B54-34D2-7190-E49867E15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EAFE7-317E-4912-B75C-DD6945F82242}" type="datetime1">
              <a:rPr lang="de-CH" noProof="0" smtClean="0"/>
              <a:t>16.10.2026</a:t>
            </a:fld>
            <a:endParaRPr lang="de-CH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C738B1-AC6D-6B43-D102-88F6D0DE4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Department Informatik</a:t>
            </a:r>
            <a:endParaRPr lang="de-CH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8DFE9A-68D7-5BC7-1EC7-F29229435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pPr/>
              <a:t>8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622420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ACB99-7671-2831-CCF6-BC12AEB8C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Quadratur</a:t>
            </a:r>
            <a:r>
              <a:rPr lang="en-US" dirty="0"/>
              <a:t>: </a:t>
            </a:r>
            <a:r>
              <a:rPr lang="en-US" dirty="0" err="1"/>
              <a:t>Konvergenz</a:t>
            </a:r>
            <a:endParaRPr lang="en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FB633A-1F17-B0AD-7D57-77F79A6E1E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Der Fehler </a:t>
                </a:r>
                <a:r>
                  <a:rPr lang="en-US" dirty="0" err="1"/>
                  <a:t>einer</a:t>
                </a:r>
                <a:r>
                  <a:rPr lang="en-US" dirty="0"/>
                  <a:t> </a:t>
                </a:r>
                <a:r>
                  <a:rPr lang="en-US" dirty="0" err="1"/>
                  <a:t>Quadraturformel</a:t>
                </a:r>
                <a:r>
                  <a:rPr lang="en-US" dirty="0"/>
                  <a:t> </a:t>
                </a:r>
                <a:r>
                  <a:rPr lang="en-US" dirty="0" err="1"/>
                  <a:t>ist</a:t>
                </a:r>
                <a:r>
                  <a:rPr lang="en-US" dirty="0"/>
                  <a:t> </a:t>
                </a:r>
                <a:r>
                  <a:rPr lang="en-US" dirty="0" err="1"/>
                  <a:t>gegeben</a:t>
                </a:r>
                <a:r>
                  <a:rPr lang="en-US" dirty="0"/>
                  <a:t> </a:t>
                </a:r>
                <a:r>
                  <a:rPr lang="en-US" dirty="0" err="1"/>
                  <a:t>als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CH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CH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H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CH" i="1">
                          <a:latin typeface="Cambria Math" panose="02040503050406030204" pitchFamily="18" charset="0"/>
                        </a:rPr>
                        <m:t>:=</m:t>
                      </m:r>
                      <m:d>
                        <m:dPr>
                          <m:begChr m:val="|"/>
                          <m:endChr m:val="|"/>
                          <m:ctrlPr>
                            <a:rPr lang="en-CH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limLoc m:val="subSup"/>
                              <m:ctrlPr>
                                <a:rPr lang="en-CH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CH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  <m:sup>
                              <m:r>
                                <a:rPr lang="en-CH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p>
                            <m:e>
                              <m:r>
                                <a:rPr lang="en-CH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CH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H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CH" i="1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e>
                          </m:nary>
                          <m:r>
                            <a:rPr lang="en-CH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CH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H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CH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d>
                            <m:dPr>
                              <m:ctrlPr>
                                <a:rPr lang="en-CH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H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CH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CH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CH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CH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 err="1"/>
                  <a:t>Algebraische</a:t>
                </a:r>
                <a:r>
                  <a:rPr lang="en-US" dirty="0"/>
                  <a:t> </a:t>
                </a:r>
                <a:r>
                  <a:rPr lang="en-US" dirty="0" err="1"/>
                  <a:t>Konvergenz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 err="1"/>
                  <a:t>Exponentielle</a:t>
                </a:r>
                <a:r>
                  <a:rPr lang="en-US" dirty="0"/>
                  <a:t> </a:t>
                </a:r>
                <a:r>
                  <a:rPr lang="en-US" dirty="0" err="1"/>
                  <a:t>Konvergenz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CH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CH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H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CH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H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CH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CH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H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CH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  <m:r>
                        <a:rPr lang="en-CH" b="0" i="1" smtClean="0">
                          <a:latin typeface="Cambria Math" panose="02040503050406030204" pitchFamily="18" charset="0"/>
                        </a:rPr>
                        <m:t>,0≤</m:t>
                      </m:r>
                      <m:r>
                        <a:rPr lang="en-CH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CH" b="0" i="1" smtClean="0">
                          <a:latin typeface="Cambria Math" panose="02040503050406030204" pitchFamily="18" charset="0"/>
                        </a:rPr>
                        <m:t>≤1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CH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FB633A-1F17-B0AD-7D57-77F79A6E1E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7" t="-1695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C06DC-BEC1-1D07-2E9B-5CC89332D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16.10.2026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91557-D94F-94BE-C0BF-B1FC41603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Department Informatik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7C8D5-92D4-89F1-9993-C70F41236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9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16089092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D4ACD-76F1-D45E-B73B-F284B15CA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Quadratur</a:t>
            </a:r>
            <a:r>
              <a:rPr lang="en-US" dirty="0"/>
              <a:t>: Ordnung</a:t>
            </a:r>
            <a:endParaRPr lang="en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922830-C5F8-9D43-98EC-4429C034D5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:r>
                  <a:rPr lang="en-US" sz="4400" dirty="0" err="1"/>
                  <a:t>Quadraturformel</a:t>
                </a:r>
                <a:r>
                  <a:rPr lang="en-US" sz="4400" dirty="0"/>
                  <a:t> hat Ordnung </a:t>
                </a:r>
                <a14:m>
                  <m:oMath xmlns:m="http://schemas.openxmlformats.org/officeDocument/2006/math"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4400" dirty="0"/>
                  <a:t> 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CH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⇔</m:t>
                      </m:r>
                    </m:oMath>
                  </m:oMathPara>
                </a14:m>
                <a:endParaRPr lang="en-US" sz="4400" dirty="0"/>
              </a:p>
              <a:p>
                <a:pPr marL="0" indent="0" algn="ctr">
                  <a:buNone/>
                </a:pPr>
                <a:r>
                  <a:rPr lang="en-US" sz="4400" dirty="0" err="1"/>
                  <a:t>Integriert</a:t>
                </a:r>
                <a:r>
                  <a:rPr lang="en-US" sz="4400" dirty="0"/>
                  <a:t> </a:t>
                </a:r>
                <a:r>
                  <a:rPr lang="en-US" sz="4400" dirty="0" err="1"/>
                  <a:t>Polynome</a:t>
                </a:r>
                <a:r>
                  <a:rPr lang="en-US" sz="4400" dirty="0"/>
                  <a:t> von Grad </a:t>
                </a:r>
                <a14:m>
                  <m:oMath xmlns:m="http://schemas.openxmlformats.org/officeDocument/2006/math">
                    <m:r>
                      <a:rPr lang="en-US" sz="440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440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4400" dirty="0"/>
                  <a:t> exakt</a:t>
                </a:r>
              </a:p>
              <a:p>
                <a:pPr marL="0" indent="0" algn="ctr">
                  <a:buNone/>
                </a:pPr>
                <a:r>
                  <a:rPr lang="en-US" sz="4400" dirty="0"/>
                  <a:t>(</a:t>
                </a:r>
                <a14:m>
                  <m:oMath xmlns:m="http://schemas.openxmlformats.org/officeDocument/2006/math">
                    <m:r>
                      <a:rPr lang="en-US" sz="4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4400" i="0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4400" dirty="0"/>
                  <a:t> </a:t>
                </a:r>
                <a:r>
                  <a:rPr lang="en-US" sz="4400" dirty="0" err="1"/>
                  <a:t>koeffizienten</a:t>
                </a:r>
                <a:r>
                  <a:rPr lang="en-US" sz="4400" dirty="0"/>
                  <a:t>)</a:t>
                </a:r>
                <a:endParaRPr lang="en-CH" sz="4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922830-C5F8-9D43-98EC-4429C034D5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3781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9057AC-557F-09A0-4674-267CBF95B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16.10.2026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21DB9-CA6F-8DAC-0250-D2D857CFF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Department Informatik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69DFC6-AF13-86FA-5878-5AADA6B04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10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19407721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569F9-7853-30A0-207E-0D2200D24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Äquidistante Quadraturregeln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0BB429-DA71-C357-E757-20F4EFB63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EAFE7-317E-4912-B75C-DD6945F82242}" type="datetime1">
              <a:rPr lang="de-CH" noProof="0" smtClean="0"/>
              <a:t>16.10.2026</a:t>
            </a:fld>
            <a:endParaRPr lang="de-CH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041200-FA8C-7DA9-68AF-E9176DC45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Department Informatik</a:t>
            </a:r>
            <a:endParaRPr lang="de-CH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93CDC6-80D8-2EC4-4BA1-9D6544242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pPr/>
              <a:t>11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3598543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3C794-EE11-3804-09B3-33721749D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Mittelpunkt</a:t>
            </a:r>
            <a:r>
              <a:rPr lang="en-US" dirty="0"/>
              <a:t>-Regel</a:t>
            </a:r>
            <a:endParaRPr lang="en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9595AD-161C-12AA-0517-C79B6233DC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 err="1"/>
                  <a:t>Mittelpunkt</a:t>
                </a:r>
                <a:r>
                  <a:rPr lang="en-US" dirty="0"/>
                  <a:t> </a:t>
                </a:r>
                <a:r>
                  <a:rPr lang="en-US" dirty="0" err="1"/>
                  <a:t>messen</a:t>
                </a:r>
                <a:r>
                  <a:rPr lang="en-US" dirty="0"/>
                  <a:t> und </a:t>
                </a:r>
                <a:r>
                  <a:rPr lang="en-US" dirty="0" err="1"/>
                  <a:t>als</a:t>
                </a:r>
                <a:r>
                  <a:rPr lang="en-US" dirty="0"/>
                  <a:t> </a:t>
                </a:r>
                <a:r>
                  <a:rPr lang="en-US" dirty="0" err="1"/>
                  <a:t>Annäherung</a:t>
                </a:r>
                <a:r>
                  <a:rPr lang="en-US" dirty="0"/>
                  <a:t> für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verwenden</a:t>
                </a:r>
                <a:r>
                  <a:rPr lang="en-US" dirty="0"/>
                  <a:t>!</a:t>
                </a: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CH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H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CH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</m:sSup>
                      <m:d>
                        <m:dPr>
                          <m:ctrlPr>
                            <a:rPr lang="en-CH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H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CH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CH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CH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H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CH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CH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H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CH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CH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CH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CH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CH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CH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CH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CH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num>
                            <m:den>
                              <m:r>
                                <a:rPr lang="en-CH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Ordnung 2: </a:t>
                </a:r>
                <a:r>
                  <a:rPr lang="en-US" dirty="0" err="1"/>
                  <a:t>Exakt</a:t>
                </a:r>
                <a:r>
                  <a:rPr lang="en-US" dirty="0"/>
                  <a:t> für </a:t>
                </a:r>
                <a:r>
                  <a:rPr lang="en-US" dirty="0" err="1"/>
                  <a:t>lineare</a:t>
                </a:r>
                <a:r>
                  <a:rPr lang="en-US" dirty="0"/>
                  <a:t> </a:t>
                </a:r>
                <a:r>
                  <a:rPr lang="en-US" dirty="0" err="1"/>
                  <a:t>Funktionen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 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CH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9595AD-161C-12AA-0517-C79B6233DC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7" t="-1695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0D6E3-C6AD-21CE-2977-D01D9BC9D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16.10.2026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038AB2-88AC-81FF-E6DC-7A1411A73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Department Informatik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3CE66-ABDC-67AE-25DD-9EC254807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12</a:t>
            </a:fld>
            <a:endParaRPr lang="de-CH" noProof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24B21D91-11C7-0661-4A22-640D6F13669D}"/>
              </a:ext>
            </a:extLst>
          </p:cNvPr>
          <p:cNvGrpSpPr/>
          <p:nvPr/>
        </p:nvGrpSpPr>
        <p:grpSpPr>
          <a:xfrm>
            <a:off x="8712869" y="3691620"/>
            <a:ext cx="2270625" cy="2401255"/>
            <a:chOff x="8343901" y="3176427"/>
            <a:chExt cx="2862942" cy="3027648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BD91A378-7F39-E4C8-49F2-3E2B385095B2}"/>
                </a:ext>
              </a:extLst>
            </p:cNvPr>
            <p:cNvSpPr/>
            <p:nvPr/>
          </p:nvSpPr>
          <p:spPr>
            <a:xfrm>
              <a:off x="8865725" y="3734723"/>
              <a:ext cx="1555714" cy="21000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F146FBE0-4376-C3D8-0452-3D0EAB6425AA}"/>
                </a:ext>
              </a:extLst>
            </p:cNvPr>
            <p:cNvGrpSpPr/>
            <p:nvPr/>
          </p:nvGrpSpPr>
          <p:grpSpPr>
            <a:xfrm>
              <a:off x="8343901" y="3331029"/>
              <a:ext cx="2862942" cy="2873046"/>
              <a:chOff x="8343901" y="3331029"/>
              <a:chExt cx="2862942" cy="2873046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5474FC62-6CD5-AED1-6A5E-D1ABA72AF79F}"/>
                  </a:ext>
                </a:extLst>
              </p:cNvPr>
              <p:cNvGrpSpPr/>
              <p:nvPr/>
            </p:nvGrpSpPr>
            <p:grpSpPr>
              <a:xfrm>
                <a:off x="8343901" y="3331029"/>
                <a:ext cx="2862942" cy="2503714"/>
                <a:chOff x="8343901" y="3331029"/>
                <a:chExt cx="2862942" cy="2503714"/>
              </a:xfrm>
            </p:grpSpPr>
            <p:cxnSp>
              <p:nvCxnSpPr>
                <p:cNvPr id="8" name="Straight Arrow Connector 7">
                  <a:extLst>
                    <a:ext uri="{FF2B5EF4-FFF2-40B4-BE49-F238E27FC236}">
                      <a16:creationId xmlns:a16="http://schemas.microsoft.com/office/drawing/2014/main" id="{6BBAA240-9F3A-B8BB-B683-A4ACA4DE5109}"/>
                    </a:ext>
                  </a:extLst>
                </p:cNvPr>
                <p:cNvCxnSpPr/>
                <p:nvPr/>
              </p:nvCxnSpPr>
              <p:spPr>
                <a:xfrm flipV="1">
                  <a:off x="8343901" y="3331029"/>
                  <a:ext cx="0" cy="2503714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Arrow Connector 8">
                  <a:extLst>
                    <a:ext uri="{FF2B5EF4-FFF2-40B4-BE49-F238E27FC236}">
                      <a16:creationId xmlns:a16="http://schemas.microsoft.com/office/drawing/2014/main" id="{2188B232-8D6E-DEDB-1688-1BA82DAAC0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343901" y="5834743"/>
                  <a:ext cx="2862942" cy="0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703BBFD7-2AAC-EECF-648C-84DD2FEDF79F}"/>
                  </a:ext>
                </a:extLst>
              </p:cNvPr>
              <p:cNvSpPr/>
              <p:nvPr/>
            </p:nvSpPr>
            <p:spPr>
              <a:xfrm>
                <a:off x="8814201" y="5782529"/>
                <a:ext cx="106604" cy="106604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320F75AC-3C96-83F0-AB27-8E34D29531B0}"/>
                  </a:ext>
                </a:extLst>
              </p:cNvPr>
              <p:cNvSpPr/>
              <p:nvPr/>
            </p:nvSpPr>
            <p:spPr>
              <a:xfrm>
                <a:off x="10369185" y="5783577"/>
                <a:ext cx="104508" cy="104508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324D0B2F-66F3-BA76-6191-4CCCA833C4AB}"/>
                      </a:ext>
                    </a:extLst>
                  </p:cNvPr>
                  <p:cNvSpPr txBox="1"/>
                  <p:nvPr/>
                </p:nvSpPr>
                <p:spPr>
                  <a:xfrm>
                    <a:off x="8717823" y="5834743"/>
                    <a:ext cx="299357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CH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lang="en-CH" dirty="0">
                      <a:solidFill>
                        <a:schemeClr val="accent5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324D0B2F-66F3-BA76-6191-4CCCA833C4A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17823" y="5834743"/>
                    <a:ext cx="299357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r="-17949" b="-12500"/>
                    </a:stretch>
                  </a:blipFill>
                </p:spPr>
                <p:txBody>
                  <a:bodyPr/>
                  <a:lstStyle/>
                  <a:p>
                    <a:r>
                      <a:rPr lang="en-CH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04F4F213-3D54-0721-8F68-91D8AC9599B0}"/>
                      </a:ext>
                    </a:extLst>
                  </p:cNvPr>
                  <p:cNvSpPr txBox="1"/>
                  <p:nvPr/>
                </p:nvSpPr>
                <p:spPr>
                  <a:xfrm>
                    <a:off x="10271759" y="5834743"/>
                    <a:ext cx="299357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CH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lang="en-CH" dirty="0">
                      <a:solidFill>
                        <a:schemeClr val="accent5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04F4F213-3D54-0721-8F68-91D8AC9599B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271759" y="5834743"/>
                    <a:ext cx="299357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25641" b="-20833"/>
                    </a:stretch>
                  </a:blipFill>
                </p:spPr>
                <p:txBody>
                  <a:bodyPr/>
                  <a:lstStyle/>
                  <a:p>
                    <a:r>
                      <a:rPr lang="en-CH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70B8FEC3-916F-875C-DE32-792D7578B05C}"/>
                  </a:ext>
                </a:extLst>
              </p:cNvPr>
              <p:cNvSpPr/>
              <p:nvPr/>
            </p:nvSpPr>
            <p:spPr>
              <a:xfrm>
                <a:off x="8814201" y="4422980"/>
                <a:ext cx="106604" cy="10660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0B751281-7623-D924-B5C1-507036DA6178}"/>
                  </a:ext>
                </a:extLst>
              </p:cNvPr>
              <p:cNvSpPr/>
              <p:nvPr/>
            </p:nvSpPr>
            <p:spPr>
              <a:xfrm>
                <a:off x="10369185" y="3795937"/>
                <a:ext cx="106604" cy="10660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EBBD4AD0-A4F3-3776-00AF-D9E43F34C6A9}"/>
                  </a:ext>
                </a:extLst>
              </p:cNvPr>
              <p:cNvCxnSpPr>
                <a:endCxn id="13" idx="0"/>
              </p:cNvCxnSpPr>
              <p:nvPr/>
            </p:nvCxnSpPr>
            <p:spPr>
              <a:xfrm>
                <a:off x="8865725" y="4529584"/>
                <a:ext cx="1778" cy="1252945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6E463673-46E8-2F7C-E7D4-0984433C0332}"/>
                  </a:ext>
                </a:extLst>
              </p:cNvPr>
              <p:cNvCxnSpPr>
                <a:stCxn id="22" idx="4"/>
                <a:endCxn id="15" idx="0"/>
              </p:cNvCxnSpPr>
              <p:nvPr/>
            </p:nvCxnSpPr>
            <p:spPr>
              <a:xfrm flipH="1">
                <a:off x="10421439" y="3902541"/>
                <a:ext cx="1048" cy="1881036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A8A05714-B3CD-2958-24CF-56065FAFB56F}"/>
                </a:ext>
              </a:extLst>
            </p:cNvPr>
            <p:cNvSpPr/>
            <p:nvPr/>
          </p:nvSpPr>
          <p:spPr>
            <a:xfrm>
              <a:off x="8863070" y="3176427"/>
              <a:ext cx="1558369" cy="1268881"/>
            </a:xfrm>
            <a:custGeom>
              <a:avLst/>
              <a:gdLst>
                <a:gd name="csX0" fmla="*/ 0 w 1602089"/>
                <a:gd name="csY0" fmla="*/ 1268881 h 1268881"/>
                <a:gd name="csX1" fmla="*/ 198303 w 1602089"/>
                <a:gd name="csY1" fmla="*/ 993459 h 1268881"/>
                <a:gd name="csX2" fmla="*/ 570123 w 1602089"/>
                <a:gd name="csY2" fmla="*/ 1128416 h 1268881"/>
                <a:gd name="csX3" fmla="*/ 1041094 w 1602089"/>
                <a:gd name="csY3" fmla="*/ 7450 h 1268881"/>
                <a:gd name="csX4" fmla="*/ 1561641 w 1602089"/>
                <a:gd name="csY4" fmla="*/ 640920 h 1268881"/>
                <a:gd name="csX5" fmla="*/ 1567149 w 1602089"/>
                <a:gd name="csY5" fmla="*/ 649182 h 12688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602089" h="1268881">
                  <a:moveTo>
                    <a:pt x="0" y="1268881"/>
                  </a:moveTo>
                  <a:cubicBezTo>
                    <a:pt x="51641" y="1142875"/>
                    <a:pt x="103283" y="1016870"/>
                    <a:pt x="198303" y="993459"/>
                  </a:cubicBezTo>
                  <a:cubicBezTo>
                    <a:pt x="293323" y="970048"/>
                    <a:pt x="429658" y="1292751"/>
                    <a:pt x="570123" y="1128416"/>
                  </a:cubicBezTo>
                  <a:cubicBezTo>
                    <a:pt x="710588" y="964081"/>
                    <a:pt x="875841" y="88699"/>
                    <a:pt x="1041094" y="7450"/>
                  </a:cubicBezTo>
                  <a:cubicBezTo>
                    <a:pt x="1206347" y="-73799"/>
                    <a:pt x="1473965" y="533965"/>
                    <a:pt x="1561641" y="640920"/>
                  </a:cubicBezTo>
                  <a:cubicBezTo>
                    <a:pt x="1649317" y="747875"/>
                    <a:pt x="1567149" y="649182"/>
                    <a:pt x="1567149" y="649182"/>
                  </a:cubicBezTo>
                </a:path>
              </a:pathLst>
            </a:custGeom>
            <a:noFill/>
            <a:ln>
              <a:solidFill>
                <a:srgbClr val="62731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2266BF49-E5B9-C9C6-93AC-A87DDF2D90B0}"/>
                </a:ext>
              </a:extLst>
            </p:cNvPr>
            <p:cNvSpPr/>
            <p:nvPr/>
          </p:nvSpPr>
          <p:spPr>
            <a:xfrm>
              <a:off x="9590000" y="3675353"/>
              <a:ext cx="104508" cy="10450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dirty="0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B5C9A866-14D6-9FA0-9BB2-5CD35DCC3A51}"/>
              </a:ext>
            </a:extLst>
          </p:cNvPr>
          <p:cNvGrpSpPr/>
          <p:nvPr/>
        </p:nvGrpSpPr>
        <p:grpSpPr>
          <a:xfrm>
            <a:off x="8712869" y="862007"/>
            <a:ext cx="2270618" cy="2278632"/>
            <a:chOff x="8343901" y="378792"/>
            <a:chExt cx="2862942" cy="2873046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38D3F66-66FD-29BF-FC4B-3D394934ADD3}"/>
                </a:ext>
              </a:extLst>
            </p:cNvPr>
            <p:cNvSpPr/>
            <p:nvPr/>
          </p:nvSpPr>
          <p:spPr>
            <a:xfrm>
              <a:off x="8865725" y="1211516"/>
              <a:ext cx="1555714" cy="167098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64E1266D-5C3C-F010-685A-68968F5CDA22}"/>
                </a:ext>
              </a:extLst>
            </p:cNvPr>
            <p:cNvGrpSpPr/>
            <p:nvPr/>
          </p:nvGrpSpPr>
          <p:grpSpPr>
            <a:xfrm>
              <a:off x="8343901" y="378792"/>
              <a:ext cx="2862942" cy="2873046"/>
              <a:chOff x="8343901" y="3331029"/>
              <a:chExt cx="2862942" cy="2873046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B3DC2D1F-999E-DDDC-1BF0-5559AE80005C}"/>
                  </a:ext>
                </a:extLst>
              </p:cNvPr>
              <p:cNvGrpSpPr/>
              <p:nvPr/>
            </p:nvGrpSpPr>
            <p:grpSpPr>
              <a:xfrm>
                <a:off x="8343901" y="3331029"/>
                <a:ext cx="2862942" cy="2503714"/>
                <a:chOff x="8343901" y="3331029"/>
                <a:chExt cx="2862942" cy="2503714"/>
              </a:xfrm>
            </p:grpSpPr>
            <p:cxnSp>
              <p:nvCxnSpPr>
                <p:cNvPr id="51" name="Straight Arrow Connector 50">
                  <a:extLst>
                    <a:ext uri="{FF2B5EF4-FFF2-40B4-BE49-F238E27FC236}">
                      <a16:creationId xmlns:a16="http://schemas.microsoft.com/office/drawing/2014/main" id="{F2AFF5A7-C00F-B37A-776C-F3E4784FD5E9}"/>
                    </a:ext>
                  </a:extLst>
                </p:cNvPr>
                <p:cNvCxnSpPr/>
                <p:nvPr/>
              </p:nvCxnSpPr>
              <p:spPr>
                <a:xfrm flipV="1">
                  <a:off x="8343901" y="3331029"/>
                  <a:ext cx="0" cy="2503714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Arrow Connector 51">
                  <a:extLst>
                    <a:ext uri="{FF2B5EF4-FFF2-40B4-BE49-F238E27FC236}">
                      <a16:creationId xmlns:a16="http://schemas.microsoft.com/office/drawing/2014/main" id="{1F6C0EDE-F9DC-9434-B6E8-DCE8ECE3E4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343901" y="5834743"/>
                  <a:ext cx="2862942" cy="0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4CBD7AFE-6146-9408-B389-B8201EB3A108}"/>
                  </a:ext>
                </a:extLst>
              </p:cNvPr>
              <p:cNvSpPr/>
              <p:nvPr/>
            </p:nvSpPr>
            <p:spPr>
              <a:xfrm>
                <a:off x="8814201" y="5782529"/>
                <a:ext cx="106604" cy="106604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DB391347-DC74-87DC-30A2-EB8FB27F5F97}"/>
                  </a:ext>
                </a:extLst>
              </p:cNvPr>
              <p:cNvSpPr/>
              <p:nvPr/>
            </p:nvSpPr>
            <p:spPr>
              <a:xfrm>
                <a:off x="10369185" y="5783577"/>
                <a:ext cx="104508" cy="104508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F11F538B-2114-8262-2F4D-32EBE58512EE}"/>
                      </a:ext>
                    </a:extLst>
                  </p:cNvPr>
                  <p:cNvSpPr txBox="1"/>
                  <p:nvPr/>
                </p:nvSpPr>
                <p:spPr>
                  <a:xfrm>
                    <a:off x="8717823" y="5834743"/>
                    <a:ext cx="299357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CH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lang="en-CH" dirty="0">
                      <a:solidFill>
                        <a:schemeClr val="accent5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F11F538B-2114-8262-2F4D-32EBE58512E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17823" y="5834743"/>
                    <a:ext cx="299357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r="-17949" b="-12500"/>
                    </a:stretch>
                  </a:blipFill>
                </p:spPr>
                <p:txBody>
                  <a:bodyPr/>
                  <a:lstStyle/>
                  <a:p>
                    <a:r>
                      <a:rPr lang="en-CH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TextBox 45">
                    <a:extLst>
                      <a:ext uri="{FF2B5EF4-FFF2-40B4-BE49-F238E27FC236}">
                        <a16:creationId xmlns:a16="http://schemas.microsoft.com/office/drawing/2014/main" id="{459FF75E-1163-96A4-8DE3-0C914FE21E2A}"/>
                      </a:ext>
                    </a:extLst>
                  </p:cNvPr>
                  <p:cNvSpPr txBox="1"/>
                  <p:nvPr/>
                </p:nvSpPr>
                <p:spPr>
                  <a:xfrm>
                    <a:off x="10271759" y="5834743"/>
                    <a:ext cx="299357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CH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lang="en-CH" dirty="0">
                      <a:solidFill>
                        <a:schemeClr val="accent5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6" name="TextBox 45">
                    <a:extLst>
                      <a:ext uri="{FF2B5EF4-FFF2-40B4-BE49-F238E27FC236}">
                        <a16:creationId xmlns:a16="http://schemas.microsoft.com/office/drawing/2014/main" id="{459FF75E-1163-96A4-8DE3-0C914FE21E2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271759" y="5834743"/>
                    <a:ext cx="299357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r="-25641" b="-20833"/>
                    </a:stretch>
                  </a:blipFill>
                </p:spPr>
                <p:txBody>
                  <a:bodyPr/>
                  <a:lstStyle/>
                  <a:p>
                    <a:r>
                      <a:rPr lang="en-CH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BB45B255-A19F-3EA5-76D6-99F35DE58238}"/>
                  </a:ext>
                </a:extLst>
              </p:cNvPr>
              <p:cNvSpPr/>
              <p:nvPr/>
            </p:nvSpPr>
            <p:spPr>
              <a:xfrm>
                <a:off x="8814201" y="4422980"/>
                <a:ext cx="106604" cy="10660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A9B42D1B-AD01-C59A-5ED4-732B6A369089}"/>
                  </a:ext>
                </a:extLst>
              </p:cNvPr>
              <p:cNvSpPr/>
              <p:nvPr/>
            </p:nvSpPr>
            <p:spPr>
              <a:xfrm>
                <a:off x="10369185" y="3795937"/>
                <a:ext cx="106604" cy="10660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784A40AB-91F9-A97D-63C0-B2CF475D8A13}"/>
                  </a:ext>
                </a:extLst>
              </p:cNvPr>
              <p:cNvCxnSpPr>
                <a:endCxn id="43" idx="0"/>
              </p:cNvCxnSpPr>
              <p:nvPr/>
            </p:nvCxnSpPr>
            <p:spPr>
              <a:xfrm>
                <a:off x="8865725" y="4529584"/>
                <a:ext cx="1778" cy="1252945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EEF6C0E8-193C-08CF-FC31-D807486C8C67}"/>
                  </a:ext>
                </a:extLst>
              </p:cNvPr>
              <p:cNvCxnSpPr>
                <a:stCxn id="48" idx="4"/>
                <a:endCxn id="44" idx="0"/>
              </p:cNvCxnSpPr>
              <p:nvPr/>
            </p:nvCxnSpPr>
            <p:spPr>
              <a:xfrm flipH="1">
                <a:off x="10421439" y="3902541"/>
                <a:ext cx="1048" cy="1881036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C4F4915E-225D-3E13-B1D8-A997B93E78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66602" y="897002"/>
              <a:ext cx="1554984" cy="627784"/>
            </a:xfrm>
            <a:prstGeom prst="line">
              <a:avLst/>
            </a:prstGeom>
            <a:ln w="12700">
              <a:solidFill>
                <a:srgbClr val="62731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1D90BEA1-FE29-9489-9D4A-300F7CB3004D}"/>
                </a:ext>
              </a:extLst>
            </p:cNvPr>
            <p:cNvSpPr/>
            <p:nvPr/>
          </p:nvSpPr>
          <p:spPr>
            <a:xfrm>
              <a:off x="9590000" y="1158640"/>
              <a:ext cx="104508" cy="10450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dirty="0"/>
            </a:p>
          </p:txBody>
        </p:sp>
      </p:grpSp>
    </p:spTree>
    <p:extLst>
      <p:ext uri="{BB962C8B-B14F-4D97-AF65-F5344CB8AC3E}">
        <p14:creationId xmlns:p14="http://schemas.microsoft.com/office/powerpoint/2010/main" val="23041412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210B408D-2A5F-1496-5C58-329B33549CF7}"/>
              </a:ext>
            </a:extLst>
          </p:cNvPr>
          <p:cNvSpPr/>
          <p:nvPr/>
        </p:nvSpPr>
        <p:spPr>
          <a:xfrm>
            <a:off x="9124626" y="1770903"/>
            <a:ext cx="1234287" cy="107681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5E9B54-04B6-BF7C-FF9E-4918584A2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Trapez</a:t>
            </a:r>
            <a:r>
              <a:rPr lang="en-US" dirty="0"/>
              <a:t>-Regel</a:t>
            </a:r>
            <a:endParaRPr lang="en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DD6526-AE1E-3306-98AF-04624BEC3F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 err="1"/>
                  <a:t>Randpunkte</a:t>
                </a:r>
                <a:r>
                  <a:rPr lang="en-US" dirty="0"/>
                  <a:t> </a:t>
                </a:r>
                <a:r>
                  <a:rPr lang="en-US" dirty="0" err="1"/>
                  <a:t>nehmen</a:t>
                </a:r>
                <a:r>
                  <a:rPr lang="en-US" dirty="0"/>
                  <a:t> und auf die </a:t>
                </a:r>
                <a:r>
                  <a:rPr lang="en-US" dirty="0" err="1"/>
                  <a:t>halbe</a:t>
                </a:r>
                <a:r>
                  <a:rPr lang="en-US" dirty="0"/>
                  <a:t> Breite des Integrals </a:t>
                </a:r>
                <a:r>
                  <a:rPr lang="en-US" dirty="0" err="1"/>
                  <a:t>gewichten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Ebenfalls</a:t>
                </a:r>
                <a:r>
                  <a:rPr lang="en-US" dirty="0"/>
                  <a:t> </a:t>
                </a:r>
                <a:r>
                  <a:rPr lang="en-US" b="1" dirty="0"/>
                  <a:t>Ordnung 2</a:t>
                </a:r>
                <a:r>
                  <a:rPr lang="en-US" dirty="0"/>
                  <a:t>, </a:t>
                </a:r>
                <a:r>
                  <a:rPr lang="en-US" dirty="0" err="1"/>
                  <a:t>aber</a:t>
                </a:r>
                <a:r>
                  <a:rPr lang="en-US" dirty="0"/>
                  <a:t> oft </a:t>
                </a:r>
                <a:r>
                  <a:rPr lang="en-US" dirty="0" err="1"/>
                  <a:t>geringerer</a:t>
                </a:r>
                <a:r>
                  <a:rPr lang="en-US" dirty="0"/>
                  <a:t> Fehler: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CH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CH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H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CH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CH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H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CH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CH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CH" b="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  <m:sSup>
                            <m:sSupPr>
                              <m:ctrlPr>
                                <a:rPr lang="en-CH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CH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H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CH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CH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e>
                            <m:sup>
                              <m:r>
                                <a:rPr lang="en-CH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CH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H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CH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H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sup>
                          </m:sSup>
                          <m:d>
                            <m:dPr>
                              <m:ctrlPr>
                                <a:rPr lang="en-CH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H" b="0" i="1" smtClean="0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i="1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 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US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CH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DD6526-AE1E-3306-98AF-04624BEC3F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7" t="-1695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88DE4-EF07-488A-AE19-5D6578935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16.10.2026</a:t>
            </a:fld>
            <a:endParaRPr lang="de-CH" noProof="0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A5B71EB8-CB7A-BD49-1ADE-F4DDEE1BAA7D}"/>
              </a:ext>
            </a:extLst>
          </p:cNvPr>
          <p:cNvGrpSpPr/>
          <p:nvPr/>
        </p:nvGrpSpPr>
        <p:grpSpPr>
          <a:xfrm>
            <a:off x="9125953" y="4233325"/>
            <a:ext cx="1236215" cy="1575575"/>
            <a:chOff x="10358476" y="3848736"/>
            <a:chExt cx="1236215" cy="1575575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CA4CFA81-99A1-DE91-B3ED-653EC8386504}"/>
                </a:ext>
              </a:extLst>
            </p:cNvPr>
            <p:cNvSpPr/>
            <p:nvPr/>
          </p:nvSpPr>
          <p:spPr>
            <a:xfrm>
              <a:off x="10360142" y="4347499"/>
              <a:ext cx="1234287" cy="107681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63" name="Right Triangle 62">
              <a:extLst>
                <a:ext uri="{FF2B5EF4-FFF2-40B4-BE49-F238E27FC236}">
                  <a16:creationId xmlns:a16="http://schemas.microsoft.com/office/drawing/2014/main" id="{1FF28F45-7B17-8837-BD36-1FC48DE692BB}"/>
                </a:ext>
              </a:extLst>
            </p:cNvPr>
            <p:cNvSpPr/>
            <p:nvPr/>
          </p:nvSpPr>
          <p:spPr>
            <a:xfrm flipH="1">
              <a:off x="10358476" y="3848736"/>
              <a:ext cx="1236215" cy="498761"/>
            </a:xfrm>
            <a:prstGeom prst="rtTriangl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041367-1904-7E7E-EDED-74EBAC772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Department Informatik</a:t>
            </a:r>
            <a:endParaRPr lang="de-CH" noProof="0" dirty="0"/>
          </a:p>
        </p:txBody>
      </p:sp>
      <p:sp>
        <p:nvSpPr>
          <p:cNvPr id="59" name="Right Triangle 58">
            <a:extLst>
              <a:ext uri="{FF2B5EF4-FFF2-40B4-BE49-F238E27FC236}">
                <a16:creationId xmlns:a16="http://schemas.microsoft.com/office/drawing/2014/main" id="{336C0A66-74C3-05DC-ADE0-43144EE6CD95}"/>
              </a:ext>
            </a:extLst>
          </p:cNvPr>
          <p:cNvSpPr/>
          <p:nvPr/>
        </p:nvSpPr>
        <p:spPr>
          <a:xfrm flipH="1">
            <a:off x="9122960" y="1272140"/>
            <a:ext cx="1236215" cy="498761"/>
          </a:xfrm>
          <a:prstGeom prst="rt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7BBCB-2ECD-C96F-C51B-DA0DC321B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13</a:t>
            </a:fld>
            <a:endParaRPr lang="de-CH" noProof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9A2B640-89EE-9DDF-560C-D5FBBCF0D8A6}"/>
              </a:ext>
            </a:extLst>
          </p:cNvPr>
          <p:cNvGrpSpPr/>
          <p:nvPr/>
        </p:nvGrpSpPr>
        <p:grpSpPr>
          <a:xfrm>
            <a:off x="8712869" y="3691620"/>
            <a:ext cx="2270625" cy="2401255"/>
            <a:chOff x="8343901" y="3176427"/>
            <a:chExt cx="2862942" cy="3027648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85E8991-2208-B61A-595D-36F8A896E0A1}"/>
                </a:ext>
              </a:extLst>
            </p:cNvPr>
            <p:cNvGrpSpPr/>
            <p:nvPr/>
          </p:nvGrpSpPr>
          <p:grpSpPr>
            <a:xfrm>
              <a:off x="8343901" y="3331029"/>
              <a:ext cx="2862942" cy="2873046"/>
              <a:chOff x="8343901" y="3331029"/>
              <a:chExt cx="2862942" cy="2873046"/>
            </a:xfrm>
          </p:grpSpPr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2C900470-39DC-EBB2-D8F1-74DA7608DFB8}"/>
                  </a:ext>
                </a:extLst>
              </p:cNvPr>
              <p:cNvGrpSpPr/>
              <p:nvPr/>
            </p:nvGrpSpPr>
            <p:grpSpPr>
              <a:xfrm>
                <a:off x="8343901" y="3331029"/>
                <a:ext cx="2862942" cy="2503714"/>
                <a:chOff x="8343901" y="3331029"/>
                <a:chExt cx="2862942" cy="2503714"/>
              </a:xfrm>
            </p:grpSpPr>
            <p:cxnSp>
              <p:nvCxnSpPr>
                <p:cNvPr id="38" name="Straight Arrow Connector 37">
                  <a:extLst>
                    <a:ext uri="{FF2B5EF4-FFF2-40B4-BE49-F238E27FC236}">
                      <a16:creationId xmlns:a16="http://schemas.microsoft.com/office/drawing/2014/main" id="{97DE41E5-CD1E-8024-5538-347B70039351}"/>
                    </a:ext>
                  </a:extLst>
                </p:cNvPr>
                <p:cNvCxnSpPr/>
                <p:nvPr/>
              </p:nvCxnSpPr>
              <p:spPr>
                <a:xfrm flipV="1">
                  <a:off x="8343901" y="3331029"/>
                  <a:ext cx="0" cy="2503714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Arrow Connector 38">
                  <a:extLst>
                    <a:ext uri="{FF2B5EF4-FFF2-40B4-BE49-F238E27FC236}">
                      <a16:creationId xmlns:a16="http://schemas.microsoft.com/office/drawing/2014/main" id="{990F6F74-D7B4-C34F-FB2C-EEFFC59528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343901" y="5834743"/>
                  <a:ext cx="2862942" cy="0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AEC57192-BE67-001B-AF75-CCFF7C08302D}"/>
                  </a:ext>
                </a:extLst>
              </p:cNvPr>
              <p:cNvSpPr/>
              <p:nvPr/>
            </p:nvSpPr>
            <p:spPr>
              <a:xfrm>
                <a:off x="8814201" y="5782529"/>
                <a:ext cx="106604" cy="106604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EF999CDF-43AC-E6BE-280B-50DC09002F4E}"/>
                  </a:ext>
                </a:extLst>
              </p:cNvPr>
              <p:cNvSpPr/>
              <p:nvPr/>
            </p:nvSpPr>
            <p:spPr>
              <a:xfrm>
                <a:off x="10369185" y="5783577"/>
                <a:ext cx="104508" cy="104508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7BB2AF27-B36D-A52A-A1D6-6631E8113580}"/>
                      </a:ext>
                    </a:extLst>
                  </p:cNvPr>
                  <p:cNvSpPr txBox="1"/>
                  <p:nvPr/>
                </p:nvSpPr>
                <p:spPr>
                  <a:xfrm>
                    <a:off x="8717823" y="5834743"/>
                    <a:ext cx="299357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CH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lang="en-CH" dirty="0">
                      <a:solidFill>
                        <a:schemeClr val="accent5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7BB2AF27-B36D-A52A-A1D6-6631E811358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17823" y="5834743"/>
                    <a:ext cx="299357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r="-17949" b="-12500"/>
                    </a:stretch>
                  </a:blipFill>
                </p:spPr>
                <p:txBody>
                  <a:bodyPr/>
                  <a:lstStyle/>
                  <a:p>
                    <a:r>
                      <a:rPr lang="en-CH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042F16B2-F9B5-7018-769F-FCD7030B2ED4}"/>
                      </a:ext>
                    </a:extLst>
                  </p:cNvPr>
                  <p:cNvSpPr txBox="1"/>
                  <p:nvPr/>
                </p:nvSpPr>
                <p:spPr>
                  <a:xfrm>
                    <a:off x="10271759" y="5834743"/>
                    <a:ext cx="299357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CH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lang="en-CH" dirty="0">
                      <a:solidFill>
                        <a:schemeClr val="accent5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042F16B2-F9B5-7018-769F-FCD7030B2ED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271759" y="5834743"/>
                    <a:ext cx="299357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25641" b="-20833"/>
                    </a:stretch>
                  </a:blipFill>
                </p:spPr>
                <p:txBody>
                  <a:bodyPr/>
                  <a:lstStyle/>
                  <a:p>
                    <a:r>
                      <a:rPr lang="en-CH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E1C5C545-1FD8-1E62-3757-5674A5623D14}"/>
                  </a:ext>
                </a:extLst>
              </p:cNvPr>
              <p:cNvSpPr/>
              <p:nvPr/>
            </p:nvSpPr>
            <p:spPr>
              <a:xfrm>
                <a:off x="8814201" y="4422980"/>
                <a:ext cx="106604" cy="10660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53AEB68D-5948-F322-9C3C-477D993C6FB9}"/>
                  </a:ext>
                </a:extLst>
              </p:cNvPr>
              <p:cNvSpPr/>
              <p:nvPr/>
            </p:nvSpPr>
            <p:spPr>
              <a:xfrm>
                <a:off x="10369185" y="3795937"/>
                <a:ext cx="106604" cy="10660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89AE1058-B342-066D-9F3B-6D09EFA8DC47}"/>
                  </a:ext>
                </a:extLst>
              </p:cNvPr>
              <p:cNvCxnSpPr>
                <a:endCxn id="30" idx="0"/>
              </p:cNvCxnSpPr>
              <p:nvPr/>
            </p:nvCxnSpPr>
            <p:spPr>
              <a:xfrm>
                <a:off x="8865725" y="4529584"/>
                <a:ext cx="1778" cy="1252945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9515EB6D-1939-B9DB-333E-7FEEA605DC23}"/>
                  </a:ext>
                </a:extLst>
              </p:cNvPr>
              <p:cNvCxnSpPr>
                <a:stCxn id="35" idx="4"/>
                <a:endCxn id="31" idx="0"/>
              </p:cNvCxnSpPr>
              <p:nvPr/>
            </p:nvCxnSpPr>
            <p:spPr>
              <a:xfrm flipH="1">
                <a:off x="10421439" y="3902541"/>
                <a:ext cx="1048" cy="1881036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A887322-5825-1D94-4133-51333AAF6E38}"/>
                </a:ext>
              </a:extLst>
            </p:cNvPr>
            <p:cNvSpPr/>
            <p:nvPr/>
          </p:nvSpPr>
          <p:spPr>
            <a:xfrm>
              <a:off x="8863070" y="3176427"/>
              <a:ext cx="1558369" cy="1268881"/>
            </a:xfrm>
            <a:custGeom>
              <a:avLst/>
              <a:gdLst>
                <a:gd name="csX0" fmla="*/ 0 w 1602089"/>
                <a:gd name="csY0" fmla="*/ 1268881 h 1268881"/>
                <a:gd name="csX1" fmla="*/ 198303 w 1602089"/>
                <a:gd name="csY1" fmla="*/ 993459 h 1268881"/>
                <a:gd name="csX2" fmla="*/ 570123 w 1602089"/>
                <a:gd name="csY2" fmla="*/ 1128416 h 1268881"/>
                <a:gd name="csX3" fmla="*/ 1041094 w 1602089"/>
                <a:gd name="csY3" fmla="*/ 7450 h 1268881"/>
                <a:gd name="csX4" fmla="*/ 1561641 w 1602089"/>
                <a:gd name="csY4" fmla="*/ 640920 h 1268881"/>
                <a:gd name="csX5" fmla="*/ 1567149 w 1602089"/>
                <a:gd name="csY5" fmla="*/ 649182 h 12688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602089" h="1268881">
                  <a:moveTo>
                    <a:pt x="0" y="1268881"/>
                  </a:moveTo>
                  <a:cubicBezTo>
                    <a:pt x="51641" y="1142875"/>
                    <a:pt x="103283" y="1016870"/>
                    <a:pt x="198303" y="993459"/>
                  </a:cubicBezTo>
                  <a:cubicBezTo>
                    <a:pt x="293323" y="970048"/>
                    <a:pt x="429658" y="1292751"/>
                    <a:pt x="570123" y="1128416"/>
                  </a:cubicBezTo>
                  <a:cubicBezTo>
                    <a:pt x="710588" y="964081"/>
                    <a:pt x="875841" y="88699"/>
                    <a:pt x="1041094" y="7450"/>
                  </a:cubicBezTo>
                  <a:cubicBezTo>
                    <a:pt x="1206347" y="-73799"/>
                    <a:pt x="1473965" y="533965"/>
                    <a:pt x="1561641" y="640920"/>
                  </a:cubicBezTo>
                  <a:cubicBezTo>
                    <a:pt x="1649317" y="747875"/>
                    <a:pt x="1567149" y="649182"/>
                    <a:pt x="1567149" y="649182"/>
                  </a:cubicBezTo>
                </a:path>
              </a:pathLst>
            </a:custGeom>
            <a:noFill/>
            <a:ln>
              <a:solidFill>
                <a:srgbClr val="62731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31D37B1-0DE0-E2EE-0038-DFB0D88EA769}"/>
              </a:ext>
            </a:extLst>
          </p:cNvPr>
          <p:cNvGrpSpPr/>
          <p:nvPr/>
        </p:nvGrpSpPr>
        <p:grpSpPr>
          <a:xfrm>
            <a:off x="8712869" y="862007"/>
            <a:ext cx="2270618" cy="2278632"/>
            <a:chOff x="8343901" y="378792"/>
            <a:chExt cx="2862942" cy="2873046"/>
          </a:xfrm>
        </p:grpSpPr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69F9A486-E57C-B79C-546B-2EA5F6F565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66602" y="897002"/>
              <a:ext cx="1554984" cy="627784"/>
            </a:xfrm>
            <a:prstGeom prst="line">
              <a:avLst/>
            </a:prstGeom>
            <a:ln w="12700">
              <a:solidFill>
                <a:srgbClr val="62731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0562BAD0-7081-81E6-28BC-6E3BEBE5D348}"/>
                </a:ext>
              </a:extLst>
            </p:cNvPr>
            <p:cNvGrpSpPr/>
            <p:nvPr/>
          </p:nvGrpSpPr>
          <p:grpSpPr>
            <a:xfrm>
              <a:off x="8343901" y="378792"/>
              <a:ext cx="2862942" cy="2873046"/>
              <a:chOff x="8343901" y="3331029"/>
              <a:chExt cx="2862942" cy="2873046"/>
            </a:xfrm>
          </p:grpSpPr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CAB2DBBB-E634-2C9E-57F2-492489BB91A9}"/>
                  </a:ext>
                </a:extLst>
              </p:cNvPr>
              <p:cNvGrpSpPr/>
              <p:nvPr/>
            </p:nvGrpSpPr>
            <p:grpSpPr>
              <a:xfrm>
                <a:off x="8343901" y="3331029"/>
                <a:ext cx="2862942" cy="2503714"/>
                <a:chOff x="8343901" y="3331029"/>
                <a:chExt cx="2862942" cy="2503714"/>
              </a:xfrm>
            </p:grpSpPr>
            <p:cxnSp>
              <p:nvCxnSpPr>
                <p:cNvPr id="54" name="Straight Arrow Connector 53">
                  <a:extLst>
                    <a:ext uri="{FF2B5EF4-FFF2-40B4-BE49-F238E27FC236}">
                      <a16:creationId xmlns:a16="http://schemas.microsoft.com/office/drawing/2014/main" id="{FC12D946-D15F-5CEF-2070-90EFC155C1F1}"/>
                    </a:ext>
                  </a:extLst>
                </p:cNvPr>
                <p:cNvCxnSpPr/>
                <p:nvPr/>
              </p:nvCxnSpPr>
              <p:spPr>
                <a:xfrm flipV="1">
                  <a:off x="8343901" y="3331029"/>
                  <a:ext cx="0" cy="2503714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Arrow Connector 54">
                  <a:extLst>
                    <a:ext uri="{FF2B5EF4-FFF2-40B4-BE49-F238E27FC236}">
                      <a16:creationId xmlns:a16="http://schemas.microsoft.com/office/drawing/2014/main" id="{5D961359-F327-D1CB-608B-DF8CF5C909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343901" y="5834743"/>
                  <a:ext cx="2862942" cy="0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8F49F273-3BE2-987C-3627-9F326B4B0F9D}"/>
                  </a:ext>
                </a:extLst>
              </p:cNvPr>
              <p:cNvSpPr/>
              <p:nvPr/>
            </p:nvSpPr>
            <p:spPr>
              <a:xfrm>
                <a:off x="8814201" y="5782529"/>
                <a:ext cx="106604" cy="106604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3A51CF94-450C-2097-FBD6-AAA532E725D4}"/>
                  </a:ext>
                </a:extLst>
              </p:cNvPr>
              <p:cNvSpPr/>
              <p:nvPr/>
            </p:nvSpPr>
            <p:spPr>
              <a:xfrm>
                <a:off x="10369185" y="5783577"/>
                <a:ext cx="104508" cy="104508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8502FE56-A3D7-D8B3-EE25-7B9BD31F0393}"/>
                      </a:ext>
                    </a:extLst>
                  </p:cNvPr>
                  <p:cNvSpPr txBox="1"/>
                  <p:nvPr/>
                </p:nvSpPr>
                <p:spPr>
                  <a:xfrm>
                    <a:off x="8717823" y="5834743"/>
                    <a:ext cx="299357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CH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lang="en-CH" dirty="0">
                      <a:solidFill>
                        <a:schemeClr val="accent5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8502FE56-A3D7-D8B3-EE25-7B9BD31F039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17823" y="5834743"/>
                    <a:ext cx="299357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r="-17949" b="-12500"/>
                    </a:stretch>
                  </a:blipFill>
                </p:spPr>
                <p:txBody>
                  <a:bodyPr/>
                  <a:lstStyle/>
                  <a:p>
                    <a:r>
                      <a:rPr lang="en-CH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40BE1FB6-D878-022F-F32A-D2BB28C97606}"/>
                      </a:ext>
                    </a:extLst>
                  </p:cNvPr>
                  <p:cNvSpPr txBox="1"/>
                  <p:nvPr/>
                </p:nvSpPr>
                <p:spPr>
                  <a:xfrm>
                    <a:off x="10271759" y="5834743"/>
                    <a:ext cx="299357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CH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lang="en-CH" dirty="0">
                      <a:solidFill>
                        <a:schemeClr val="accent5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40BE1FB6-D878-022F-F32A-D2BB28C9760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271759" y="5834743"/>
                    <a:ext cx="299357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r="-25641" b="-20833"/>
                    </a:stretch>
                  </a:blipFill>
                </p:spPr>
                <p:txBody>
                  <a:bodyPr/>
                  <a:lstStyle/>
                  <a:p>
                    <a:r>
                      <a:rPr lang="en-CH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5D874F15-80CC-029E-44E7-DFCA09C16A5B}"/>
                  </a:ext>
                </a:extLst>
              </p:cNvPr>
              <p:cNvSpPr/>
              <p:nvPr/>
            </p:nvSpPr>
            <p:spPr>
              <a:xfrm>
                <a:off x="8814201" y="4422980"/>
                <a:ext cx="106604" cy="10660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 dirty="0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6D46E839-8613-890C-14BD-75AA42A21777}"/>
                  </a:ext>
                </a:extLst>
              </p:cNvPr>
              <p:cNvSpPr/>
              <p:nvPr/>
            </p:nvSpPr>
            <p:spPr>
              <a:xfrm>
                <a:off x="10369185" y="3795937"/>
                <a:ext cx="106604" cy="10660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A241E174-89BB-D832-8B62-9053B9A2050E}"/>
                  </a:ext>
                </a:extLst>
              </p:cNvPr>
              <p:cNvCxnSpPr>
                <a:endCxn id="46" idx="0"/>
              </p:cNvCxnSpPr>
              <p:nvPr/>
            </p:nvCxnSpPr>
            <p:spPr>
              <a:xfrm>
                <a:off x="8865725" y="4529584"/>
                <a:ext cx="1778" cy="1252945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DEB30C06-F112-7BA3-14F0-37A0A9A60B30}"/>
                  </a:ext>
                </a:extLst>
              </p:cNvPr>
              <p:cNvCxnSpPr>
                <a:stCxn id="51" idx="4"/>
                <a:endCxn id="47" idx="0"/>
              </p:cNvCxnSpPr>
              <p:nvPr/>
            </p:nvCxnSpPr>
            <p:spPr>
              <a:xfrm flipH="1">
                <a:off x="10421439" y="3902541"/>
                <a:ext cx="1048" cy="1881036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8980813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5380C-F854-869D-701D-2A82708F8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44C03-9C14-DFBD-C0DB-19BD3DB5B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Simpson-Regel</a:t>
            </a:r>
            <a:endParaRPr lang="en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826E09-9749-FE88-2EC9-D142CD8DD3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Wir </a:t>
                </a:r>
                <a:r>
                  <a:rPr lang="en-US" dirty="0" err="1"/>
                  <a:t>legen</a:t>
                </a:r>
                <a:r>
                  <a:rPr lang="en-US" dirty="0"/>
                  <a:t> </a:t>
                </a:r>
                <a:r>
                  <a:rPr lang="en-US" dirty="0" err="1"/>
                  <a:t>eine</a:t>
                </a:r>
                <a:r>
                  <a:rPr lang="en-US" dirty="0"/>
                  <a:t> </a:t>
                </a:r>
                <a:r>
                  <a:rPr lang="en-US" dirty="0" err="1"/>
                  <a:t>Parabel</a:t>
                </a:r>
                <a:r>
                  <a:rPr lang="en-US" dirty="0"/>
                  <a:t> </a:t>
                </a:r>
                <a:r>
                  <a:rPr lang="en-US" dirty="0" err="1"/>
                  <a:t>über</a:t>
                </a:r>
                <a:r>
                  <a:rPr lang="en-US" dirty="0"/>
                  <a:t> die </a:t>
                </a:r>
                <a:r>
                  <a:rPr lang="en-US" dirty="0" err="1"/>
                  <a:t>drei</a:t>
                </a:r>
                <a:r>
                  <a:rPr lang="en-US" dirty="0"/>
                  <a:t> </a:t>
                </a:r>
                <a:r>
                  <a:rPr lang="en-US" dirty="0" err="1"/>
                  <a:t>Messstellen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Ordnung 4</a:t>
                </a:r>
                <a:r>
                  <a:rPr lang="en-US" dirty="0"/>
                  <a:t>: </a:t>
                </a:r>
                <a:r>
                  <a:rPr lang="en-US" dirty="0" err="1"/>
                  <a:t>Integriert</a:t>
                </a:r>
                <a:r>
                  <a:rPr lang="en-US" dirty="0"/>
                  <a:t> </a:t>
                </a:r>
                <a:r>
                  <a:rPr lang="en-US" dirty="0" err="1"/>
                  <a:t>Kubische</a:t>
                </a:r>
                <a:r>
                  <a:rPr lang="en-US" dirty="0"/>
                  <a:t> </a:t>
                </a:r>
                <a:r>
                  <a:rPr lang="en-US" dirty="0" err="1"/>
                  <a:t>Polynome</a:t>
                </a:r>
                <a:r>
                  <a:rPr lang="en-US" dirty="0"/>
                  <a:t> </a:t>
                </a:r>
                <a:r>
                  <a:rPr lang="en-US" dirty="0" err="1"/>
                  <a:t>exakt</a:t>
                </a:r>
                <a:r>
                  <a:rPr lang="en-US" dirty="0"/>
                  <a:t>!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90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</m:d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i="1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 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US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CH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826E09-9749-FE88-2EC9-D142CD8DD3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7" t="-1695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5F140-25F6-F1C9-7788-003D31F09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16.10.2026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7A9F5-3D15-D025-C712-769F9578A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Department Informatik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FA9846-CAFE-59FC-048D-37BB1A1B4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14</a:t>
            </a:fld>
            <a:endParaRPr lang="de-CH" noProof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52B425-DA64-D12B-F501-1F845364FB9C}"/>
              </a:ext>
            </a:extLst>
          </p:cNvPr>
          <p:cNvSpPr/>
          <p:nvPr/>
        </p:nvSpPr>
        <p:spPr>
          <a:xfrm>
            <a:off x="9124626" y="1770903"/>
            <a:ext cx="1234287" cy="107681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7AF9AE4-4E94-2682-6D08-FE9AD976D82A}"/>
              </a:ext>
            </a:extLst>
          </p:cNvPr>
          <p:cNvGrpSpPr/>
          <p:nvPr/>
        </p:nvGrpSpPr>
        <p:grpSpPr>
          <a:xfrm>
            <a:off x="9125953" y="4215085"/>
            <a:ext cx="1236215" cy="1593816"/>
            <a:chOff x="10358476" y="3848736"/>
            <a:chExt cx="1236215" cy="157557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3E77EEF-DD64-EC86-C2E5-AB3B30AB6A90}"/>
                </a:ext>
              </a:extLst>
            </p:cNvPr>
            <p:cNvSpPr/>
            <p:nvPr/>
          </p:nvSpPr>
          <p:spPr>
            <a:xfrm>
              <a:off x="10360142" y="4347499"/>
              <a:ext cx="1234287" cy="107681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0" name="Right Triangle 9">
              <a:extLst>
                <a:ext uri="{FF2B5EF4-FFF2-40B4-BE49-F238E27FC236}">
                  <a16:creationId xmlns:a16="http://schemas.microsoft.com/office/drawing/2014/main" id="{2AAD59CC-8700-C755-14FD-0A4B65EEE3F2}"/>
                </a:ext>
              </a:extLst>
            </p:cNvPr>
            <p:cNvSpPr/>
            <p:nvPr/>
          </p:nvSpPr>
          <p:spPr>
            <a:xfrm flipH="1">
              <a:off x="10358476" y="3848736"/>
              <a:ext cx="1236215" cy="498761"/>
            </a:xfrm>
            <a:prstGeom prst="rtTriangl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</p:grp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760B7E68-4912-712C-DD14-212A6C374CEB}"/>
              </a:ext>
            </a:extLst>
          </p:cNvPr>
          <p:cNvSpPr/>
          <p:nvPr/>
        </p:nvSpPr>
        <p:spPr>
          <a:xfrm flipH="1">
            <a:off x="9122960" y="1272140"/>
            <a:ext cx="1236215" cy="498761"/>
          </a:xfrm>
          <a:prstGeom prst="rt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A5758D7-6BD6-219A-93F0-B28484E94E21}"/>
              </a:ext>
            </a:extLst>
          </p:cNvPr>
          <p:cNvSpPr/>
          <p:nvPr/>
        </p:nvSpPr>
        <p:spPr>
          <a:xfrm>
            <a:off x="9129785" y="4159222"/>
            <a:ext cx="1230255" cy="562807"/>
          </a:xfrm>
          <a:custGeom>
            <a:avLst/>
            <a:gdLst>
              <a:gd name="csX0" fmla="*/ 0 w 1230255"/>
              <a:gd name="csY0" fmla="*/ 562807 h 562807"/>
              <a:gd name="csX1" fmla="*/ 604862 w 1230255"/>
              <a:gd name="csY1" fmla="*/ 36909 h 562807"/>
              <a:gd name="csX2" fmla="*/ 1230255 w 1230255"/>
              <a:gd name="csY2" fmla="*/ 85867 h 5628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30255" h="562807">
                <a:moveTo>
                  <a:pt x="0" y="562807"/>
                </a:moveTo>
                <a:cubicBezTo>
                  <a:pt x="199910" y="339603"/>
                  <a:pt x="399820" y="116399"/>
                  <a:pt x="604862" y="36909"/>
                </a:cubicBezTo>
                <a:cubicBezTo>
                  <a:pt x="809904" y="-42581"/>
                  <a:pt x="1020079" y="21643"/>
                  <a:pt x="1230255" y="85867"/>
                </a:cubicBezTo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5852DE2-879E-5A8B-3648-FDCBDB30B2F7}"/>
              </a:ext>
            </a:extLst>
          </p:cNvPr>
          <p:cNvGrpSpPr/>
          <p:nvPr/>
        </p:nvGrpSpPr>
        <p:grpSpPr>
          <a:xfrm>
            <a:off x="8712869" y="3691620"/>
            <a:ext cx="2270625" cy="2401255"/>
            <a:chOff x="8343901" y="3176427"/>
            <a:chExt cx="2862942" cy="3027648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B2D7125-089F-788F-4BFC-60B7BFFDC082}"/>
                </a:ext>
              </a:extLst>
            </p:cNvPr>
            <p:cNvGrpSpPr/>
            <p:nvPr/>
          </p:nvGrpSpPr>
          <p:grpSpPr>
            <a:xfrm>
              <a:off x="8343901" y="3331029"/>
              <a:ext cx="2862942" cy="2873046"/>
              <a:chOff x="8343901" y="3331029"/>
              <a:chExt cx="2862942" cy="2873046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FEBDFAA7-ADA8-16CF-348B-943D961FD96F}"/>
                  </a:ext>
                </a:extLst>
              </p:cNvPr>
              <p:cNvGrpSpPr/>
              <p:nvPr/>
            </p:nvGrpSpPr>
            <p:grpSpPr>
              <a:xfrm>
                <a:off x="8343901" y="3331029"/>
                <a:ext cx="2862942" cy="2503714"/>
                <a:chOff x="8343901" y="3331029"/>
                <a:chExt cx="2862942" cy="2503714"/>
              </a:xfrm>
            </p:grpSpPr>
            <p:cxnSp>
              <p:nvCxnSpPr>
                <p:cNvPr id="28" name="Straight Arrow Connector 27">
                  <a:extLst>
                    <a:ext uri="{FF2B5EF4-FFF2-40B4-BE49-F238E27FC236}">
                      <a16:creationId xmlns:a16="http://schemas.microsoft.com/office/drawing/2014/main" id="{A230D8BD-8396-A701-E459-2CC9C0A73141}"/>
                    </a:ext>
                  </a:extLst>
                </p:cNvPr>
                <p:cNvCxnSpPr/>
                <p:nvPr/>
              </p:nvCxnSpPr>
              <p:spPr>
                <a:xfrm flipV="1">
                  <a:off x="8343901" y="3331029"/>
                  <a:ext cx="0" cy="2503714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Arrow Connector 40">
                  <a:extLst>
                    <a:ext uri="{FF2B5EF4-FFF2-40B4-BE49-F238E27FC236}">
                      <a16:creationId xmlns:a16="http://schemas.microsoft.com/office/drawing/2014/main" id="{CF3550F1-6CB1-B981-010E-C9280F79C0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343901" y="5834743"/>
                  <a:ext cx="2862942" cy="0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CED1A072-FD9A-8D0F-AB35-12FF9B2C584E}"/>
                  </a:ext>
                </a:extLst>
              </p:cNvPr>
              <p:cNvSpPr/>
              <p:nvPr/>
            </p:nvSpPr>
            <p:spPr>
              <a:xfrm>
                <a:off x="8814201" y="5782529"/>
                <a:ext cx="106604" cy="106604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38659D4F-00FC-B134-9DD1-D8C74625BB3B}"/>
                  </a:ext>
                </a:extLst>
              </p:cNvPr>
              <p:cNvSpPr/>
              <p:nvPr/>
            </p:nvSpPr>
            <p:spPr>
              <a:xfrm>
                <a:off x="10369185" y="5783577"/>
                <a:ext cx="104508" cy="104508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51147D2E-D4F4-4D95-8409-E6046E3B2A95}"/>
                      </a:ext>
                    </a:extLst>
                  </p:cNvPr>
                  <p:cNvSpPr txBox="1"/>
                  <p:nvPr/>
                </p:nvSpPr>
                <p:spPr>
                  <a:xfrm>
                    <a:off x="8717823" y="5834743"/>
                    <a:ext cx="299357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CH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lang="en-CH" dirty="0">
                      <a:solidFill>
                        <a:schemeClr val="accent5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51147D2E-D4F4-4D95-8409-E6046E3B2A9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17823" y="5834743"/>
                    <a:ext cx="299357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r="-17949" b="-12500"/>
                    </a:stretch>
                  </a:blipFill>
                </p:spPr>
                <p:txBody>
                  <a:bodyPr/>
                  <a:lstStyle/>
                  <a:p>
                    <a:r>
                      <a:rPr lang="en-CH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D79DB789-E0C8-170E-A310-FABCE0F2C877}"/>
                      </a:ext>
                    </a:extLst>
                  </p:cNvPr>
                  <p:cNvSpPr txBox="1"/>
                  <p:nvPr/>
                </p:nvSpPr>
                <p:spPr>
                  <a:xfrm>
                    <a:off x="10271759" y="5834743"/>
                    <a:ext cx="299357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CH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lang="en-CH" dirty="0">
                      <a:solidFill>
                        <a:schemeClr val="accent5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D79DB789-E0C8-170E-A310-FABCE0F2C87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271759" y="5834743"/>
                    <a:ext cx="299357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25641" b="-20833"/>
                    </a:stretch>
                  </a:blipFill>
                </p:spPr>
                <p:txBody>
                  <a:bodyPr/>
                  <a:lstStyle/>
                  <a:p>
                    <a:r>
                      <a:rPr lang="en-CH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AB4F2460-DE2E-A410-4CDB-EC88C2D452D5}"/>
                  </a:ext>
                </a:extLst>
              </p:cNvPr>
              <p:cNvSpPr/>
              <p:nvPr/>
            </p:nvSpPr>
            <p:spPr>
              <a:xfrm>
                <a:off x="8814201" y="4422980"/>
                <a:ext cx="106604" cy="10660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F1D2251B-05E1-D17E-E079-2B3B468894C1}"/>
                  </a:ext>
                </a:extLst>
              </p:cNvPr>
              <p:cNvSpPr/>
              <p:nvPr/>
            </p:nvSpPr>
            <p:spPr>
              <a:xfrm>
                <a:off x="10369185" y="3795937"/>
                <a:ext cx="106604" cy="10660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4BFAB86D-72F0-13D0-B1EA-4E2BAF634F04}"/>
                  </a:ext>
                </a:extLst>
              </p:cNvPr>
              <p:cNvCxnSpPr>
                <a:endCxn id="17" idx="0"/>
              </p:cNvCxnSpPr>
              <p:nvPr/>
            </p:nvCxnSpPr>
            <p:spPr>
              <a:xfrm>
                <a:off x="8865725" y="4529584"/>
                <a:ext cx="1778" cy="1252945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A5A16B9E-842E-C45A-5E3D-046E19432B87}"/>
                  </a:ext>
                </a:extLst>
              </p:cNvPr>
              <p:cNvCxnSpPr>
                <a:stCxn id="22" idx="4"/>
                <a:endCxn id="18" idx="0"/>
              </p:cNvCxnSpPr>
              <p:nvPr/>
            </p:nvCxnSpPr>
            <p:spPr>
              <a:xfrm flipH="1">
                <a:off x="10421439" y="3902541"/>
                <a:ext cx="1048" cy="1881036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0A1CC1C-7F4E-3A14-A43E-432D6604DA45}"/>
                </a:ext>
              </a:extLst>
            </p:cNvPr>
            <p:cNvSpPr/>
            <p:nvPr/>
          </p:nvSpPr>
          <p:spPr>
            <a:xfrm>
              <a:off x="8863070" y="3176427"/>
              <a:ext cx="1558369" cy="1268881"/>
            </a:xfrm>
            <a:custGeom>
              <a:avLst/>
              <a:gdLst>
                <a:gd name="csX0" fmla="*/ 0 w 1602089"/>
                <a:gd name="csY0" fmla="*/ 1268881 h 1268881"/>
                <a:gd name="csX1" fmla="*/ 198303 w 1602089"/>
                <a:gd name="csY1" fmla="*/ 993459 h 1268881"/>
                <a:gd name="csX2" fmla="*/ 570123 w 1602089"/>
                <a:gd name="csY2" fmla="*/ 1128416 h 1268881"/>
                <a:gd name="csX3" fmla="*/ 1041094 w 1602089"/>
                <a:gd name="csY3" fmla="*/ 7450 h 1268881"/>
                <a:gd name="csX4" fmla="*/ 1561641 w 1602089"/>
                <a:gd name="csY4" fmla="*/ 640920 h 1268881"/>
                <a:gd name="csX5" fmla="*/ 1567149 w 1602089"/>
                <a:gd name="csY5" fmla="*/ 649182 h 12688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602089" h="1268881">
                  <a:moveTo>
                    <a:pt x="0" y="1268881"/>
                  </a:moveTo>
                  <a:cubicBezTo>
                    <a:pt x="51641" y="1142875"/>
                    <a:pt x="103283" y="1016870"/>
                    <a:pt x="198303" y="993459"/>
                  </a:cubicBezTo>
                  <a:cubicBezTo>
                    <a:pt x="293323" y="970048"/>
                    <a:pt x="429658" y="1292751"/>
                    <a:pt x="570123" y="1128416"/>
                  </a:cubicBezTo>
                  <a:cubicBezTo>
                    <a:pt x="710588" y="964081"/>
                    <a:pt x="875841" y="88699"/>
                    <a:pt x="1041094" y="7450"/>
                  </a:cubicBezTo>
                  <a:cubicBezTo>
                    <a:pt x="1206347" y="-73799"/>
                    <a:pt x="1473965" y="533965"/>
                    <a:pt x="1561641" y="640920"/>
                  </a:cubicBezTo>
                  <a:cubicBezTo>
                    <a:pt x="1649317" y="747875"/>
                    <a:pt x="1567149" y="649182"/>
                    <a:pt x="1567149" y="649182"/>
                  </a:cubicBezTo>
                </a:path>
              </a:pathLst>
            </a:custGeom>
            <a:noFill/>
            <a:ln>
              <a:solidFill>
                <a:srgbClr val="62731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14B577A-FFC1-20BC-583E-5025729406EA}"/>
              </a:ext>
            </a:extLst>
          </p:cNvPr>
          <p:cNvGrpSpPr/>
          <p:nvPr/>
        </p:nvGrpSpPr>
        <p:grpSpPr>
          <a:xfrm>
            <a:off x="8712869" y="862007"/>
            <a:ext cx="2270618" cy="2278632"/>
            <a:chOff x="8343901" y="378792"/>
            <a:chExt cx="2862942" cy="2873046"/>
          </a:xfrm>
        </p:grpSpPr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C615B4FE-E0CF-CDB3-8972-D6EE27EFAB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66602" y="897002"/>
              <a:ext cx="1554984" cy="627784"/>
            </a:xfrm>
            <a:prstGeom prst="line">
              <a:avLst/>
            </a:prstGeom>
            <a:ln w="12700">
              <a:solidFill>
                <a:srgbClr val="62731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D64361DA-5083-1582-F1E1-FD923A6ECC1A}"/>
                </a:ext>
              </a:extLst>
            </p:cNvPr>
            <p:cNvGrpSpPr/>
            <p:nvPr/>
          </p:nvGrpSpPr>
          <p:grpSpPr>
            <a:xfrm>
              <a:off x="8343901" y="378792"/>
              <a:ext cx="2862942" cy="2873046"/>
              <a:chOff x="8343901" y="3331029"/>
              <a:chExt cx="2862942" cy="2873046"/>
            </a:xfrm>
          </p:grpSpPr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18BF4D75-483B-1AEA-98BF-65931617AF64}"/>
                  </a:ext>
                </a:extLst>
              </p:cNvPr>
              <p:cNvGrpSpPr/>
              <p:nvPr/>
            </p:nvGrpSpPr>
            <p:grpSpPr>
              <a:xfrm>
                <a:off x="8343901" y="3331029"/>
                <a:ext cx="2862942" cy="2503714"/>
                <a:chOff x="8343901" y="3331029"/>
                <a:chExt cx="2862942" cy="2503714"/>
              </a:xfrm>
            </p:grpSpPr>
            <p:cxnSp>
              <p:nvCxnSpPr>
                <p:cNvPr id="72" name="Straight Arrow Connector 71">
                  <a:extLst>
                    <a:ext uri="{FF2B5EF4-FFF2-40B4-BE49-F238E27FC236}">
                      <a16:creationId xmlns:a16="http://schemas.microsoft.com/office/drawing/2014/main" id="{270DB431-0599-3403-967B-22F697BB7603}"/>
                    </a:ext>
                  </a:extLst>
                </p:cNvPr>
                <p:cNvCxnSpPr/>
                <p:nvPr/>
              </p:nvCxnSpPr>
              <p:spPr>
                <a:xfrm flipV="1">
                  <a:off x="8343901" y="3331029"/>
                  <a:ext cx="0" cy="2503714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Straight Arrow Connector 72">
                  <a:extLst>
                    <a:ext uri="{FF2B5EF4-FFF2-40B4-BE49-F238E27FC236}">
                      <a16:creationId xmlns:a16="http://schemas.microsoft.com/office/drawing/2014/main" id="{5102547E-53B9-FE14-519F-4655F7EF96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343901" y="5834743"/>
                  <a:ext cx="2862942" cy="0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9ACFDEBD-9D66-B187-FDF7-172C047FC0B4}"/>
                  </a:ext>
                </a:extLst>
              </p:cNvPr>
              <p:cNvSpPr/>
              <p:nvPr/>
            </p:nvSpPr>
            <p:spPr>
              <a:xfrm>
                <a:off x="8814201" y="5782529"/>
                <a:ext cx="106604" cy="106604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52339F36-9F92-4E25-F0BD-B9AC6009EE81}"/>
                  </a:ext>
                </a:extLst>
              </p:cNvPr>
              <p:cNvSpPr/>
              <p:nvPr/>
            </p:nvSpPr>
            <p:spPr>
              <a:xfrm>
                <a:off x="10369185" y="5783577"/>
                <a:ext cx="104508" cy="104508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639DF108-E47B-60A5-7816-084EA9F54958}"/>
                      </a:ext>
                    </a:extLst>
                  </p:cNvPr>
                  <p:cNvSpPr txBox="1"/>
                  <p:nvPr/>
                </p:nvSpPr>
                <p:spPr>
                  <a:xfrm>
                    <a:off x="8717823" y="5834743"/>
                    <a:ext cx="299357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CH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lang="en-CH" dirty="0">
                      <a:solidFill>
                        <a:schemeClr val="accent5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639DF108-E47B-60A5-7816-084EA9F5495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17823" y="5834743"/>
                    <a:ext cx="299357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r="-17949" b="-12500"/>
                    </a:stretch>
                  </a:blipFill>
                </p:spPr>
                <p:txBody>
                  <a:bodyPr/>
                  <a:lstStyle/>
                  <a:p>
                    <a:r>
                      <a:rPr lang="en-CH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7" name="TextBox 66">
                    <a:extLst>
                      <a:ext uri="{FF2B5EF4-FFF2-40B4-BE49-F238E27FC236}">
                        <a16:creationId xmlns:a16="http://schemas.microsoft.com/office/drawing/2014/main" id="{3DAD7A37-DD84-9E92-3F8D-9F13678410FE}"/>
                      </a:ext>
                    </a:extLst>
                  </p:cNvPr>
                  <p:cNvSpPr txBox="1"/>
                  <p:nvPr/>
                </p:nvSpPr>
                <p:spPr>
                  <a:xfrm>
                    <a:off x="10271759" y="5834743"/>
                    <a:ext cx="299357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CH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lang="en-CH" dirty="0">
                      <a:solidFill>
                        <a:schemeClr val="accent5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7" name="TextBox 66">
                    <a:extLst>
                      <a:ext uri="{FF2B5EF4-FFF2-40B4-BE49-F238E27FC236}">
                        <a16:creationId xmlns:a16="http://schemas.microsoft.com/office/drawing/2014/main" id="{3DAD7A37-DD84-9E92-3F8D-9F13678410F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271759" y="5834743"/>
                    <a:ext cx="299357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r="-25641" b="-20833"/>
                    </a:stretch>
                  </a:blipFill>
                </p:spPr>
                <p:txBody>
                  <a:bodyPr/>
                  <a:lstStyle/>
                  <a:p>
                    <a:r>
                      <a:rPr lang="en-CH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A1F8480B-A80D-FD34-6221-D539971E4411}"/>
                  </a:ext>
                </a:extLst>
              </p:cNvPr>
              <p:cNvSpPr/>
              <p:nvPr/>
            </p:nvSpPr>
            <p:spPr>
              <a:xfrm>
                <a:off x="8814201" y="4422980"/>
                <a:ext cx="106604" cy="10660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 dirty="0"/>
              </a:p>
            </p:txBody>
          </p: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38CEDB86-E9ED-DD52-165C-30AFAED10EAC}"/>
                  </a:ext>
                </a:extLst>
              </p:cNvPr>
              <p:cNvSpPr/>
              <p:nvPr/>
            </p:nvSpPr>
            <p:spPr>
              <a:xfrm>
                <a:off x="10369185" y="3795937"/>
                <a:ext cx="106604" cy="10660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AFB9138F-A763-C5E3-B260-D5E3DC502E56}"/>
                  </a:ext>
                </a:extLst>
              </p:cNvPr>
              <p:cNvCxnSpPr>
                <a:endCxn id="62" idx="0"/>
              </p:cNvCxnSpPr>
              <p:nvPr/>
            </p:nvCxnSpPr>
            <p:spPr>
              <a:xfrm>
                <a:off x="8865725" y="4529584"/>
                <a:ext cx="1778" cy="1252945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0EB84FCC-AE23-198E-8015-ED1B5B9FFCB7}"/>
                  </a:ext>
                </a:extLst>
              </p:cNvPr>
              <p:cNvCxnSpPr>
                <a:stCxn id="69" idx="4"/>
                <a:endCxn id="65" idx="0"/>
              </p:cNvCxnSpPr>
              <p:nvPr/>
            </p:nvCxnSpPr>
            <p:spPr>
              <a:xfrm flipH="1">
                <a:off x="10421439" y="3902541"/>
                <a:ext cx="1048" cy="1881036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4" name="Oval 73">
            <a:extLst>
              <a:ext uri="{FF2B5EF4-FFF2-40B4-BE49-F238E27FC236}">
                <a16:creationId xmlns:a16="http://schemas.microsoft.com/office/drawing/2014/main" id="{8F681F19-F954-C051-1A43-F3D176392175}"/>
              </a:ext>
            </a:extLst>
          </p:cNvPr>
          <p:cNvSpPr/>
          <p:nvPr/>
        </p:nvSpPr>
        <p:spPr>
          <a:xfrm>
            <a:off x="9698793" y="1479246"/>
            <a:ext cx="84548" cy="8454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61DE8622-A81D-8C5B-C49D-43A7C30428FE}"/>
              </a:ext>
            </a:extLst>
          </p:cNvPr>
          <p:cNvSpPr/>
          <p:nvPr/>
        </p:nvSpPr>
        <p:spPr>
          <a:xfrm>
            <a:off x="9679610" y="4155881"/>
            <a:ext cx="84548" cy="8454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9129816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2A204-FEDB-EDA2-94C0-7F71D885D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Quadraturformeln</a:t>
            </a:r>
            <a:r>
              <a:rPr lang="en-US" dirty="0"/>
              <a:t>: Symmetrie</a:t>
            </a:r>
            <a:endParaRPr lang="en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EDB542-E053-915C-CA71-70C090969E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0" dirty="0"/>
                  <a:t>Die </a:t>
                </a:r>
                <a:r>
                  <a:rPr lang="en-US" b="0" dirty="0" err="1"/>
                  <a:t>folgenden</a:t>
                </a:r>
                <a:r>
                  <a:rPr lang="en-US" b="0" dirty="0"/>
                  <a:t> </a:t>
                </a:r>
                <a:r>
                  <a:rPr lang="en-US" b="0" dirty="0" err="1"/>
                  <a:t>beiden</a:t>
                </a:r>
                <a:r>
                  <a:rPr lang="en-US" b="0" dirty="0"/>
                  <a:t> </a:t>
                </a:r>
                <a:r>
                  <a:rPr lang="en-US" b="0" dirty="0" err="1"/>
                  <a:t>Merkmale</a:t>
                </a:r>
                <a:r>
                  <a:rPr lang="en-US" b="0" dirty="0"/>
                  <a:t> </a:t>
                </a:r>
                <a:r>
                  <a:rPr lang="en-US" b="0" dirty="0" err="1"/>
                  <a:t>definieren</a:t>
                </a:r>
                <a:r>
                  <a:rPr lang="en-US" b="0" dirty="0"/>
                  <a:t> </a:t>
                </a:r>
                <a:r>
                  <a:rPr lang="en-US" b="0" dirty="0" err="1"/>
                  <a:t>eine</a:t>
                </a:r>
                <a:r>
                  <a:rPr lang="en-US" b="0" dirty="0"/>
                  <a:t> </a:t>
                </a:r>
                <a:r>
                  <a:rPr lang="en-US" b="0" dirty="0" err="1"/>
                  <a:t>symmetrische</a:t>
                </a:r>
                <a:r>
                  <a:rPr lang="en-US" b="0" dirty="0"/>
                  <a:t> </a:t>
                </a:r>
                <a:r>
                  <a:rPr lang="en-US" b="0" dirty="0" err="1"/>
                  <a:t>Quadraturformel</a:t>
                </a:r>
                <a:r>
                  <a:rPr lang="en-US" b="0" dirty="0"/>
                  <a:t>: </a:t>
                </a:r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H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H" sz="4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CH" sz="4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CH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CH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H" sz="4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CH" sz="4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CH" sz="4400" b="0" i="1" smtClean="0">
                              <a:latin typeface="Cambria Math" panose="02040503050406030204" pitchFamily="18" charset="0"/>
                            </a:rPr>
                            <m:t>+1−</m:t>
                          </m:r>
                          <m:r>
                            <a:rPr lang="en-CH" sz="4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440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H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H" sz="4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CH" sz="4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CH" sz="4400" b="0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CH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H" sz="4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CH" sz="4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CH" sz="4400" b="0" i="1" smtClean="0">
                              <a:latin typeface="Cambria Math" panose="02040503050406030204" pitchFamily="18" charset="0"/>
                            </a:rPr>
                            <m:t>+1−</m:t>
                          </m:r>
                          <m:r>
                            <a:rPr lang="en-CH" sz="4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440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:r>
                  <a:rPr lang="en-US" i="1" dirty="0" err="1"/>
                  <a:t>Mittelpunkt</a:t>
                </a:r>
                <a:r>
                  <a:rPr lang="en-US" i="1" dirty="0"/>
                  <a:t>-, </a:t>
                </a:r>
                <a:r>
                  <a:rPr lang="en-US" i="1" dirty="0" err="1"/>
                  <a:t>Trapez</a:t>
                </a:r>
                <a:r>
                  <a:rPr lang="en-US" i="1" dirty="0"/>
                  <a:t>- und Simpson-</a:t>
                </a:r>
                <a:r>
                  <a:rPr lang="en-US" i="1" dirty="0" err="1"/>
                  <a:t>Regeln</a:t>
                </a:r>
                <a:r>
                  <a:rPr lang="en-US" i="1" dirty="0"/>
                  <a:t> </a:t>
                </a:r>
                <a:r>
                  <a:rPr lang="en-US" i="1" dirty="0" err="1"/>
                  <a:t>sind</a:t>
                </a:r>
                <a:r>
                  <a:rPr lang="en-US" i="1" dirty="0"/>
                  <a:t> </a:t>
                </a:r>
                <a:r>
                  <a:rPr lang="en-US" i="1" dirty="0" err="1"/>
                  <a:t>symmetrisch</a:t>
                </a:r>
                <a:r>
                  <a:rPr lang="en-US" i="1" dirty="0"/>
                  <a:t>!</a:t>
                </a:r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Theorem 5.3.11:</a:t>
                </a:r>
                <a:r>
                  <a:rPr lang="en-US" dirty="0"/>
                  <a:t>	Die Ordnung </a:t>
                </a:r>
                <a:r>
                  <a:rPr lang="en-US" dirty="0" err="1"/>
                  <a:t>einer</a:t>
                </a:r>
                <a:r>
                  <a:rPr lang="en-US" dirty="0"/>
                  <a:t> </a:t>
                </a:r>
                <a:r>
                  <a:rPr lang="en-US" dirty="0" err="1"/>
                  <a:t>symmetrischen</a:t>
                </a:r>
                <a:r>
                  <a:rPr lang="en-US" dirty="0"/>
                  <a:t> </a:t>
                </a:r>
                <a:r>
                  <a:rPr lang="en-US" dirty="0" err="1"/>
                  <a:t>Quadraturformel</a:t>
                </a:r>
                <a:r>
                  <a:rPr lang="en-US" dirty="0"/>
                  <a:t> </a:t>
                </a:r>
                <a:r>
                  <a:rPr lang="en-US" dirty="0" err="1"/>
                  <a:t>ist</a:t>
                </a:r>
                <a:r>
                  <a:rPr lang="en-US" dirty="0"/>
                  <a:t> </a:t>
                </a:r>
                <a:r>
                  <a:rPr lang="en-US" dirty="0" err="1"/>
                  <a:t>gerade</a:t>
                </a:r>
                <a:r>
                  <a:rPr lang="en-US" dirty="0"/>
                  <a:t>. </a:t>
                </a:r>
              </a:p>
              <a:p>
                <a:pPr marL="0" indent="0">
                  <a:buNone/>
                </a:pPr>
                <a:r>
                  <a:rPr lang="en-US" dirty="0"/>
                  <a:t>		(</a:t>
                </a:r>
                <a:r>
                  <a:rPr lang="en-US" dirty="0" err="1"/>
                  <a:t>Deswegen</a:t>
                </a:r>
                <a:r>
                  <a:rPr lang="en-US" dirty="0"/>
                  <a:t> Simpson nicht </a:t>
                </a:r>
                <a:r>
                  <a:rPr lang="en-US" dirty="0" err="1"/>
                  <a:t>nur</a:t>
                </a:r>
                <a:r>
                  <a:rPr lang="en-US" dirty="0"/>
                  <a:t> Grad 3)</a:t>
                </a:r>
                <a:endParaRPr lang="en-CH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EDB542-E053-915C-CA71-70C090969E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7" t="-1695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FDD8C3-F0F9-B77A-8011-E6DF82BA8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16.10.2026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501AF4-91D9-8786-FE77-12476000D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Department Informatik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EF6B90-7506-EEE6-157C-DD4BA7263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15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9795049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5849F-F0DC-2B00-1078-51CB54F62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Summierte</a:t>
            </a:r>
            <a:r>
              <a:rPr lang="en-US" dirty="0"/>
              <a:t> </a:t>
            </a:r>
            <a:r>
              <a:rPr lang="en-US" dirty="0" err="1"/>
              <a:t>Quadraturformeln</a:t>
            </a:r>
            <a:endParaRPr lang="en-CH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96FA26-9925-3E33-67AF-3F4256C26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EAFE7-317E-4912-B75C-DD6945F82242}" type="datetime1">
              <a:rPr lang="de-CH" noProof="0" smtClean="0"/>
              <a:t>16.10.2026</a:t>
            </a:fld>
            <a:endParaRPr lang="de-CH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FCC56A-1E11-D7A7-7EC1-886B5924C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Department Informatik</a:t>
            </a:r>
            <a:endParaRPr lang="de-CH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F62A15-CE04-64D1-5918-755388AAD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pPr/>
              <a:t>16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19462860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68E89-C79D-5DAB-2E6A-AEF57F081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Summierte</a:t>
            </a:r>
            <a:r>
              <a:rPr lang="en-US" dirty="0"/>
              <a:t> </a:t>
            </a:r>
            <a:r>
              <a:rPr lang="en-US" dirty="0" err="1"/>
              <a:t>Quadraturformeln</a:t>
            </a:r>
            <a:endParaRPr lang="en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ABDAC5-C23D-7E07-5F4C-CA58CFC350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 err="1"/>
                  <a:t>Teile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dirty="0"/>
                  <a:t> in </a:t>
                </a:r>
                <a:r>
                  <a:rPr lang="en-US" dirty="0" err="1"/>
                  <a:t>ein</a:t>
                </a:r>
                <a:r>
                  <a:rPr lang="en-US" dirty="0"/>
                  <a:t> Gitter auf </a:t>
                </a:r>
                <a:r>
                  <a:rPr lang="en-US" dirty="0" err="1"/>
                  <a:t>mit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&lt;...&lt;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 err="1"/>
                  <a:t>Jetzt</a:t>
                </a:r>
                <a:r>
                  <a:rPr lang="en-US" dirty="0"/>
                  <a:t> </a:t>
                </a:r>
                <a:r>
                  <a:rPr lang="en-US" dirty="0" err="1"/>
                  <a:t>suchen</a:t>
                </a:r>
                <a:r>
                  <a:rPr lang="en-US" dirty="0"/>
                  <a:t> </a:t>
                </a:r>
                <a:r>
                  <a:rPr lang="en-US" dirty="0" err="1"/>
                  <a:t>wir</a:t>
                </a:r>
                <a:r>
                  <a:rPr lang="en-US" dirty="0"/>
                  <a:t> die </a:t>
                </a:r>
                <a:r>
                  <a:rPr lang="en-US" dirty="0" err="1"/>
                  <a:t>Lösung</a:t>
                </a:r>
                <a:r>
                  <a:rPr lang="en-US" dirty="0"/>
                  <a:t> des Integrals auf </a:t>
                </a:r>
                <a:r>
                  <a:rPr lang="en-US" dirty="0" err="1"/>
                  <a:t>jedem</a:t>
                </a:r>
                <a:r>
                  <a:rPr lang="en-US" dirty="0"/>
                  <a:t> </a:t>
                </a:r>
                <a:r>
                  <a:rPr lang="en-US" dirty="0" err="1"/>
                  <a:t>Teilintervall</a:t>
                </a:r>
                <a:r>
                  <a:rPr lang="en-US" dirty="0"/>
                  <a:t>: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limLoc m:val="subSup"/>
                          <m:ctrlPr>
                            <a:rPr lang="en-CH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CH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CH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CH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nary>
                      <m:d>
                        <m:dPr>
                          <m:ctrlPr>
                            <a:rPr lang="en-CH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H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CH" b="0" i="1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CH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CH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CH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CH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CH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CH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limLoc m:val="subSup"/>
                              <m:ctrlPr>
                                <a:rPr lang="en-CH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CH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H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H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b>
                            <m:sup>
                              <m:sSub>
                                <m:sSubPr>
                                  <m:ctrlPr>
                                    <a:rPr lang="en-CH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H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H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CH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sup>
                            <m:e>
                              <m:r>
                                <a:rPr lang="en-CH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nary>
                        </m:e>
                      </m:nary>
                      <m:d>
                        <m:dPr>
                          <m:ctrlPr>
                            <a:rPr lang="en-CH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H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CH" b="0" i="1" smtClean="0"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Einfacher</a:t>
                </a:r>
                <a:r>
                  <a:rPr lang="en-US" dirty="0"/>
                  <a:t>, </a:t>
                </a:r>
                <a:r>
                  <a:rPr lang="en-US" dirty="0" err="1"/>
                  <a:t>wenn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äquidistant, man </a:t>
                </a:r>
                <a:r>
                  <a:rPr lang="en-US" dirty="0" err="1"/>
                  <a:t>spricht</a:t>
                </a:r>
                <a:r>
                  <a:rPr lang="en-US" dirty="0"/>
                  <a:t> </a:t>
                </a:r>
                <a:r>
                  <a:rPr lang="en-US" dirty="0" err="1"/>
                  <a:t>dann</a:t>
                </a:r>
                <a:r>
                  <a:rPr lang="en-US" dirty="0"/>
                  <a:t> von </a:t>
                </a:r>
                <a:r>
                  <a:rPr lang="en-US" i="1" dirty="0"/>
                  <a:t>h-</a:t>
                </a:r>
                <a:r>
                  <a:rPr lang="en-US" i="1" dirty="0" err="1"/>
                  <a:t>Methoden</a:t>
                </a:r>
                <a:r>
                  <a:rPr lang="en-US" dirty="0"/>
                  <a:t>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ℎ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länge</a:t>
                </a:r>
                <a:r>
                  <a:rPr lang="en-US" dirty="0"/>
                  <a:t> des </a:t>
                </a:r>
                <a:r>
                  <a:rPr lang="en-US" dirty="0" err="1"/>
                  <a:t>Teilintervals</a:t>
                </a:r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CH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CH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H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CH" b="0" i="1" smtClean="0">
                          <a:latin typeface="Cambria Math" panose="02040503050406030204" pitchFamily="18" charset="0"/>
                        </a:rPr>
                        <m:t>&lt;</m:t>
                      </m:r>
                      <m:func>
                        <m:funcPr>
                          <m:ctrlPr>
                            <a:rPr lang="en-CH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CH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CH" b="0" i="1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CH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CH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CH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H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CH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H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</m:lim>
                          </m:limLow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CH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CH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CH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CH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CH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</m:sup>
                              </m:sSup>
                              <m:d>
                                <m:dPr>
                                  <m:ctrlPr>
                                    <a:rPr lang="en-CH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H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CH" b="0" i="1" smtClean="0">
                          <a:latin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CH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CH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H" b="0" i="1" smtClean="0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p>
                              <m:r>
                                <a:rPr lang="en-CH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num>
                        <m:den>
                          <m:r>
                            <a:rPr lang="en-CH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CH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d>
                        <m:dPr>
                          <m:ctrlPr>
                            <a:rPr lang="en-CH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H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CH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CH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en-CH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ABDAC5-C23D-7E07-5F4C-CA58CFC350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7" t="-1695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18DB9-2899-AADC-2214-A5B09B668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16.10.2026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8374C-0BD0-F09C-DD4D-9678AF8A4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Department Informatik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E8DF9-4EC3-E980-5903-76D538CA2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17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16452187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B6A51-90DC-3F4A-D258-18F7D7B12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Beispiel</a:t>
            </a:r>
            <a:r>
              <a:rPr lang="en-US" dirty="0"/>
              <a:t>: </a:t>
            </a:r>
            <a:r>
              <a:rPr lang="en-US" dirty="0" err="1"/>
              <a:t>Summierte</a:t>
            </a:r>
            <a:r>
              <a:rPr lang="en-US" dirty="0"/>
              <a:t> </a:t>
            </a:r>
            <a:r>
              <a:rPr lang="en-US" dirty="0" err="1"/>
              <a:t>Trapezregel</a:t>
            </a:r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58E43-CEF4-9B8E-10DB-37B455CF8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16.10.2026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58D4FC-8EA0-8553-7857-60188BEC6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Department Informatik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F0DD64-2934-43C0-1F12-03551A0ED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18</a:t>
            </a:fld>
            <a:endParaRPr lang="de-CH" noProof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8056BFE2-4684-85FF-2CB8-08BC15BB48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18455" y="1412875"/>
            <a:ext cx="7755090" cy="467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0300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10C3A-43D5-272B-6F47-B58AB1BD3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Beispiel</a:t>
            </a:r>
            <a:r>
              <a:rPr lang="en-US" dirty="0"/>
              <a:t>: </a:t>
            </a:r>
            <a:r>
              <a:rPr lang="en-US" dirty="0" err="1"/>
              <a:t>Summierte</a:t>
            </a:r>
            <a:r>
              <a:rPr lang="en-US" dirty="0"/>
              <a:t> Simpson-Regel</a:t>
            </a:r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098AAB-F7D5-019B-0557-EAF337E2B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16.10.2026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2DD6C0-BD95-7CE6-58D4-CDEA8DFF0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Department Informatik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C77274-6D90-88B9-0A65-366FBF962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19</a:t>
            </a:fld>
            <a:endParaRPr lang="de-CH" noProof="0"/>
          </a:p>
        </p:txBody>
      </p:sp>
      <p:pic>
        <p:nvPicPr>
          <p:cNvPr id="14" name="Content Placeholder 7">
            <a:extLst>
              <a:ext uri="{FF2B5EF4-FFF2-40B4-BE49-F238E27FC236}">
                <a16:creationId xmlns:a16="http://schemas.microsoft.com/office/drawing/2014/main" id="{EC6DA0C2-3408-700F-414F-C995075713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578" y="1370099"/>
            <a:ext cx="7717790" cy="472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2121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640A9-F477-95EA-0D10-AF1C46DAAF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4400" dirty="0" err="1"/>
              <a:t>Summierte</a:t>
            </a:r>
            <a:r>
              <a:rPr lang="en-US" sz="4400" dirty="0"/>
              <a:t> Simpson-Regel</a:t>
            </a:r>
            <a:endParaRPr lang="en-CH" sz="4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67DBD-353D-BFEF-A975-EB307DDFF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16.10.2026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46EC4E-0776-55BC-CBD0-2BE8272C7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Department Informatik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3B5477-544E-7245-4938-C37EB55E4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20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7142218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FE179-294A-1FFB-6BD6-69977D04A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Rhomberg</a:t>
            </a:r>
            <a:endParaRPr lang="en-CH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CDF1DA-BC70-639E-E42D-15EFC5F16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EAFE7-317E-4912-B75C-DD6945F82242}" type="datetime1">
              <a:rPr lang="de-CH" noProof="0" smtClean="0"/>
              <a:t>16.10.2026</a:t>
            </a:fld>
            <a:endParaRPr lang="de-CH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98CBB6-4AAF-ED3C-F175-5FBFFD34B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Department Informatik</a:t>
            </a:r>
            <a:endParaRPr lang="de-CH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2A3927-A9FF-DCF4-799D-40B2907EF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pPr/>
              <a:t>21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0642981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E1BED-A321-0DE0-A533-222BD4850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Richardson is back…</a:t>
            </a:r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D4B861-EC81-7081-F905-5537BBA19B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Das Romberg-Schema </a:t>
            </a:r>
            <a:r>
              <a:rPr lang="en-US" dirty="0" err="1"/>
              <a:t>überträgt</a:t>
            </a:r>
            <a:r>
              <a:rPr lang="en-US" dirty="0"/>
              <a:t> die Idee des Richardson-Schemas auf die </a:t>
            </a:r>
            <a:r>
              <a:rPr lang="en-US" dirty="0" err="1"/>
              <a:t>Quadratur</a:t>
            </a:r>
            <a:r>
              <a:rPr lang="en-US" dirty="0"/>
              <a:t>. </a:t>
            </a:r>
            <a:endParaRPr lang="en-US" i="1" dirty="0"/>
          </a:p>
          <a:p>
            <a:pPr marL="0" indent="0">
              <a:buNone/>
            </a:pPr>
            <a:r>
              <a:rPr lang="en-US" dirty="0" err="1"/>
              <a:t>Jedes</a:t>
            </a:r>
            <a:r>
              <a:rPr lang="en-US" dirty="0"/>
              <a:t> Element </a:t>
            </a:r>
            <a:r>
              <a:rPr lang="en-US" dirty="0" err="1"/>
              <a:t>im</a:t>
            </a:r>
            <a:r>
              <a:rPr lang="en-US" dirty="0"/>
              <a:t> Schema </a:t>
            </a:r>
            <a:r>
              <a:rPr lang="en-US" dirty="0" err="1"/>
              <a:t>ist</a:t>
            </a:r>
            <a:r>
              <a:rPr lang="en-US" dirty="0"/>
              <a:t> </a:t>
            </a:r>
            <a:r>
              <a:rPr lang="en-US" dirty="0" err="1"/>
              <a:t>eine</a:t>
            </a:r>
            <a:r>
              <a:rPr lang="en-US" dirty="0"/>
              <a:t> </a:t>
            </a:r>
            <a:r>
              <a:rPr lang="en-US" dirty="0" err="1"/>
              <a:t>zunehmend</a:t>
            </a:r>
            <a:r>
              <a:rPr lang="en-US" dirty="0"/>
              <a:t> </a:t>
            </a:r>
            <a:r>
              <a:rPr lang="en-US" dirty="0" err="1"/>
              <a:t>bessere</a:t>
            </a:r>
            <a:r>
              <a:rPr lang="en-US" dirty="0"/>
              <a:t> </a:t>
            </a:r>
            <a:r>
              <a:rPr lang="en-US" dirty="0" err="1"/>
              <a:t>Annäherung</a:t>
            </a:r>
            <a:r>
              <a:rPr lang="en-US" dirty="0"/>
              <a:t> des Integrals.</a:t>
            </a:r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C4383-05DC-58E1-5A2A-2C1021D6E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16.10.2026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916D00-2737-46E9-3B49-F2B62C364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Department Informatik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D64C36-68FA-9AC0-2B1E-1CABB6330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22</a:t>
            </a:fld>
            <a:endParaRPr lang="de-CH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C1AFAD-6CEF-B5AA-A0F4-D8B8A6938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700" y="2598469"/>
            <a:ext cx="7026912" cy="3494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7180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45165-B599-31E8-3A4D-8ABFB3CA6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Romberg-Schema: Die </a:t>
            </a:r>
            <a:r>
              <a:rPr lang="en-US" dirty="0" err="1"/>
              <a:t>Formeln</a:t>
            </a:r>
            <a:endParaRPr lang="en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58A748-6C40-DA43-1D7B-78CAF85D52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Erste </a:t>
                </a:r>
                <a:r>
                  <a:rPr lang="en-US" dirty="0" err="1"/>
                  <a:t>Spalte</a:t>
                </a:r>
                <a:r>
                  <a:rPr lang="en-US" dirty="0"/>
                  <a:t>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ℎ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Summierte</a:t>
                </a:r>
                <a:r>
                  <a:rPr lang="en-US" dirty="0"/>
                  <a:t> </a:t>
                </a:r>
                <a:r>
                  <a:rPr lang="en-US" dirty="0" err="1"/>
                  <a:t>Trapezregel</a:t>
                </a:r>
                <a:r>
                  <a:rPr lang="en-US" dirty="0"/>
                  <a:t> auf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lang="en-US" dirty="0"/>
                  <a:t> intervallen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Weitere</a:t>
                </a:r>
                <a:r>
                  <a:rPr lang="en-US" dirty="0"/>
                  <a:t> </a:t>
                </a:r>
                <a:r>
                  <a:rPr lang="en-US" dirty="0" err="1"/>
                  <a:t>Spalten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58A748-6C40-DA43-1D7B-78CAF85D52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7" t="-1695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C7B38-5D89-3FE7-7FA9-47BB868BF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16.10.2026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CD459A-8FA0-9204-4226-6F68CBA33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Department Informatik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F136A-BD2D-644E-4F64-358F231BA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23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33393967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C2662-306B-2780-3618-2094BC3E5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Romberg-Schema: </a:t>
            </a:r>
            <a:r>
              <a:rPr lang="en-US" dirty="0" err="1"/>
              <a:t>Konvergenz</a:t>
            </a:r>
            <a:endParaRPr lang="en-CH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BCA47DF-3574-4BF8-0DA7-9DE3033C19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51934" y="1104899"/>
            <a:ext cx="6888134" cy="529590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B507B-78E4-B2F9-BBEE-B62D46B1A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16.10.2026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0B159C-ADFC-A529-8622-58354E636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Department Informatik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EA0D03-7120-50B3-F741-76184D0EF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24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36352632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AFEA4-B2CD-2EFD-91E3-6F2ABC69D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4400" dirty="0"/>
              <a:t>Problem…</a:t>
            </a:r>
            <a:endParaRPr lang="en-CH" sz="4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FB4F18-6759-0B7B-85D4-04C7FC4E1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16.10.2026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A2A503-E57C-7B36-6173-ED5A298AB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Department Informatik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1C8FCD-72CD-4ED3-6A0D-7AA823CBE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25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94274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B6E4D-E0DB-8080-1E8C-F565B5E9B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Was tun </a:t>
            </a:r>
            <a:r>
              <a:rPr lang="en-US" dirty="0" err="1"/>
              <a:t>wir</a:t>
            </a:r>
            <a:r>
              <a:rPr lang="en-US" dirty="0"/>
              <a:t> </a:t>
            </a:r>
            <a:r>
              <a:rPr lang="en-US" dirty="0" err="1"/>
              <a:t>hier</a:t>
            </a:r>
            <a:r>
              <a:rPr lang="en-US" dirty="0"/>
              <a:t>?</a:t>
            </a:r>
            <a:endParaRPr lang="en-CH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853348D-2809-B69F-F1F4-E55BCBAA01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44952" y="1412875"/>
            <a:ext cx="6190003" cy="467995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EAF6B0-5D35-B3D3-A5F5-C10F6B369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16.10.2026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9C749-CC74-D11C-6610-55CC8F269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Department Informatik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A59DB1-2F38-0C90-96BB-46CD357A8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26</a:t>
            </a:fld>
            <a:endParaRPr lang="de-CH" noProof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48353D4-B045-BB89-CB4D-0B3949649F7D}"/>
              </a:ext>
            </a:extLst>
          </p:cNvPr>
          <p:cNvSpPr txBox="1">
            <a:spLocks/>
          </p:cNvSpPr>
          <p:nvPr/>
        </p:nvSpPr>
        <p:spPr>
          <a:xfrm>
            <a:off x="731837" y="1412875"/>
            <a:ext cx="3288834" cy="46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70000" indent="-27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163" indent="-27146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0000" indent="-270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0000" indent="-27146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50000" indent="-270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Sehr </a:t>
            </a:r>
            <a:r>
              <a:rPr lang="en-US" dirty="0" err="1"/>
              <a:t>unregelmässige</a:t>
            </a:r>
            <a:r>
              <a:rPr lang="en-US" dirty="0"/>
              <a:t> </a:t>
            </a:r>
            <a:r>
              <a:rPr lang="en-US" dirty="0" err="1"/>
              <a:t>Funktion</a:t>
            </a:r>
            <a:r>
              <a:rPr lang="en-US" dirty="0"/>
              <a:t>: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err="1"/>
              <a:t>Äquidistante</a:t>
            </a:r>
            <a:r>
              <a:rPr lang="en-US" dirty="0"/>
              <a:t> </a:t>
            </a:r>
            <a:r>
              <a:rPr lang="en-US" dirty="0" err="1"/>
              <a:t>Stützstellen</a:t>
            </a:r>
            <a:r>
              <a:rPr lang="en-US" dirty="0"/>
              <a:t> </a:t>
            </a:r>
            <a:r>
              <a:rPr lang="en-US" dirty="0" err="1"/>
              <a:t>werden</a:t>
            </a:r>
            <a:r>
              <a:rPr lang="en-US" dirty="0"/>
              <a:t> nicht </a:t>
            </a:r>
            <a:r>
              <a:rPr lang="en-US" dirty="0" err="1"/>
              <a:t>funktionieren</a:t>
            </a:r>
            <a:r>
              <a:rPr lang="en-US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3540675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E72C2-CD2C-CBF4-FF5E-9E0A6F147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Adaptive </a:t>
            </a:r>
            <a:r>
              <a:rPr lang="en-US" dirty="0" err="1"/>
              <a:t>Quadratur</a:t>
            </a:r>
            <a:endParaRPr lang="en-CH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742C9D-0A37-74CF-D4DB-EE886D7A4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EAFE7-317E-4912-B75C-DD6945F82242}" type="datetime1">
              <a:rPr lang="de-CH" noProof="0" smtClean="0"/>
              <a:t>16.10.2026</a:t>
            </a:fld>
            <a:endParaRPr lang="de-CH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4981A1-2993-1451-DBD2-9CB020775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Department Informatik</a:t>
            </a:r>
            <a:endParaRPr lang="de-CH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748ACD-4A7F-F207-D082-77194DFBC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pPr/>
              <a:t>27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8613070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32330-D1F8-B549-4F38-7851DDD48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Adaptive </a:t>
            </a:r>
            <a:r>
              <a:rPr lang="en-US" dirty="0" err="1"/>
              <a:t>Quadratur</a:t>
            </a:r>
            <a:endParaRPr lang="en-CH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D716570-8E17-288E-7ACC-B5E9597629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94382" y="1501587"/>
            <a:ext cx="6203238" cy="450252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4B3746-4BA3-B661-615C-D9750A389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16.10.2026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6A7E9C-377D-8433-E222-1C5C9EEF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Department Informatik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D37D7C-0271-95CD-E2F0-C760BB1AA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28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31656226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A71FBB-3009-40AD-979B-DB4E5F5928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noProof="0" dirty="0"/>
              <a:t>Jonas Vonäsch</a:t>
            </a:r>
          </a:p>
          <a:p>
            <a:r>
              <a:rPr lang="de-CH" noProof="0" dirty="0"/>
              <a:t>Teaching Assistant NumCS</a:t>
            </a:r>
          </a:p>
          <a:p>
            <a:r>
              <a:rPr lang="de-CH" noProof="0" dirty="0"/>
              <a:t>jvonaesch@student.ethz.ch</a:t>
            </a:r>
          </a:p>
          <a:p>
            <a:endParaRPr lang="de-CH" noProof="0" dirty="0"/>
          </a:p>
          <a:p>
            <a:r>
              <a:rPr lang="de-CH" dirty="0"/>
              <a:t>j</a:t>
            </a:r>
            <a:r>
              <a:rPr lang="de-CH" noProof="0" dirty="0"/>
              <a:t>vonaesch.github.io</a:t>
            </a:r>
          </a:p>
        </p:txBody>
      </p:sp>
      <p:sp>
        <p:nvSpPr>
          <p:cNvPr id="2" name="Bildplatzhalter 1">
            <a:extLst>
              <a:ext uri="{FF2B5EF4-FFF2-40B4-BE49-F238E27FC236}">
                <a16:creationId xmlns:a16="http://schemas.microsoft.com/office/drawing/2014/main" id="{A7932926-A987-44F4-A8A1-AB55FBE1FD4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de-CH" noProof="0" dirty="0"/>
          </a:p>
        </p:txBody>
      </p:sp>
    </p:spTree>
    <p:extLst>
      <p:ext uri="{BB962C8B-B14F-4D97-AF65-F5344CB8AC3E}">
        <p14:creationId xmlns:p14="http://schemas.microsoft.com/office/powerpoint/2010/main" val="1284261725"/>
      </p:ext>
    </p:extLst>
  </p:cSld>
  <p:clrMapOvr>
    <a:masterClrMapping/>
  </p:clrMapOvr>
</p:sld>
</file>

<file path=ppt/theme/theme1.xml><?xml version="1.0" encoding="utf-8"?>
<a:theme xmlns:a="http://schemas.openxmlformats.org/drawingml/2006/main" name="ETH Zürich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ETH Blau">
      <a:srgbClr val="215CAF"/>
    </a:custClr>
    <a:custClr name="ETH Petrol">
      <a:srgbClr val="007894"/>
    </a:custClr>
    <a:custClr name="ETH Gruen">
      <a:srgbClr val="627313"/>
    </a:custClr>
    <a:custClr name="ETH Bronze">
      <a:srgbClr val="8E6713"/>
    </a:custClr>
    <a:custClr name="ETH Rot">
      <a:srgbClr val="B7352D"/>
    </a:custClr>
    <a:custClr name="ETH Purpur">
      <a:srgbClr val="A30774"/>
    </a:custClr>
    <a:custClr name="ETH Grau">
      <a:srgbClr val="6F6F6F"/>
    </a:custClr>
  </a:custClrLst>
  <a:extLst>
    <a:ext uri="{05A4C25C-085E-4340-85A3-A5531E510DB2}">
      <thm15:themeFamily xmlns:thm15="http://schemas.microsoft.com/office/thememl/2012/main" name="NumCS Powerpoint.potx" id="{9D12AF97-3938-44EF-A197-3C3608B29A94}" vid="{D7EF6B36-1E67-4BCE-AB4F-15EB1D3AABE5}"/>
    </a:ext>
  </a:extLst>
</a:theme>
</file>

<file path=ppt/theme/theme2.xml><?xml version="1.0" encoding="utf-8"?>
<a:theme xmlns:a="http://schemas.openxmlformats.org/drawingml/2006/main" name="Office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ETH Blau">
      <a:srgbClr val="215CAF"/>
    </a:custClr>
    <a:custClr name="ETH Petrol">
      <a:srgbClr val="007894"/>
    </a:custClr>
    <a:custClr name="ETH Gruen">
      <a:srgbClr val="627313"/>
    </a:custClr>
    <a:custClr name="ETH Bronze">
      <a:srgbClr val="8E6713"/>
    </a:custClr>
    <a:custClr name="ETH Rot">
      <a:srgbClr val="B7352D"/>
    </a:custClr>
    <a:custClr name="ETH Purpur">
      <a:srgbClr val="A30774"/>
    </a:custClr>
    <a:custClr name="ETH Grau">
      <a:srgbClr val="6F6F6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NumCS Powerpoint</Template>
  <TotalTime>508</TotalTime>
  <Words>686</Words>
  <Application>Microsoft Office PowerPoint</Application>
  <PresentationFormat>Widescreen</PresentationFormat>
  <Paragraphs>229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Cambria Math</vt:lpstr>
      <vt:lpstr>Symbol</vt:lpstr>
      <vt:lpstr>ETH Zürich</vt:lpstr>
      <vt:lpstr>Woche 5:  </vt:lpstr>
      <vt:lpstr>Agenda</vt:lpstr>
      <vt:lpstr>Quadratur</vt:lpstr>
      <vt:lpstr>Quadratur: Idee</vt:lpstr>
      <vt:lpstr>Quadratur: Idee</vt:lpstr>
      <vt:lpstr>PowerPoint Presentation</vt:lpstr>
      <vt:lpstr>Beispiel: Quadratur mit Lagrange</vt:lpstr>
      <vt:lpstr>Fehler, Konvergenz, Ordnung</vt:lpstr>
      <vt:lpstr>Quadratur: Konvergenz</vt:lpstr>
      <vt:lpstr>Quadratur: Ordnung</vt:lpstr>
      <vt:lpstr>Äquidistante Quadraturregeln</vt:lpstr>
      <vt:lpstr>Mittelpunkt-Regel</vt:lpstr>
      <vt:lpstr>Trapez-Regel</vt:lpstr>
      <vt:lpstr>Simpson-Regel</vt:lpstr>
      <vt:lpstr>Quadraturformeln: Symmetrie</vt:lpstr>
      <vt:lpstr>Summierte Quadraturformeln</vt:lpstr>
      <vt:lpstr>Summierte Quadraturformeln</vt:lpstr>
      <vt:lpstr>Beispiel: Summierte Trapezregel</vt:lpstr>
      <vt:lpstr>Beispiel: Summierte Simpson-Regel</vt:lpstr>
      <vt:lpstr>PowerPoint Presentation</vt:lpstr>
      <vt:lpstr>Rhomberg</vt:lpstr>
      <vt:lpstr>Richardson is back…</vt:lpstr>
      <vt:lpstr>Romberg-Schema: Die Formeln</vt:lpstr>
      <vt:lpstr>Romberg-Schema: Konvergenz</vt:lpstr>
      <vt:lpstr>PowerPoint Presentation</vt:lpstr>
      <vt:lpstr>Was tun wir hier?</vt:lpstr>
      <vt:lpstr>Adaptive Quadratur</vt:lpstr>
      <vt:lpstr>Adaptive Quadratur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Jonas Vonäsch</dc:creator>
  <cp:lastModifiedBy>Jonas Vonäsch</cp:lastModifiedBy>
  <cp:revision>206</cp:revision>
  <dcterms:created xsi:type="dcterms:W3CDTF">2026-10-14T08:29:07Z</dcterms:created>
  <dcterms:modified xsi:type="dcterms:W3CDTF">2026-10-16T14:19:16Z</dcterms:modified>
</cp:coreProperties>
</file>