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279" r:id="rId3"/>
    <p:sldId id="278" r:id="rId4"/>
    <p:sldId id="293" r:id="rId5"/>
    <p:sldId id="261" r:id="rId6"/>
    <p:sldId id="284" r:id="rId7"/>
    <p:sldId id="294" r:id="rId8"/>
    <p:sldId id="280" r:id="rId9"/>
    <p:sldId id="285" r:id="rId10"/>
    <p:sldId id="286" r:id="rId11"/>
    <p:sldId id="288" r:id="rId12"/>
    <p:sldId id="281" r:id="rId13"/>
    <p:sldId id="282" r:id="rId14"/>
    <p:sldId id="263" r:id="rId15"/>
    <p:sldId id="287" r:id="rId16"/>
    <p:sldId id="289" r:id="rId17"/>
    <p:sldId id="290" r:id="rId18"/>
    <p:sldId id="291" r:id="rId19"/>
    <p:sldId id="292" r:id="rId20"/>
    <p:sldId id="295" r:id="rId21"/>
    <p:sldId id="296" r:id="rId22"/>
    <p:sldId id="297" r:id="rId23"/>
    <p:sldId id="275" r:id="rId2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2C34"/>
    <a:srgbClr val="007A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9" autoAdjust="0"/>
    <p:restoredTop sz="94660"/>
  </p:normalViewPr>
  <p:slideViewPr>
    <p:cSldViewPr snapToGrid="0" showGuides="1">
      <p:cViewPr varScale="1">
        <p:scale>
          <a:sx n="88" d="100"/>
          <a:sy n="88" d="100"/>
        </p:scale>
        <p:origin x="89" y="58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0" d="100"/>
          <a:sy n="80" d="100"/>
        </p:scale>
        <p:origin x="4176" y="4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8AF70A90-CA7E-49EB-AB17-C37FEDD075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A7711EA-1FBE-4E98-9D43-C2D65C45D0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8ABEA4-9216-4FDF-AAE1-D8632908A8EC}" type="datetimeFigureOut">
              <a:rPr lang="de-CH" smtClean="0"/>
              <a:t>17.09.2026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2CCD3C8-8930-4E0E-A891-B770724F2B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798FB5-86BC-42DA-9D05-F96D484814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85DCD-866D-47AE-A236-118539F53379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232272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8A90D-FE7E-41AF-B03D-808D82937CB9}" type="datetimeFigureOut">
              <a:rPr lang="de-CH" smtClean="0"/>
              <a:t>17.09.2026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5DDFD-030C-4D5A-B33E-3A7E7538D2BE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4149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2772000"/>
          </a:xfrm>
          <a:solidFill>
            <a:schemeClr val="accent1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de-CH" noProof="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3C296D1-2CD0-479F-A866-6EC741D2293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E41BE31-9613-4103-99FF-7DCFF643B3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DEB298C-798E-4D73-9DD6-F896C06530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D-Infk ETHZ</a:t>
            </a:r>
            <a:endParaRPr lang="de-CH" noProof="0" dirty="0"/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93381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  <p15:guide id="3" orient="horz" pos="640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pos="61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8A01615F-450E-43D0-B554-DA3FBD48DF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0" tIns="0" rIns="5580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4000" y="2957494"/>
            <a:ext cx="5688000" cy="2268000"/>
          </a:xfrm>
          <a:solidFill>
            <a:schemeClr val="accent6"/>
          </a:solidFill>
        </p:spPr>
        <p:txBody>
          <a:bodyPr lIns="324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de-CH" noProof="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9" name="Textplatzhalter 3">
            <a:extLst>
              <a:ext uri="{FF2B5EF4-FFF2-40B4-BE49-F238E27FC236}">
                <a16:creationId xmlns:a16="http://schemas.microsoft.com/office/drawing/2014/main" id="{003A487C-8977-4264-A8A1-D6C1DB6046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45210" y="4639666"/>
            <a:ext cx="4320000" cy="46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E91D3734-CD8F-4F94-A813-570EF31C473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547D2927-4A99-4714-8EBA-F773EAA263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r>
              <a:rPr lang="de-DE" dirty="0"/>
              <a:t>D-Infk ETHZ</a:t>
            </a:r>
            <a:endParaRPr lang="de-CH" noProof="0" dirty="0"/>
          </a:p>
        </p:txBody>
      </p:sp>
    </p:spTree>
    <p:extLst>
      <p:ext uri="{BB962C8B-B14F-4D97-AF65-F5344CB8AC3E}">
        <p14:creationId xmlns:p14="http://schemas.microsoft.com/office/powerpoint/2010/main" val="100241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2D94F76-218E-49F2-87F8-05982912ED18}"/>
              </a:ext>
            </a:extLst>
          </p:cNvPr>
          <p:cNvSpPr/>
          <p:nvPr userDrawn="1"/>
        </p:nvSpPr>
        <p:spPr>
          <a:xfrm>
            <a:off x="731838" y="1016000"/>
            <a:ext cx="10728325" cy="5257800"/>
          </a:xfrm>
          <a:prstGeom prst="rect">
            <a:avLst/>
          </a:prstGeom>
          <a:solidFill>
            <a:srgbClr val="8E67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940405"/>
            <a:ext cx="10188000" cy="3420000"/>
          </a:xfrm>
          <a:solidFill>
            <a:schemeClr val="accent3"/>
          </a:solidFill>
          <a:ln>
            <a:noFill/>
          </a:ln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0503E57F-F89F-431B-8D38-7CC97B7C20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4217884"/>
            <a:ext cx="864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1BEB6197-C509-4752-B57E-CEE955F5D92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4ADF7DEC-21BD-45CA-9E91-B9F58A69F6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r>
              <a:rPr lang="de-DE" dirty="0"/>
              <a:t>D-Infk ETHZ</a:t>
            </a:r>
            <a:endParaRPr lang="de-CH" noProof="0" dirty="0"/>
          </a:p>
        </p:txBody>
      </p:sp>
    </p:spTree>
    <p:extLst>
      <p:ext uri="{BB962C8B-B14F-4D97-AF65-F5344CB8AC3E}">
        <p14:creationId xmlns:p14="http://schemas.microsoft.com/office/powerpoint/2010/main" val="3924069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837" y="1016000"/>
            <a:ext cx="10728326" cy="5256000"/>
          </a:xfrm>
          <a:solidFill>
            <a:schemeClr val="accent6"/>
          </a:solidFill>
          <a:ln>
            <a:noFill/>
          </a:ln>
        </p:spPr>
        <p:txBody>
          <a:bodyPr lIns="324000" tIns="11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6" name="Textplatzhalter 3">
            <a:extLst>
              <a:ext uri="{FF2B5EF4-FFF2-40B4-BE49-F238E27FC236}">
                <a16:creationId xmlns:a16="http://schemas.microsoft.com/office/drawing/2014/main" id="{5FCAD79B-EF47-46A0-9575-229F3DAA72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5" y="5122625"/>
            <a:ext cx="10044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72236FC6-C8FF-43C1-86B9-BF112345926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789A3267-E086-4EC3-A0BB-F8ECD01A5C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r>
              <a:rPr lang="de-DE" dirty="0"/>
              <a:t>D-Infk ETHZ</a:t>
            </a:r>
            <a:endParaRPr lang="de-CH" noProof="0" dirty="0"/>
          </a:p>
        </p:txBody>
      </p:sp>
    </p:spTree>
    <p:extLst>
      <p:ext uri="{BB962C8B-B14F-4D97-AF65-F5344CB8AC3E}">
        <p14:creationId xmlns:p14="http://schemas.microsoft.com/office/powerpoint/2010/main" val="732532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 – Uni Zür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2772000"/>
          </a:xfrm>
          <a:solidFill>
            <a:schemeClr val="accent2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93E2EDD-B19F-478D-BB03-AD55EC1E86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7672" y="228020"/>
            <a:ext cx="3679200" cy="552508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D364BCB8-820F-4C3A-BA37-7048A4C8D4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A73913C2-8DFE-4F15-B2DB-2A6D5C2670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791A1AD7-DB7D-4C75-BEFB-EB6D34D3B2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r>
              <a:rPr lang="de-DE" dirty="0"/>
              <a:t>D-Infk ETHZ</a:t>
            </a:r>
            <a:endParaRPr lang="de-CH" noProof="0" dirty="0"/>
          </a:p>
        </p:txBody>
      </p:sp>
    </p:spTree>
    <p:extLst>
      <p:ext uri="{BB962C8B-B14F-4D97-AF65-F5344CB8AC3E}">
        <p14:creationId xmlns:p14="http://schemas.microsoft.com/office/powerpoint/2010/main" val="2789257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39750" indent="-539750">
              <a:buFont typeface="+mj-lt"/>
              <a:buAutoNum type="arabicPeriod"/>
              <a:defRPr sz="2000"/>
            </a:lvl1pPr>
            <a:lvl2pPr marL="1079500" indent="-539750">
              <a:buFont typeface="+mj-lt"/>
              <a:buAutoNum type="arabicPeriod"/>
              <a:defRPr sz="2000"/>
            </a:lvl2pPr>
            <a:lvl3pPr marL="1612900" indent="-533400">
              <a:buFont typeface="+mj-lt"/>
              <a:buAutoNum type="arabicPeriod"/>
              <a:defRPr sz="2000"/>
            </a:lvl3pPr>
            <a:lvl4pPr marL="2152650" indent="-539750">
              <a:buFont typeface="+mj-lt"/>
              <a:buAutoNum type="arabicPeriod"/>
              <a:defRPr sz="2000"/>
            </a:lvl4pPr>
            <a:lvl5pPr marL="2692400" indent="-539750">
              <a:buFont typeface="+mj-lt"/>
              <a:buAutoNum type="arabicPeriod"/>
              <a:defRPr sz="20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de-CH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17.09.2026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D-Infk ETHZ</a:t>
            </a:r>
            <a:endParaRPr lang="de-CH" dirty="0"/>
          </a:p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599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de-CH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17.09.2026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D-Infk ETHZ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753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Fuss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1E762-278A-4155-9BEB-7C2CB2386E92}" type="datetime1">
              <a:rPr lang="de-CH" noProof="0" smtClean="0"/>
              <a:t>17.09.2026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D-Infk ETHZ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2F6D94FA-21C6-4AE0-AA4F-3A077810ED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836" y="5570135"/>
            <a:ext cx="5364164" cy="721233"/>
          </a:xfrm>
        </p:spPr>
        <p:txBody>
          <a:bodyPr anchor="b" anchorCtr="0"/>
          <a:lstStyle>
            <a:lvl1pPr marL="179388" indent="-179388">
              <a:spcBef>
                <a:spcPts val="0"/>
              </a:spcBef>
              <a:buFont typeface="+mj-lt"/>
              <a:buAutoNum type="arabicPeriod"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001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224781"/>
            <a:ext cx="10728325" cy="1260000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C4EAFE7-317E-4912-B75C-DD6945F82242}" type="datetime1">
              <a:rPr lang="de-CH" noProof="0" smtClean="0"/>
              <a:t>17.09.2026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D-Infk ETHZ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‹#›</a:t>
            </a:fld>
            <a:endParaRPr lang="de-CH" noProof="0"/>
          </a:p>
        </p:txBody>
      </p:sp>
      <p:grpSp>
        <p:nvGrpSpPr>
          <p:cNvPr id="10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GrpSpPr/>
          <p:nvPr/>
        </p:nvGrpSpPr>
        <p:grpSpPr>
          <a:xfrm>
            <a:off x="731837" y="6507088"/>
            <a:ext cx="984462" cy="162000"/>
            <a:chOff x="731837" y="6507088"/>
            <a:chExt cx="984462" cy="162000"/>
          </a:xfrm>
          <a:solidFill>
            <a:schemeClr val="bg1"/>
          </a:solidFill>
        </p:grpSpPr>
        <p:grpSp>
          <p:nvGrpSpPr>
            <p:cNvPr id="12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266489" y="6555186"/>
              <a:ext cx="197463" cy="110963"/>
              <a:chOff x="1266489" y="6555186"/>
              <a:chExt cx="197463" cy="110963"/>
            </a:xfrm>
            <a:grpFill/>
          </p:grpSpPr>
          <p:sp>
            <p:nvSpPr>
              <p:cNvPr id="13" name="Freihandform: Form 12">
                <a:extLst>
                  <a:ext uri="{FF2B5EF4-FFF2-40B4-BE49-F238E27FC236}">
                    <a16:creationId xmlns:a16="http://schemas.microsoft.com/office/drawing/2014/main" id="{18BB0752-F87C-44D9-A9A5-97AF1DEDA1AE}"/>
                  </a:ext>
                </a:extLst>
              </p:cNvPr>
              <p:cNvSpPr/>
              <p:nvPr/>
            </p:nvSpPr>
            <p:spPr>
              <a:xfrm>
                <a:off x="1266489" y="6556934"/>
                <a:ext cx="95902" cy="109216"/>
              </a:xfrm>
              <a:custGeom>
                <a:avLst/>
                <a:gdLst>
                  <a:gd name="connsiteX0" fmla="*/ 66742 w 95902"/>
                  <a:gd name="connsiteY0" fmla="*/ 65797 h 109216"/>
                  <a:gd name="connsiteX1" fmla="*/ 35339 w 95902"/>
                  <a:gd name="connsiteY1" fmla="*/ 95082 h 109216"/>
                  <a:gd name="connsiteX2" fmla="*/ 15953 w 95902"/>
                  <a:gd name="connsiteY2" fmla="*/ 79537 h 109216"/>
                  <a:gd name="connsiteX3" fmla="*/ 15899 w 95902"/>
                  <a:gd name="connsiteY3" fmla="*/ 76265 h 109216"/>
                  <a:gd name="connsiteX4" fmla="*/ 16896 w 95902"/>
                  <a:gd name="connsiteY4" fmla="*/ 66295 h 109216"/>
                  <a:gd name="connsiteX5" fmla="*/ 30230 w 95902"/>
                  <a:gd name="connsiteY5" fmla="*/ 0 h 109216"/>
                  <a:gd name="connsiteX6" fmla="*/ 30230 w 95902"/>
                  <a:gd name="connsiteY6" fmla="*/ 0 h 109216"/>
                  <a:gd name="connsiteX7" fmla="*/ 14528 w 95902"/>
                  <a:gd name="connsiteY7" fmla="*/ 0 h 109216"/>
                  <a:gd name="connsiteX8" fmla="*/ 1194 w 95902"/>
                  <a:gd name="connsiteY8" fmla="*/ 67791 h 109216"/>
                  <a:gd name="connsiteX9" fmla="*/ 1194 w 95902"/>
                  <a:gd name="connsiteY9" fmla="*/ 68788 h 109216"/>
                  <a:gd name="connsiteX10" fmla="*/ 73 w 95902"/>
                  <a:gd name="connsiteY10" fmla="*/ 78508 h 109216"/>
                  <a:gd name="connsiteX11" fmla="*/ 26638 w 95902"/>
                  <a:gd name="connsiteY11" fmla="*/ 109122 h 109216"/>
                  <a:gd name="connsiteX12" fmla="*/ 29980 w 95902"/>
                  <a:gd name="connsiteY12" fmla="*/ 109163 h 109216"/>
                  <a:gd name="connsiteX13" fmla="*/ 61384 w 95902"/>
                  <a:gd name="connsiteY13" fmla="*/ 96702 h 109216"/>
                  <a:gd name="connsiteX14" fmla="*/ 59265 w 95902"/>
                  <a:gd name="connsiteY14" fmla="*/ 107917 h 109216"/>
                  <a:gd name="connsiteX15" fmla="*/ 59265 w 95902"/>
                  <a:gd name="connsiteY15" fmla="*/ 107917 h 109216"/>
                  <a:gd name="connsiteX16" fmla="*/ 74842 w 95902"/>
                  <a:gd name="connsiteY16" fmla="*/ 107917 h 109216"/>
                  <a:gd name="connsiteX17" fmla="*/ 95902 w 95902"/>
                  <a:gd name="connsiteY17" fmla="*/ 0 h 109216"/>
                  <a:gd name="connsiteX18" fmla="*/ 95902 w 95902"/>
                  <a:gd name="connsiteY18" fmla="*/ 0 h 109216"/>
                  <a:gd name="connsiteX19" fmla="*/ 79951 w 95902"/>
                  <a:gd name="connsiteY19" fmla="*/ 0 h 109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5902" h="109216">
                    <a:moveTo>
                      <a:pt x="66742" y="65797"/>
                    </a:moveTo>
                    <a:cubicBezTo>
                      <a:pt x="65228" y="82115"/>
                      <a:pt x="51723" y="94709"/>
                      <a:pt x="35339" y="95082"/>
                    </a:cubicBezTo>
                    <a:cubicBezTo>
                      <a:pt x="25692" y="96142"/>
                      <a:pt x="17013" y="89183"/>
                      <a:pt x="15953" y="79537"/>
                    </a:cubicBezTo>
                    <a:cubicBezTo>
                      <a:pt x="15833" y="78450"/>
                      <a:pt x="15814" y="77355"/>
                      <a:pt x="15899" y="76265"/>
                    </a:cubicBezTo>
                    <a:cubicBezTo>
                      <a:pt x="15976" y="72921"/>
                      <a:pt x="16309" y="69588"/>
                      <a:pt x="16896" y="66295"/>
                    </a:cubicBezTo>
                    <a:lnTo>
                      <a:pt x="30230" y="0"/>
                    </a:lnTo>
                    <a:lnTo>
                      <a:pt x="30230" y="0"/>
                    </a:lnTo>
                    <a:lnTo>
                      <a:pt x="14528" y="0"/>
                    </a:lnTo>
                    <a:lnTo>
                      <a:pt x="1194" y="67791"/>
                    </a:lnTo>
                    <a:lnTo>
                      <a:pt x="1194" y="68788"/>
                    </a:lnTo>
                    <a:cubicBezTo>
                      <a:pt x="472" y="71978"/>
                      <a:pt x="95" y="75237"/>
                      <a:pt x="73" y="78508"/>
                    </a:cubicBezTo>
                    <a:cubicBezTo>
                      <a:pt x="-1045" y="94298"/>
                      <a:pt x="10848" y="108004"/>
                      <a:pt x="26638" y="109122"/>
                    </a:cubicBezTo>
                    <a:cubicBezTo>
                      <a:pt x="27751" y="109200"/>
                      <a:pt x="28866" y="109214"/>
                      <a:pt x="29980" y="109163"/>
                    </a:cubicBezTo>
                    <a:cubicBezTo>
                      <a:pt x="41760" y="109765"/>
                      <a:pt x="53221" y="105218"/>
                      <a:pt x="61384" y="96702"/>
                    </a:cubicBezTo>
                    <a:lnTo>
                      <a:pt x="59265" y="107917"/>
                    </a:lnTo>
                    <a:lnTo>
                      <a:pt x="59265" y="107917"/>
                    </a:lnTo>
                    <a:lnTo>
                      <a:pt x="74842" y="107917"/>
                    </a:lnTo>
                    <a:lnTo>
                      <a:pt x="95902" y="0"/>
                    </a:lnTo>
                    <a:lnTo>
                      <a:pt x="95902" y="0"/>
                    </a:lnTo>
                    <a:lnTo>
                      <a:pt x="79951" y="0"/>
                    </a:lnTo>
                    <a:close/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4" name="Freihandform: Form 13">
                <a:extLst>
                  <a:ext uri="{FF2B5EF4-FFF2-40B4-BE49-F238E27FC236}">
                    <a16:creationId xmlns:a16="http://schemas.microsoft.com/office/drawing/2014/main" id="{ED44DE23-7081-4AC9-BF06-502BEC71C004}"/>
                  </a:ext>
                </a:extLst>
              </p:cNvPr>
              <p:cNvSpPr/>
              <p:nvPr/>
            </p:nvSpPr>
            <p:spPr>
              <a:xfrm>
                <a:off x="1376472" y="6555186"/>
                <a:ext cx="87480" cy="109664"/>
              </a:xfrm>
              <a:custGeom>
                <a:avLst/>
                <a:gdLst>
                  <a:gd name="connsiteX0" fmla="*/ 64302 w 87480"/>
                  <a:gd name="connsiteY0" fmla="*/ 3 h 109664"/>
                  <a:gd name="connsiteX1" fmla="*/ 34518 w 87480"/>
                  <a:gd name="connsiteY1" fmla="*/ 14209 h 109664"/>
                  <a:gd name="connsiteX2" fmla="*/ 36886 w 87480"/>
                  <a:gd name="connsiteY2" fmla="*/ 1747 h 109664"/>
                  <a:gd name="connsiteX3" fmla="*/ 36886 w 87480"/>
                  <a:gd name="connsiteY3" fmla="*/ 1747 h 109664"/>
                  <a:gd name="connsiteX4" fmla="*/ 21434 w 87480"/>
                  <a:gd name="connsiteY4" fmla="*/ 1747 h 109664"/>
                  <a:gd name="connsiteX5" fmla="*/ 0 w 87480"/>
                  <a:gd name="connsiteY5" fmla="*/ 109664 h 109664"/>
                  <a:gd name="connsiteX6" fmla="*/ 0 w 87480"/>
                  <a:gd name="connsiteY6" fmla="*/ 109664 h 109664"/>
                  <a:gd name="connsiteX7" fmla="*/ 15826 w 87480"/>
                  <a:gd name="connsiteY7" fmla="*/ 109664 h 109664"/>
                  <a:gd name="connsiteX8" fmla="*/ 28288 w 87480"/>
                  <a:gd name="connsiteY8" fmla="*/ 43493 h 109664"/>
                  <a:gd name="connsiteX9" fmla="*/ 59940 w 87480"/>
                  <a:gd name="connsiteY9" fmla="*/ 14209 h 109664"/>
                  <a:gd name="connsiteX10" fmla="*/ 75019 w 87480"/>
                  <a:gd name="connsiteY10" fmla="*/ 21810 h 109664"/>
                  <a:gd name="connsiteX11" fmla="*/ 75019 w 87480"/>
                  <a:gd name="connsiteY11" fmla="*/ 21810 h 109664"/>
                  <a:gd name="connsiteX12" fmla="*/ 87480 w 87480"/>
                  <a:gd name="connsiteY12" fmla="*/ 10346 h 109664"/>
                  <a:gd name="connsiteX13" fmla="*/ 87480 w 87480"/>
                  <a:gd name="connsiteY13" fmla="*/ 10346 h 109664"/>
                  <a:gd name="connsiteX14" fmla="*/ 63928 w 87480"/>
                  <a:gd name="connsiteY14" fmla="*/ 252 h 10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7480" h="109664">
                    <a:moveTo>
                      <a:pt x="64302" y="3"/>
                    </a:moveTo>
                    <a:cubicBezTo>
                      <a:pt x="52709" y="-136"/>
                      <a:pt x="41706" y="5111"/>
                      <a:pt x="34518" y="14209"/>
                    </a:cubicBezTo>
                    <a:lnTo>
                      <a:pt x="36886" y="1747"/>
                    </a:lnTo>
                    <a:lnTo>
                      <a:pt x="36886" y="1747"/>
                    </a:lnTo>
                    <a:lnTo>
                      <a:pt x="21434" y="1747"/>
                    </a:lnTo>
                    <a:lnTo>
                      <a:pt x="0" y="109664"/>
                    </a:lnTo>
                    <a:lnTo>
                      <a:pt x="0" y="109664"/>
                    </a:lnTo>
                    <a:lnTo>
                      <a:pt x="15826" y="109664"/>
                    </a:lnTo>
                    <a:lnTo>
                      <a:pt x="28288" y="43493"/>
                    </a:lnTo>
                    <a:cubicBezTo>
                      <a:pt x="30515" y="27438"/>
                      <a:pt x="43760" y="15183"/>
                      <a:pt x="59940" y="14209"/>
                    </a:cubicBezTo>
                    <a:cubicBezTo>
                      <a:pt x="65919" y="14072"/>
                      <a:pt x="71573" y="16922"/>
                      <a:pt x="75019" y="21810"/>
                    </a:cubicBezTo>
                    <a:lnTo>
                      <a:pt x="75019" y="21810"/>
                    </a:lnTo>
                    <a:lnTo>
                      <a:pt x="87480" y="10346"/>
                    </a:lnTo>
                    <a:lnTo>
                      <a:pt x="87480" y="10346"/>
                    </a:lnTo>
                    <a:cubicBezTo>
                      <a:pt x="81552" y="3603"/>
                      <a:pt x="72899" y="-105"/>
                      <a:pt x="63928" y="2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18C24FD2-AEE2-43CA-8EB3-8E646C2E5E46}"/>
                </a:ext>
              </a:extLst>
            </p:cNvPr>
            <p:cNvSpPr/>
            <p:nvPr/>
          </p:nvSpPr>
          <p:spPr>
            <a:xfrm>
              <a:off x="1159517" y="6556560"/>
              <a:ext cx="96452" cy="108166"/>
            </a:xfrm>
            <a:custGeom>
              <a:avLst/>
              <a:gdLst>
                <a:gd name="connsiteX0" fmla="*/ 23303 w 96452"/>
                <a:gd name="connsiteY0" fmla="*/ 0 h 108166"/>
                <a:gd name="connsiteX1" fmla="*/ 20562 w 96452"/>
                <a:gd name="connsiteY1" fmla="*/ 13708 h 108166"/>
                <a:gd name="connsiteX2" fmla="*/ 20562 w 96452"/>
                <a:gd name="connsiteY2" fmla="*/ 13957 h 108166"/>
                <a:gd name="connsiteX3" fmla="*/ 74271 w 96452"/>
                <a:gd name="connsiteY3" fmla="*/ 13957 h 108166"/>
                <a:gd name="connsiteX4" fmla="*/ 2742 w 96452"/>
                <a:gd name="connsiteY4" fmla="*/ 94957 h 108166"/>
                <a:gd name="connsiteX5" fmla="*/ 2617 w 96452"/>
                <a:gd name="connsiteY5" fmla="*/ 94957 h 108166"/>
                <a:gd name="connsiteX6" fmla="*/ 0 w 96452"/>
                <a:gd name="connsiteY6" fmla="*/ 108166 h 108166"/>
                <a:gd name="connsiteX7" fmla="*/ 76265 w 96452"/>
                <a:gd name="connsiteY7" fmla="*/ 108166 h 108166"/>
                <a:gd name="connsiteX8" fmla="*/ 79006 w 96452"/>
                <a:gd name="connsiteY8" fmla="*/ 94209 h 108166"/>
                <a:gd name="connsiteX9" fmla="*/ 21932 w 96452"/>
                <a:gd name="connsiteY9" fmla="*/ 94209 h 108166"/>
                <a:gd name="connsiteX10" fmla="*/ 93835 w 96452"/>
                <a:gd name="connsiteY10" fmla="*/ 13209 h 108166"/>
                <a:gd name="connsiteX11" fmla="*/ 93835 w 96452"/>
                <a:gd name="connsiteY11" fmla="*/ 13209 h 108166"/>
                <a:gd name="connsiteX12" fmla="*/ 96452 w 96452"/>
                <a:gd name="connsiteY12" fmla="*/ 0 h 108166"/>
                <a:gd name="connsiteX13" fmla="*/ 23303 w 96452"/>
                <a:gd name="connsiteY13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6452" h="108166">
                  <a:moveTo>
                    <a:pt x="23303" y="0"/>
                  </a:moveTo>
                  <a:lnTo>
                    <a:pt x="20562" y="13708"/>
                  </a:lnTo>
                  <a:lnTo>
                    <a:pt x="20562" y="13957"/>
                  </a:lnTo>
                  <a:lnTo>
                    <a:pt x="74271" y="13957"/>
                  </a:lnTo>
                  <a:lnTo>
                    <a:pt x="2742" y="94957"/>
                  </a:lnTo>
                  <a:lnTo>
                    <a:pt x="2617" y="94957"/>
                  </a:lnTo>
                  <a:lnTo>
                    <a:pt x="0" y="108166"/>
                  </a:lnTo>
                  <a:lnTo>
                    <a:pt x="76265" y="108166"/>
                  </a:lnTo>
                  <a:lnTo>
                    <a:pt x="79006" y="94209"/>
                  </a:lnTo>
                  <a:lnTo>
                    <a:pt x="21932" y="94209"/>
                  </a:lnTo>
                  <a:lnTo>
                    <a:pt x="93835" y="13209"/>
                  </a:lnTo>
                  <a:lnTo>
                    <a:pt x="93835" y="13209"/>
                  </a:lnTo>
                  <a:lnTo>
                    <a:pt x="96452" y="0"/>
                  </a:lnTo>
                  <a:lnTo>
                    <a:pt x="2330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AEE7F6F4-4D2C-45B3-A061-9606B2BD36A7}"/>
                </a:ext>
              </a:extLst>
            </p:cNvPr>
            <p:cNvSpPr/>
            <p:nvPr/>
          </p:nvSpPr>
          <p:spPr>
            <a:xfrm>
              <a:off x="1466445" y="6556560"/>
              <a:ext cx="37259" cy="108166"/>
            </a:xfrm>
            <a:custGeom>
              <a:avLst/>
              <a:gdLst>
                <a:gd name="connsiteX0" fmla="*/ 21683 w 37259"/>
                <a:gd name="connsiteY0" fmla="*/ 0 h 108166"/>
                <a:gd name="connsiteX1" fmla="*/ 0 w 37259"/>
                <a:gd name="connsiteY1" fmla="*/ 107917 h 108166"/>
                <a:gd name="connsiteX2" fmla="*/ 0 w 37259"/>
                <a:gd name="connsiteY2" fmla="*/ 108166 h 108166"/>
                <a:gd name="connsiteX3" fmla="*/ 15702 w 37259"/>
                <a:gd name="connsiteY3" fmla="*/ 108166 h 108166"/>
                <a:gd name="connsiteX4" fmla="*/ 37260 w 37259"/>
                <a:gd name="connsiteY4" fmla="*/ 0 h 108166"/>
                <a:gd name="connsiteX5" fmla="*/ 21683 w 37259"/>
                <a:gd name="connsiteY5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259" h="108166">
                  <a:moveTo>
                    <a:pt x="21683" y="0"/>
                  </a:moveTo>
                  <a:lnTo>
                    <a:pt x="0" y="107917"/>
                  </a:lnTo>
                  <a:lnTo>
                    <a:pt x="0" y="108166"/>
                  </a:lnTo>
                  <a:lnTo>
                    <a:pt x="15702" y="108166"/>
                  </a:lnTo>
                  <a:lnTo>
                    <a:pt x="37260" y="0"/>
                  </a:lnTo>
                  <a:lnTo>
                    <a:pt x="2168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grpSp>
          <p:nvGrpSpPr>
            <p:cNvPr id="17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518879" y="6507337"/>
              <a:ext cx="191395" cy="158803"/>
              <a:chOff x="1518879" y="6507337"/>
              <a:chExt cx="191395" cy="158803"/>
            </a:xfrm>
            <a:grpFill/>
          </p:grpSpPr>
          <p:sp>
            <p:nvSpPr>
              <p:cNvPr id="18" name="Freihandform: Form 17">
                <a:extLst>
                  <a:ext uri="{FF2B5EF4-FFF2-40B4-BE49-F238E27FC236}">
                    <a16:creationId xmlns:a16="http://schemas.microsoft.com/office/drawing/2014/main" id="{B2186F78-5D28-4695-8B1C-5A3F1A53AAB3}"/>
                  </a:ext>
                </a:extLst>
              </p:cNvPr>
              <p:cNvSpPr/>
              <p:nvPr/>
            </p:nvSpPr>
            <p:spPr>
              <a:xfrm>
                <a:off x="1614114" y="6507337"/>
                <a:ext cx="96160" cy="157638"/>
              </a:xfrm>
              <a:custGeom>
                <a:avLst/>
                <a:gdLst>
                  <a:gd name="connsiteX0" fmla="*/ 66046 w 96160"/>
                  <a:gd name="connsiteY0" fmla="*/ 47852 h 157638"/>
                  <a:gd name="connsiteX1" fmla="*/ 35142 w 96160"/>
                  <a:gd name="connsiteY1" fmla="*/ 60314 h 157638"/>
                  <a:gd name="connsiteX2" fmla="*/ 47603 w 96160"/>
                  <a:gd name="connsiteY2" fmla="*/ 0 h 157638"/>
                  <a:gd name="connsiteX3" fmla="*/ 31652 w 96160"/>
                  <a:gd name="connsiteY3" fmla="*/ 0 h 157638"/>
                  <a:gd name="connsiteX4" fmla="*/ 0 w 96160"/>
                  <a:gd name="connsiteY4" fmla="*/ 157389 h 157638"/>
                  <a:gd name="connsiteX5" fmla="*/ 15701 w 96160"/>
                  <a:gd name="connsiteY5" fmla="*/ 157389 h 157638"/>
                  <a:gd name="connsiteX6" fmla="*/ 28911 w 96160"/>
                  <a:gd name="connsiteY6" fmla="*/ 91218 h 157638"/>
                  <a:gd name="connsiteX7" fmla="*/ 60563 w 96160"/>
                  <a:gd name="connsiteY7" fmla="*/ 62058 h 157638"/>
                  <a:gd name="connsiteX8" fmla="*/ 79837 w 96160"/>
                  <a:gd name="connsiteY8" fmla="*/ 77742 h 157638"/>
                  <a:gd name="connsiteX9" fmla="*/ 79878 w 96160"/>
                  <a:gd name="connsiteY9" fmla="*/ 80875 h 157638"/>
                  <a:gd name="connsiteX10" fmla="*/ 78757 w 96160"/>
                  <a:gd name="connsiteY10" fmla="*/ 90969 h 157638"/>
                  <a:gd name="connsiteX11" fmla="*/ 65423 w 96160"/>
                  <a:gd name="connsiteY11" fmla="*/ 157638 h 157638"/>
                  <a:gd name="connsiteX12" fmla="*/ 81125 w 96160"/>
                  <a:gd name="connsiteY12" fmla="*/ 157638 h 157638"/>
                  <a:gd name="connsiteX13" fmla="*/ 94957 w 96160"/>
                  <a:gd name="connsiteY13" fmla="*/ 89474 h 157638"/>
                  <a:gd name="connsiteX14" fmla="*/ 96078 w 96160"/>
                  <a:gd name="connsiteY14" fmla="*/ 78757 h 157638"/>
                  <a:gd name="connsiteX15" fmla="*/ 69522 w 96160"/>
                  <a:gd name="connsiteY15" fmla="*/ 47902 h 157638"/>
                  <a:gd name="connsiteX16" fmla="*/ 66046 w 96160"/>
                  <a:gd name="connsiteY16" fmla="*/ 47852 h 157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6160" h="157638">
                    <a:moveTo>
                      <a:pt x="66046" y="47852"/>
                    </a:moveTo>
                    <a:cubicBezTo>
                      <a:pt x="54431" y="47363"/>
                      <a:pt x="43168" y="51904"/>
                      <a:pt x="35142" y="60314"/>
                    </a:cubicBezTo>
                    <a:lnTo>
                      <a:pt x="47603" y="0"/>
                    </a:lnTo>
                    <a:lnTo>
                      <a:pt x="31652" y="0"/>
                    </a:lnTo>
                    <a:lnTo>
                      <a:pt x="0" y="157389"/>
                    </a:lnTo>
                    <a:lnTo>
                      <a:pt x="15701" y="157389"/>
                    </a:lnTo>
                    <a:lnTo>
                      <a:pt x="28911" y="91218"/>
                    </a:lnTo>
                    <a:cubicBezTo>
                      <a:pt x="30603" y="74910"/>
                      <a:pt x="44170" y="62411"/>
                      <a:pt x="60563" y="62058"/>
                    </a:cubicBezTo>
                    <a:cubicBezTo>
                      <a:pt x="70216" y="61067"/>
                      <a:pt x="78845" y="68088"/>
                      <a:pt x="79837" y="77742"/>
                    </a:cubicBezTo>
                    <a:cubicBezTo>
                      <a:pt x="79945" y="78783"/>
                      <a:pt x="79958" y="79832"/>
                      <a:pt x="79878" y="80875"/>
                    </a:cubicBezTo>
                    <a:cubicBezTo>
                      <a:pt x="79822" y="84268"/>
                      <a:pt x="79446" y="87647"/>
                      <a:pt x="78757" y="90969"/>
                    </a:cubicBezTo>
                    <a:lnTo>
                      <a:pt x="65423" y="157638"/>
                    </a:lnTo>
                    <a:lnTo>
                      <a:pt x="81125" y="157638"/>
                    </a:lnTo>
                    <a:lnTo>
                      <a:pt x="94957" y="89474"/>
                    </a:lnTo>
                    <a:cubicBezTo>
                      <a:pt x="95657" y="85943"/>
                      <a:pt x="96034" y="82356"/>
                      <a:pt x="96078" y="78757"/>
                    </a:cubicBezTo>
                    <a:cubicBezTo>
                      <a:pt x="97265" y="62903"/>
                      <a:pt x="85375" y="49089"/>
                      <a:pt x="69522" y="47902"/>
                    </a:cubicBezTo>
                    <a:cubicBezTo>
                      <a:pt x="68365" y="47815"/>
                      <a:pt x="67205" y="47799"/>
                      <a:pt x="66046" y="478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9" name="Freihandform: Form 18">
                <a:extLst>
                  <a:ext uri="{FF2B5EF4-FFF2-40B4-BE49-F238E27FC236}">
                    <a16:creationId xmlns:a16="http://schemas.microsoft.com/office/drawing/2014/main" id="{1FE5475E-83C3-4BE3-BBF1-FAE9A6986B3F}"/>
                  </a:ext>
                </a:extLst>
              </p:cNvPr>
              <p:cNvSpPr/>
              <p:nvPr/>
            </p:nvSpPr>
            <p:spPr>
              <a:xfrm>
                <a:off x="1518879" y="6555189"/>
                <a:ext cx="87882" cy="110951"/>
              </a:xfrm>
              <a:custGeom>
                <a:avLst/>
                <a:gdLst>
                  <a:gd name="connsiteX0" fmla="*/ 56853 w 87882"/>
                  <a:gd name="connsiteY0" fmla="*/ 0 h 110951"/>
                  <a:gd name="connsiteX1" fmla="*/ 1649 w 87882"/>
                  <a:gd name="connsiteY1" fmla="*/ 55329 h 110951"/>
                  <a:gd name="connsiteX2" fmla="*/ 153 w 87882"/>
                  <a:gd name="connsiteY2" fmla="*/ 71903 h 110951"/>
                  <a:gd name="connsiteX3" fmla="*/ 32484 w 87882"/>
                  <a:gd name="connsiteY3" fmla="*/ 110801 h 110951"/>
                  <a:gd name="connsiteX4" fmla="*/ 37538 w 87882"/>
                  <a:gd name="connsiteY4" fmla="*/ 110908 h 110951"/>
                  <a:gd name="connsiteX5" fmla="*/ 73552 w 87882"/>
                  <a:gd name="connsiteY5" fmla="*/ 95705 h 110951"/>
                  <a:gd name="connsiteX6" fmla="*/ 73552 w 87882"/>
                  <a:gd name="connsiteY6" fmla="*/ 95705 h 110951"/>
                  <a:gd name="connsiteX7" fmla="*/ 64455 w 87882"/>
                  <a:gd name="connsiteY7" fmla="*/ 84614 h 110951"/>
                  <a:gd name="connsiteX8" fmla="*/ 64455 w 87882"/>
                  <a:gd name="connsiteY8" fmla="*/ 84614 h 110951"/>
                  <a:gd name="connsiteX9" fmla="*/ 64455 w 87882"/>
                  <a:gd name="connsiteY9" fmla="*/ 84614 h 110951"/>
                  <a:gd name="connsiteX10" fmla="*/ 38535 w 87882"/>
                  <a:gd name="connsiteY10" fmla="*/ 97075 h 110951"/>
                  <a:gd name="connsiteX11" fmla="*/ 15233 w 87882"/>
                  <a:gd name="connsiteY11" fmla="*/ 75551 h 110951"/>
                  <a:gd name="connsiteX12" fmla="*/ 15356 w 87882"/>
                  <a:gd name="connsiteY12" fmla="*/ 72152 h 110951"/>
                  <a:gd name="connsiteX13" fmla="*/ 17101 w 87882"/>
                  <a:gd name="connsiteY13" fmla="*/ 55952 h 110951"/>
                  <a:gd name="connsiteX14" fmla="*/ 31058 w 87882"/>
                  <a:gd name="connsiteY14" fmla="*/ 25048 h 110951"/>
                  <a:gd name="connsiteX15" fmla="*/ 55233 w 87882"/>
                  <a:gd name="connsiteY15" fmla="*/ 14206 h 110951"/>
                  <a:gd name="connsiteX16" fmla="*/ 76293 w 87882"/>
                  <a:gd name="connsiteY16" fmla="*/ 26668 h 110951"/>
                  <a:gd name="connsiteX17" fmla="*/ 76293 w 87882"/>
                  <a:gd name="connsiteY17" fmla="*/ 26668 h 110951"/>
                  <a:gd name="connsiteX18" fmla="*/ 87883 w 87882"/>
                  <a:gd name="connsiteY18" fmla="*/ 16823 h 110951"/>
                  <a:gd name="connsiteX19" fmla="*/ 87883 w 87882"/>
                  <a:gd name="connsiteY19" fmla="*/ 16823 h 110951"/>
                  <a:gd name="connsiteX20" fmla="*/ 56729 w 87882"/>
                  <a:gd name="connsiteY20" fmla="*/ 748 h 110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7882" h="110951">
                    <a:moveTo>
                      <a:pt x="56853" y="0"/>
                    </a:moveTo>
                    <a:cubicBezTo>
                      <a:pt x="28192" y="0"/>
                      <a:pt x="8129" y="20188"/>
                      <a:pt x="1649" y="55329"/>
                    </a:cubicBezTo>
                    <a:cubicBezTo>
                      <a:pt x="671" y="60800"/>
                      <a:pt x="170" y="66345"/>
                      <a:pt x="153" y="71903"/>
                    </a:cubicBezTo>
                    <a:cubicBezTo>
                      <a:pt x="-1660" y="91572"/>
                      <a:pt x="12814" y="108987"/>
                      <a:pt x="32484" y="110801"/>
                    </a:cubicBezTo>
                    <a:cubicBezTo>
                      <a:pt x="34163" y="110955"/>
                      <a:pt x="35853" y="110991"/>
                      <a:pt x="37538" y="110908"/>
                    </a:cubicBezTo>
                    <a:cubicBezTo>
                      <a:pt x="51112" y="110955"/>
                      <a:pt x="64118" y="105465"/>
                      <a:pt x="73552" y="95705"/>
                    </a:cubicBezTo>
                    <a:lnTo>
                      <a:pt x="73552" y="95705"/>
                    </a:lnTo>
                    <a:lnTo>
                      <a:pt x="64455" y="84614"/>
                    </a:lnTo>
                    <a:lnTo>
                      <a:pt x="64455" y="84614"/>
                    </a:lnTo>
                    <a:lnTo>
                      <a:pt x="64455" y="84614"/>
                    </a:lnTo>
                    <a:cubicBezTo>
                      <a:pt x="58138" y="92466"/>
                      <a:pt x="48613" y="97045"/>
                      <a:pt x="38535" y="97075"/>
                    </a:cubicBezTo>
                    <a:cubicBezTo>
                      <a:pt x="26157" y="97566"/>
                      <a:pt x="15724" y="87929"/>
                      <a:pt x="15233" y="75551"/>
                    </a:cubicBezTo>
                    <a:cubicBezTo>
                      <a:pt x="15188" y="74416"/>
                      <a:pt x="15229" y="73280"/>
                      <a:pt x="15356" y="72152"/>
                    </a:cubicBezTo>
                    <a:cubicBezTo>
                      <a:pt x="15424" y="66709"/>
                      <a:pt x="16008" y="61285"/>
                      <a:pt x="17101" y="55952"/>
                    </a:cubicBezTo>
                    <a:cubicBezTo>
                      <a:pt x="18838" y="44568"/>
                      <a:pt x="23666" y="33878"/>
                      <a:pt x="31058" y="25048"/>
                    </a:cubicBezTo>
                    <a:cubicBezTo>
                      <a:pt x="37213" y="18167"/>
                      <a:pt x="46002" y="14225"/>
                      <a:pt x="55233" y="14206"/>
                    </a:cubicBezTo>
                    <a:cubicBezTo>
                      <a:pt x="64085" y="13892"/>
                      <a:pt x="72308" y="18758"/>
                      <a:pt x="76293" y="26668"/>
                    </a:cubicBezTo>
                    <a:lnTo>
                      <a:pt x="76293" y="26668"/>
                    </a:lnTo>
                    <a:lnTo>
                      <a:pt x="87883" y="16823"/>
                    </a:lnTo>
                    <a:lnTo>
                      <a:pt x="87883" y="16823"/>
                    </a:lnTo>
                    <a:cubicBezTo>
                      <a:pt x="81104" y="6298"/>
                      <a:pt x="69235" y="174"/>
                      <a:pt x="56729" y="748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41B77B6E-E7CB-412B-95AC-A9322C6799BB}"/>
                </a:ext>
              </a:extLst>
            </p:cNvPr>
            <p:cNvSpPr/>
            <p:nvPr/>
          </p:nvSpPr>
          <p:spPr>
            <a:xfrm>
              <a:off x="1493985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832E5C1A-13CE-49A6-B590-B6EAA5F9E1AD}"/>
                </a:ext>
              </a:extLst>
            </p:cNvPr>
            <p:cNvSpPr/>
            <p:nvPr/>
          </p:nvSpPr>
          <p:spPr>
            <a:xfrm>
              <a:off x="1340708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63AE00B0-780F-4053-8FE9-B7D321217AFF}"/>
                </a:ext>
              </a:extLst>
            </p:cNvPr>
            <p:cNvSpPr/>
            <p:nvPr/>
          </p:nvSpPr>
          <p:spPr>
            <a:xfrm>
              <a:off x="1298712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702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702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2406CEAF-7399-4CCB-A322-03F0BA2532F5}"/>
                </a:ext>
              </a:extLst>
            </p:cNvPr>
            <p:cNvSpPr/>
            <p:nvPr/>
          </p:nvSpPr>
          <p:spPr>
            <a:xfrm>
              <a:off x="731837" y="6507088"/>
              <a:ext cx="417960" cy="157638"/>
            </a:xfrm>
            <a:custGeom>
              <a:avLst/>
              <a:gdLst>
                <a:gd name="connsiteX0" fmla="*/ 368612 w 417960"/>
                <a:gd name="connsiteY0" fmla="*/ 0 h 157638"/>
                <a:gd name="connsiteX1" fmla="*/ 356151 w 417960"/>
                <a:gd name="connsiteY1" fmla="*/ 61062 h 157638"/>
                <a:gd name="connsiteX2" fmla="*/ 320760 w 417960"/>
                <a:gd name="connsiteY2" fmla="*/ 61062 h 157638"/>
                <a:gd name="connsiteX3" fmla="*/ 333222 w 417960"/>
                <a:gd name="connsiteY3" fmla="*/ 0 h 157638"/>
                <a:gd name="connsiteX4" fmla="*/ 31652 w 417960"/>
                <a:gd name="connsiteY4" fmla="*/ 0 h 157638"/>
                <a:gd name="connsiteX5" fmla="*/ 0 w 417960"/>
                <a:gd name="connsiteY5" fmla="*/ 157638 h 157638"/>
                <a:gd name="connsiteX6" fmla="*/ 120254 w 417960"/>
                <a:gd name="connsiteY6" fmla="*/ 157638 h 157638"/>
                <a:gd name="connsiteX7" fmla="*/ 128105 w 417960"/>
                <a:gd name="connsiteY7" fmla="*/ 118260 h 157638"/>
                <a:gd name="connsiteX8" fmla="*/ 57074 w 417960"/>
                <a:gd name="connsiteY8" fmla="*/ 118260 h 157638"/>
                <a:gd name="connsiteX9" fmla="*/ 61435 w 417960"/>
                <a:gd name="connsiteY9" fmla="*/ 96577 h 157638"/>
                <a:gd name="connsiteX10" fmla="*/ 132342 w 417960"/>
                <a:gd name="connsiteY10" fmla="*/ 96577 h 157638"/>
                <a:gd name="connsiteX11" fmla="*/ 139569 w 417960"/>
                <a:gd name="connsiteY11" fmla="*/ 61062 h 157638"/>
                <a:gd name="connsiteX12" fmla="*/ 68538 w 417960"/>
                <a:gd name="connsiteY12" fmla="*/ 61062 h 157638"/>
                <a:gd name="connsiteX13" fmla="*/ 72900 w 417960"/>
                <a:gd name="connsiteY13" fmla="*/ 39378 h 157638"/>
                <a:gd name="connsiteX14" fmla="*/ 185303 w 417960"/>
                <a:gd name="connsiteY14" fmla="*/ 39378 h 157638"/>
                <a:gd name="connsiteX15" fmla="*/ 161626 w 417960"/>
                <a:gd name="connsiteY15" fmla="*/ 157638 h 157638"/>
                <a:gd name="connsiteX16" fmla="*/ 210849 w 417960"/>
                <a:gd name="connsiteY16" fmla="*/ 157638 h 157638"/>
                <a:gd name="connsiteX17" fmla="*/ 234651 w 417960"/>
                <a:gd name="connsiteY17" fmla="*/ 39378 h 157638"/>
                <a:gd name="connsiteX18" fmla="*/ 276023 w 417960"/>
                <a:gd name="connsiteY18" fmla="*/ 39378 h 157638"/>
                <a:gd name="connsiteX19" fmla="*/ 252222 w 417960"/>
                <a:gd name="connsiteY19" fmla="*/ 157638 h 157638"/>
                <a:gd name="connsiteX20" fmla="*/ 301569 w 417960"/>
                <a:gd name="connsiteY20" fmla="*/ 157638 h 157638"/>
                <a:gd name="connsiteX21" fmla="*/ 313657 w 417960"/>
                <a:gd name="connsiteY21" fmla="*/ 96577 h 157638"/>
                <a:gd name="connsiteX22" fmla="*/ 349172 w 417960"/>
                <a:gd name="connsiteY22" fmla="*/ 96577 h 157638"/>
                <a:gd name="connsiteX23" fmla="*/ 336960 w 417960"/>
                <a:gd name="connsiteY23" fmla="*/ 157638 h 157638"/>
                <a:gd name="connsiteX24" fmla="*/ 386308 w 417960"/>
                <a:gd name="connsiteY24" fmla="*/ 157638 h 157638"/>
                <a:gd name="connsiteX25" fmla="*/ 417960 w 417960"/>
                <a:gd name="connsiteY25" fmla="*/ 0 h 157638"/>
                <a:gd name="connsiteX26" fmla="*/ 368612 w 417960"/>
                <a:gd name="connsiteY26" fmla="*/ 0 h 1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17960" h="157638">
                  <a:moveTo>
                    <a:pt x="368612" y="0"/>
                  </a:moveTo>
                  <a:lnTo>
                    <a:pt x="356151" y="61062"/>
                  </a:lnTo>
                  <a:lnTo>
                    <a:pt x="320760" y="61062"/>
                  </a:lnTo>
                  <a:lnTo>
                    <a:pt x="333222" y="0"/>
                  </a:lnTo>
                  <a:lnTo>
                    <a:pt x="31652" y="0"/>
                  </a:lnTo>
                  <a:lnTo>
                    <a:pt x="0" y="157638"/>
                  </a:lnTo>
                  <a:lnTo>
                    <a:pt x="120254" y="157638"/>
                  </a:lnTo>
                  <a:lnTo>
                    <a:pt x="128105" y="118260"/>
                  </a:lnTo>
                  <a:lnTo>
                    <a:pt x="57074" y="118260"/>
                  </a:lnTo>
                  <a:lnTo>
                    <a:pt x="61435" y="96577"/>
                  </a:lnTo>
                  <a:lnTo>
                    <a:pt x="132342" y="96577"/>
                  </a:lnTo>
                  <a:lnTo>
                    <a:pt x="139569" y="61062"/>
                  </a:lnTo>
                  <a:lnTo>
                    <a:pt x="68538" y="61062"/>
                  </a:lnTo>
                  <a:lnTo>
                    <a:pt x="72900" y="39378"/>
                  </a:lnTo>
                  <a:lnTo>
                    <a:pt x="185303" y="39378"/>
                  </a:lnTo>
                  <a:lnTo>
                    <a:pt x="161626" y="157638"/>
                  </a:lnTo>
                  <a:lnTo>
                    <a:pt x="210849" y="157638"/>
                  </a:lnTo>
                  <a:lnTo>
                    <a:pt x="234651" y="39378"/>
                  </a:lnTo>
                  <a:lnTo>
                    <a:pt x="276023" y="39378"/>
                  </a:lnTo>
                  <a:lnTo>
                    <a:pt x="252222" y="157638"/>
                  </a:lnTo>
                  <a:lnTo>
                    <a:pt x="301569" y="157638"/>
                  </a:lnTo>
                  <a:lnTo>
                    <a:pt x="313657" y="96577"/>
                  </a:lnTo>
                  <a:lnTo>
                    <a:pt x="349172" y="96577"/>
                  </a:lnTo>
                  <a:lnTo>
                    <a:pt x="336960" y="157638"/>
                  </a:lnTo>
                  <a:lnTo>
                    <a:pt x="386308" y="157638"/>
                  </a:lnTo>
                  <a:lnTo>
                    <a:pt x="417960" y="0"/>
                  </a:lnTo>
                  <a:lnTo>
                    <a:pt x="368612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</p:grpSp>
    </p:spTree>
    <p:extLst>
      <p:ext uri="{BB962C8B-B14F-4D97-AF65-F5344CB8AC3E}">
        <p14:creationId xmlns:p14="http://schemas.microsoft.com/office/powerpoint/2010/main" val="3716835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C2547-0B26-4181-9958-0F74634B97A1}" type="datetime1">
              <a:rPr lang="de-CH" noProof="0" smtClean="0"/>
              <a:t>17.09.2026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D-Infk ETHZ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1412874"/>
            <a:ext cx="10728000" cy="4860000"/>
          </a:xfrm>
        </p:spPr>
        <p:txBody>
          <a:bodyPr tIns="1620000"/>
          <a:lstStyle>
            <a:lvl1pPr marL="0" indent="0" algn="ctr">
              <a:buNone/>
              <a:defRPr sz="2000"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</p:spTree>
    <p:extLst>
      <p:ext uri="{BB962C8B-B14F-4D97-AF65-F5344CB8AC3E}">
        <p14:creationId xmlns:p14="http://schemas.microsoft.com/office/powerpoint/2010/main" val="943852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33879-9C0F-4F94-919F-30B833E8871A}" type="datetime1">
              <a:rPr lang="de-CH" noProof="0" smtClean="0"/>
              <a:t>17.09.2026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D-Infk ETHZ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260350"/>
            <a:ext cx="10728000" cy="6012524"/>
          </a:xfrm>
        </p:spPr>
        <p:txBody>
          <a:bodyPr tIns="2160000"/>
          <a:lstStyle>
            <a:lvl1pPr marL="0" indent="0" algn="ctr">
              <a:buNone/>
              <a:defRPr sz="20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842048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4163" y="1412875"/>
            <a:ext cx="5256000" cy="48600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17.09.2026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D-Infk ETHZ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1412875"/>
            <a:ext cx="5040000" cy="4860000"/>
          </a:xfrm>
        </p:spPr>
        <p:txBody>
          <a:bodyPr tIns="1620000"/>
          <a:lstStyle>
            <a:lvl1pPr marL="0" indent="0" algn="ctr">
              <a:buNone/>
              <a:defRPr sz="20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996394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5121800"/>
            <a:ext cx="5255999" cy="11520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de-CH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B9425-7348-43E2-B0E9-6A2A48F5FA8A}" type="datetime1">
              <a:rPr lang="de-CH" noProof="0" smtClean="0"/>
              <a:t>17.09.2026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D-Infk ETHZ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 sz="2000"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1AAB6914-2518-430D-BF4C-14EA51B614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4162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 sz="20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5092EEFB-079B-4C38-A665-E52B9837601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04162" y="5121800"/>
            <a:ext cx="5256001" cy="11520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085750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4166439"/>
            <a:ext cx="10728327" cy="2124401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de-CH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782B2-018B-4FD3-AD95-2F64EDE0E9D6}" type="datetime1">
              <a:rPr lang="de-CH" noProof="0" smtClean="0"/>
              <a:t>17.09.2026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D-Infk ETHZ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3420000" cy="2484000"/>
          </a:xfrm>
        </p:spPr>
        <p:txBody>
          <a:bodyPr tIns="360000"/>
          <a:lstStyle>
            <a:lvl1pPr marL="0" indent="0" algn="ctr">
              <a:buNone/>
              <a:defRPr sz="20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40162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 sz="20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FE637F68-618E-43EB-B240-4BFA26852FC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85999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 sz="20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252988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"/>
          </a:xfrm>
        </p:spPr>
        <p:txBody>
          <a:bodyPr/>
          <a:lstStyle>
            <a:lvl1pPr marL="0" indent="0">
              <a:buNone/>
              <a:defRPr b="1"/>
            </a:lvl1pPr>
            <a:lvl2pPr marL="266700" indent="0">
              <a:buNone/>
              <a:defRPr b="1"/>
            </a:lvl2pPr>
            <a:lvl3pPr marL="538163" indent="0">
              <a:buNone/>
              <a:defRPr b="1"/>
            </a:lvl3pPr>
            <a:lvl4pPr marL="804862" indent="0">
              <a:buNone/>
              <a:defRPr b="1"/>
            </a:lvl4pPr>
            <a:lvl5pPr marL="1076325" indent="0">
              <a:buNone/>
              <a:defRPr b="1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0FED0-443D-411A-B8E4-0668A8890EE3}" type="datetime1">
              <a:rPr lang="de-CH" noProof="0" smtClean="0"/>
              <a:t>17.09.2026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D-Infk ETHZ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9" name="Tabellenplatzhalter 8">
            <a:extLst>
              <a:ext uri="{FF2B5EF4-FFF2-40B4-BE49-F238E27FC236}">
                <a16:creationId xmlns:a16="http://schemas.microsoft.com/office/drawing/2014/main" id="{A1D947E6-CC00-458E-BDE1-B0877E30333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731838" y="2061398"/>
            <a:ext cx="10728325" cy="4212401"/>
          </a:xfrm>
        </p:spPr>
        <p:txBody>
          <a:bodyPr tIns="1260000"/>
          <a:lstStyle>
            <a:lvl1pPr marL="0" indent="0" algn="ctr">
              <a:spcBef>
                <a:spcPts val="0"/>
              </a:spcBef>
              <a:buNone/>
              <a:defRPr sz="1400"/>
            </a:lvl1pPr>
          </a:lstStyle>
          <a:p>
            <a:r>
              <a:rPr lang="en-US" noProof="0" dirty="0"/>
              <a:t>Click icon to add table</a:t>
            </a:r>
            <a:endParaRPr lang="de-CH" noProof="0" dirty="0"/>
          </a:p>
        </p:txBody>
      </p:sp>
    </p:spTree>
    <p:extLst>
      <p:ext uri="{BB962C8B-B14F-4D97-AF65-F5344CB8AC3E}">
        <p14:creationId xmlns:p14="http://schemas.microsoft.com/office/powerpoint/2010/main" val="292866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394B20FF-3667-40DF-92A1-C6CF3BBC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2135492"/>
            <a:ext cx="10728325" cy="396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540000" indent="0">
              <a:buNone/>
              <a:defRPr>
                <a:solidFill>
                  <a:schemeClr val="bg1"/>
                </a:solidFill>
              </a:defRPr>
            </a:lvl3pPr>
            <a:lvl4pPr marL="808537" indent="0">
              <a:buNone/>
              <a:defRPr>
                <a:solidFill>
                  <a:schemeClr val="bg1"/>
                </a:solidFill>
              </a:defRPr>
            </a:lvl4pPr>
            <a:lvl5pPr marL="1080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794484F1-3B7F-46CE-AD0B-2310A557A99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F900572E-A73E-42BE-96FA-38ADC4E79F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670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98">
          <p15:clr>
            <a:srgbClr val="FBAE40"/>
          </p15:clr>
        </p15:guide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9CEF804-E58C-481B-A606-7D35AF68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CH" noProof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C6EC0D-393C-42F2-B6A7-B19C9B098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7" y="1412875"/>
            <a:ext cx="10728325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noProof="0" dirty="0"/>
              <a:t>Mastertextformat bearbeiten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C96E51-36C9-4BEE-A761-33378A0DF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3692" y="6522444"/>
            <a:ext cx="612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4A358CF3-A22A-46C1-A4E5-5810212466EF}" type="datetime1">
              <a:rPr lang="de-CH" noProof="0" smtClean="0"/>
              <a:t>17.09.2026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1EC403-6E63-4450-AFDD-66CA49D6CC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71700" y="6522444"/>
            <a:ext cx="540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D-Infk ETHZ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DFCC57-7DDC-4B2C-A6BE-862DAF9C9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‹#›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09606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0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1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5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461" userDrawn="1">
          <p15:clr>
            <a:srgbClr val="F26B43"/>
          </p15:clr>
        </p15:guide>
        <p15:guide id="3" pos="7219" userDrawn="1">
          <p15:clr>
            <a:srgbClr val="F26B43"/>
          </p15:clr>
        </p15:guide>
        <p15:guide id="4" orient="horz" pos="164" userDrawn="1">
          <p15:clr>
            <a:srgbClr val="F26B43"/>
          </p15:clr>
        </p15:guide>
        <p15:guide id="5" orient="horz" pos="890" userDrawn="1">
          <p15:clr>
            <a:srgbClr val="F26B43"/>
          </p15:clr>
        </p15:guide>
        <p15:guide id="6" orient="horz" pos="4201" userDrawn="1">
          <p15:clr>
            <a:srgbClr val="F26B43"/>
          </p15:clr>
        </p15:guide>
        <p15:guide id="7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jvonaesch.github.io/teaching/" TargetMode="External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888/tree" TargetMode="Externa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07B817D-AEF6-4C81-A8B9-B39DE15C19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43" b="8861"/>
          <a:stretch>
            <a:fillRect/>
          </a:stretch>
        </p:blipFill>
        <p:spPr>
          <a:xfrm>
            <a:off x="731837" y="973223"/>
            <a:ext cx="10728325" cy="5256001"/>
          </a:xfrm>
          <a:prstGeom prst="rect">
            <a:avLst/>
          </a:prstGeo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AC1FB292-90C1-439C-8480-EB4116CF23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2772000"/>
          </a:xfrm>
        </p:spPr>
        <p:txBody>
          <a:bodyPr/>
          <a:lstStyle/>
          <a:p>
            <a:r>
              <a:rPr lang="de-CH" noProof="0" dirty="0"/>
              <a:t>Woche 1: </a:t>
            </a:r>
            <a:br>
              <a:rPr lang="de-CH" noProof="0" dirty="0"/>
            </a:br>
            <a:r>
              <a:rPr lang="de-CH" noProof="0" dirty="0"/>
              <a:t>Einstieg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171C1F6-869F-40B1-8975-92FF2042F4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008000"/>
          </a:xfrm>
        </p:spPr>
        <p:txBody>
          <a:bodyPr/>
          <a:lstStyle/>
          <a:p>
            <a:r>
              <a:rPr lang="de-CH" noProof="0" dirty="0"/>
              <a:t>Jonas Vonäsch</a:t>
            </a:r>
          </a:p>
          <a:p>
            <a:r>
              <a:rPr lang="de-CH" noProof="0" dirty="0"/>
              <a:t>Numerical Methods for Computer Science</a:t>
            </a:r>
          </a:p>
          <a:p>
            <a:r>
              <a:rPr lang="de-CH"/>
              <a:t>17</a:t>
            </a:r>
            <a:r>
              <a:rPr lang="de-CH" noProof="0"/>
              <a:t>.09.2026</a:t>
            </a:r>
            <a:endParaRPr lang="de-CH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C6B18E6F-BDD9-4B0B-9B9E-C25187E0E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696449" y="316800"/>
            <a:ext cx="1800000" cy="360000"/>
          </a:xfrm>
        </p:spPr>
        <p:txBody>
          <a:bodyPr/>
          <a:lstStyle/>
          <a:p>
            <a:r>
              <a:rPr lang="de-CH" noProof="0" dirty="0"/>
              <a:t>D-INFK ETHZ</a:t>
            </a:r>
          </a:p>
        </p:txBody>
      </p:sp>
    </p:spTree>
    <p:extLst>
      <p:ext uri="{BB962C8B-B14F-4D97-AF65-F5344CB8AC3E}">
        <p14:creationId xmlns:p14="http://schemas.microsoft.com/office/powerpoint/2010/main" val="3536168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FE51-1FA1-740F-9E6F-045E2BD03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Willkommen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52E49-9F38-F742-1010-6BBAF2CC9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CH" sz="2000" noProof="0" dirty="0"/>
              <a:t>Jonas Vonäsch</a:t>
            </a:r>
          </a:p>
          <a:p>
            <a:pPr marL="0" indent="0">
              <a:buNone/>
            </a:pPr>
            <a:r>
              <a:rPr lang="de-CH" sz="2000" noProof="0" dirty="0"/>
              <a:t>jvonaesch@student.ethz.ch</a:t>
            </a:r>
          </a:p>
          <a:p>
            <a:pPr marL="0" indent="0">
              <a:buNone/>
            </a:pPr>
            <a:endParaRPr lang="de-CH" sz="2000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CBB08-E16A-1070-C9AC-D306CAE22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17.09.2026</a:t>
            </a:fld>
            <a:endParaRPr lang="de-CH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4F764-66A8-81B0-C432-A98228094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 dirty="0"/>
              <a:t>D-INFK ETHZ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BB82A-FF20-C12F-F8C8-3B99DFA1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</a:t>
            </a:fld>
            <a:endParaRPr lang="de-CH" noProof="0" dirty="0"/>
          </a:p>
        </p:txBody>
      </p:sp>
    </p:spTree>
    <p:extLst>
      <p:ext uri="{BB962C8B-B14F-4D97-AF65-F5344CB8AC3E}">
        <p14:creationId xmlns:p14="http://schemas.microsoft.com/office/powerpoint/2010/main" val="1295606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797E7C48-83C4-5153-C381-6009D4E77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/>
          <a:lstStyle/>
          <a:p>
            <a:r>
              <a:rPr lang="de-CH" noProof="0" dirty="0"/>
              <a:t>Website mit Lernmaterialien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B9BE787-77EB-354F-19E8-485D723EF4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5999" y="1412875"/>
            <a:ext cx="3960000" cy="3960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BB6F6-BED4-807C-A2FE-D0F013897D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3692" y="6522444"/>
            <a:ext cx="612000" cy="216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A01E762-278A-4155-9BEB-7C2CB2386E92}" type="datetime1">
              <a:rPr lang="de-CH" noProof="0" smtClean="0"/>
              <a:pPr>
                <a:spcAft>
                  <a:spcPts val="600"/>
                </a:spcAft>
              </a:pPr>
              <a:t>17.09.2026</a:t>
            </a:fld>
            <a:endParaRPr lang="de-CH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9959C-A995-0977-F640-AD9D04599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71700" y="6522444"/>
            <a:ext cx="5400000" cy="216000"/>
          </a:xfrm>
        </p:spPr>
        <p:txBody>
          <a:bodyPr anchor="ctr">
            <a:normAutofit/>
          </a:bodyPr>
          <a:lstStyle/>
          <a:p>
            <a:r>
              <a:rPr lang="de-CH" noProof="0" dirty="0"/>
              <a:t>D-INFK ETHZ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7C203-E88F-4EC9-8F50-FE84369C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7585" y="6522444"/>
            <a:ext cx="322577" cy="216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ACA52AF-F19D-405C-AD5F-7D94B96A5CC3}" type="slidenum">
              <a:rPr lang="de-CH" noProof="0" smtClean="0"/>
              <a:pPr>
                <a:spcAft>
                  <a:spcPts val="600"/>
                </a:spcAft>
              </a:pPr>
              <a:t>3</a:t>
            </a:fld>
            <a:endParaRPr lang="de-CH" noProof="0" dirty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66362CEA-17EF-5A5E-7BD0-4FC1E0FF27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836" y="5570135"/>
            <a:ext cx="5364164" cy="721233"/>
          </a:xfrm>
        </p:spPr>
        <p:txBody>
          <a:bodyPr/>
          <a:lstStyle/>
          <a:p>
            <a:pPr marL="0" indent="0">
              <a:buNone/>
            </a:pPr>
            <a:r>
              <a:rPr lang="de-CH" sz="2000" noProof="0" dirty="0">
                <a:hlinkClick r:id="rId3"/>
              </a:rPr>
              <a:t>https://jvonaesch.github.io/teaching/</a:t>
            </a:r>
            <a:endParaRPr lang="de-CH" sz="2000" noProof="0" dirty="0"/>
          </a:p>
        </p:txBody>
      </p:sp>
    </p:spTree>
    <p:extLst>
      <p:ext uri="{BB962C8B-B14F-4D97-AF65-F5344CB8AC3E}">
        <p14:creationId xmlns:p14="http://schemas.microsoft.com/office/powerpoint/2010/main" val="3466130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794CC-C4D2-5F17-8167-AB58A11C0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1D041210-5294-5CA3-1C72-3F98806FD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/>
          <a:lstStyle/>
          <a:p>
            <a:r>
              <a:rPr lang="de-CH" noProof="0" dirty="0"/>
              <a:t>Whatsapp-Gruppe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63D33-9689-558B-E837-D35B5AEB4B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3692" y="6522444"/>
            <a:ext cx="612000" cy="216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A01E762-278A-4155-9BEB-7C2CB2386E92}" type="datetime1">
              <a:rPr lang="de-CH" noProof="0" smtClean="0"/>
              <a:pPr>
                <a:spcAft>
                  <a:spcPts val="600"/>
                </a:spcAft>
              </a:pPr>
              <a:t>17.09.2026</a:t>
            </a:fld>
            <a:endParaRPr lang="de-CH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0E731-EB95-36CA-2130-6224D61B8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71700" y="6522444"/>
            <a:ext cx="5400000" cy="216000"/>
          </a:xfrm>
        </p:spPr>
        <p:txBody>
          <a:bodyPr anchor="ctr">
            <a:normAutofit/>
          </a:bodyPr>
          <a:lstStyle/>
          <a:p>
            <a:r>
              <a:rPr lang="de-CH" noProof="0" dirty="0"/>
              <a:t>D-INFK ETHZ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06834-C148-7526-5C9A-041F10DA7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7585" y="6522444"/>
            <a:ext cx="322577" cy="216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ACA52AF-F19D-405C-AD5F-7D94B96A5CC3}" type="slidenum">
              <a:rPr lang="de-CH" noProof="0" smtClean="0"/>
              <a:pPr>
                <a:spcAft>
                  <a:spcPts val="600"/>
                </a:spcAft>
              </a:pPr>
              <a:t>4</a:t>
            </a:fld>
            <a:endParaRPr lang="de-CH" noProof="0" dirty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335E6371-6C27-4931-AAA0-8DF53D3F18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836" y="5570135"/>
            <a:ext cx="6545932" cy="721233"/>
          </a:xfrm>
        </p:spPr>
        <p:txBody>
          <a:bodyPr/>
          <a:lstStyle/>
          <a:p>
            <a:pPr marL="0" indent="0">
              <a:buNone/>
            </a:pPr>
            <a:r>
              <a:rPr lang="de-CH" sz="2000" dirty="0"/>
              <a:t>https://chat.whatsapp.com/GtXeKi3SkdSKXnzy1Mcu9K</a:t>
            </a:r>
            <a:endParaRPr lang="de-CH" sz="2000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80A683-47C8-E376-6749-6B4AC81B13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5999" y="1449000"/>
            <a:ext cx="3960000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994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050A74-6ED2-41B3-AD63-74F89C447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Agenda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792F61-F3A1-4E2C-B0EE-9742603FD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sz="2000" noProof="0" dirty="0"/>
              <a:t>Theorie-Recap / Fragen</a:t>
            </a:r>
          </a:p>
          <a:p>
            <a:r>
              <a:rPr lang="de-CH" sz="2000" noProof="0" dirty="0"/>
              <a:t>Nachbesprechung Aufgaben</a:t>
            </a:r>
          </a:p>
          <a:p>
            <a:r>
              <a:rPr lang="de-CH" sz="2000" noProof="0" dirty="0"/>
              <a:t>Vorbesprechung Aufgaben</a:t>
            </a:r>
          </a:p>
          <a:p>
            <a:endParaRPr lang="de-CH" sz="2000" noProof="0" dirty="0"/>
          </a:p>
          <a:p>
            <a:r>
              <a:rPr lang="de-CH" noProof="0" dirty="0"/>
              <a:t>Einrichtung Workspace</a:t>
            </a:r>
          </a:p>
          <a:p>
            <a:r>
              <a:rPr lang="de-CH" noProof="0" dirty="0"/>
              <a:t>Tips für Aufgaben</a:t>
            </a:r>
          </a:p>
          <a:p>
            <a:pPr marL="0" indent="0">
              <a:buNone/>
            </a:pPr>
            <a:endParaRPr lang="de-CH" sz="2000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08BFF2-5DEB-4FE4-A3E3-C18FD3A38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 dirty="0"/>
              <a:t>D-INFK ETHZ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726846-AD64-4677-BEA5-D3BDD96C7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2947E-D2DB-4F76-9588-775FC8D85F8C}" type="datetime1">
              <a:rPr lang="de-CH" noProof="0" smtClean="0"/>
              <a:t>17.09.2026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665EC3-3ED3-4D21-AC3C-EAD0881BA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5</a:t>
            </a:fld>
            <a:endParaRPr lang="de-CH" noProof="0" dirty="0"/>
          </a:p>
        </p:txBody>
      </p:sp>
    </p:spTree>
    <p:extLst>
      <p:ext uri="{BB962C8B-B14F-4D97-AF65-F5344CB8AC3E}">
        <p14:creationId xmlns:p14="http://schemas.microsoft.com/office/powerpoint/2010/main" val="3164086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84A99-9488-C4F2-9F4C-2CDA9EF47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Darstellung von Zahlen </a:t>
            </a:r>
            <a:br>
              <a:rPr lang="de-CH" noProof="0" dirty="0"/>
            </a:br>
            <a:r>
              <a:rPr lang="de-CH" noProof="0" dirty="0"/>
              <a:t>&amp; Rundungsfehler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232D41-7202-F198-92AD-37B44B106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EAFE7-317E-4912-B75C-DD6945F82242}" type="datetime1">
              <a:rPr lang="de-CH" noProof="0" smtClean="0"/>
              <a:t>17.09.2026</a:t>
            </a:fld>
            <a:endParaRPr lang="de-CH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B1323A-6F9A-91D7-CADE-01B97A0E9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 dirty="0"/>
              <a:t>D-INFK ETHZ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FEE5F-C11D-7059-3519-FB429E324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pPr/>
              <a:t>6</a:t>
            </a:fld>
            <a:endParaRPr lang="de-CH" noProof="0" dirty="0"/>
          </a:p>
        </p:txBody>
      </p:sp>
    </p:spTree>
    <p:extLst>
      <p:ext uri="{BB962C8B-B14F-4D97-AF65-F5344CB8AC3E}">
        <p14:creationId xmlns:p14="http://schemas.microsoft.com/office/powerpoint/2010/main" val="2775619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E490F-05FA-0EEF-C995-3290319CD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Darstellung</a:t>
            </a:r>
            <a:r>
              <a:rPr lang="en-US" dirty="0"/>
              <a:t> von </a:t>
            </a:r>
            <a:r>
              <a:rPr lang="en-US" dirty="0" err="1"/>
              <a:t>Kommazahlen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BBECE-6939-D392-F0B3-3A39D02AF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17.09.2026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16573-6A9D-F19F-1804-180F9F130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D-Infk ETHZ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38D6C-902F-6A96-84C0-1CD9A1B79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7</a:t>
            </a:fld>
            <a:endParaRPr lang="de-CH" noProof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5846656-DD89-D9B9-15F0-F1A35101833D}"/>
              </a:ext>
            </a:extLst>
          </p:cNvPr>
          <p:cNvGrpSpPr/>
          <p:nvPr/>
        </p:nvGrpSpPr>
        <p:grpSpPr>
          <a:xfrm>
            <a:off x="3529383" y="1589920"/>
            <a:ext cx="5184438" cy="916464"/>
            <a:chOff x="3529383" y="1589920"/>
            <a:chExt cx="5184438" cy="91646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6F6AE45-9CE9-FCE8-EE75-42DF8FB13660}"/>
                </a:ext>
              </a:extLst>
            </p:cNvPr>
            <p:cNvGrpSpPr/>
            <p:nvPr/>
          </p:nvGrpSpPr>
          <p:grpSpPr>
            <a:xfrm>
              <a:off x="3777436" y="1589920"/>
              <a:ext cx="4936385" cy="606878"/>
              <a:chOff x="4149560" y="1682750"/>
              <a:chExt cx="3486482" cy="448128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AE5B994-3326-2476-65B4-4C8312A68C40}"/>
                  </a:ext>
                </a:extLst>
              </p:cNvPr>
              <p:cNvSpPr/>
              <p:nvPr/>
            </p:nvSpPr>
            <p:spPr>
              <a:xfrm>
                <a:off x="4149560" y="1682750"/>
                <a:ext cx="326188" cy="338554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F5C180C-AEB7-5DB6-F8DB-B7AC770AB08C}"/>
                  </a:ext>
                </a:extLst>
              </p:cNvPr>
              <p:cNvSpPr/>
              <p:nvPr/>
            </p:nvSpPr>
            <p:spPr>
              <a:xfrm>
                <a:off x="4475748" y="1682750"/>
                <a:ext cx="914400" cy="338554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1317FC7-ABFC-F2D4-FFB2-F70086F3602C}"/>
                  </a:ext>
                </a:extLst>
              </p:cNvPr>
              <p:cNvSpPr/>
              <p:nvPr/>
            </p:nvSpPr>
            <p:spPr>
              <a:xfrm>
                <a:off x="5390148" y="1682750"/>
                <a:ext cx="2245894" cy="338554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 dirty="0"/>
              </a:p>
            </p:txBody>
          </p:sp>
          <p:sp>
            <p:nvSpPr>
              <p:cNvPr id="12" name="Left Brace 11">
                <a:extLst>
                  <a:ext uri="{FF2B5EF4-FFF2-40B4-BE49-F238E27FC236}">
                    <a16:creationId xmlns:a16="http://schemas.microsoft.com/office/drawing/2014/main" id="{016965D4-0B0C-73FB-EA2D-7B3B6A5E667A}"/>
                  </a:ext>
                </a:extLst>
              </p:cNvPr>
              <p:cNvSpPr/>
              <p:nvPr/>
            </p:nvSpPr>
            <p:spPr>
              <a:xfrm rot="16200000">
                <a:off x="4269900" y="1925029"/>
                <a:ext cx="85509" cy="326189"/>
              </a:xfrm>
              <a:prstGeom prst="leftBrace">
                <a:avLst>
                  <a:gd name="adj1" fmla="val 48115"/>
                  <a:gd name="adj2" fmla="val 50000"/>
                </a:avLst>
              </a:prstGeom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14" name="Left Brace 13">
                <a:extLst>
                  <a:ext uri="{FF2B5EF4-FFF2-40B4-BE49-F238E27FC236}">
                    <a16:creationId xmlns:a16="http://schemas.microsoft.com/office/drawing/2014/main" id="{2665F86A-7D66-8430-89A0-BDC53E82C178}"/>
                  </a:ext>
                </a:extLst>
              </p:cNvPr>
              <p:cNvSpPr/>
              <p:nvPr/>
            </p:nvSpPr>
            <p:spPr>
              <a:xfrm rot="16200000">
                <a:off x="4890193" y="1630923"/>
                <a:ext cx="85509" cy="914399"/>
              </a:xfrm>
              <a:prstGeom prst="leftBrace">
                <a:avLst>
                  <a:gd name="adj1" fmla="val 48115"/>
                  <a:gd name="adj2" fmla="val 50000"/>
                </a:avLst>
              </a:prstGeom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16" name="Left Brace 15">
                <a:extLst>
                  <a:ext uri="{FF2B5EF4-FFF2-40B4-BE49-F238E27FC236}">
                    <a16:creationId xmlns:a16="http://schemas.microsoft.com/office/drawing/2014/main" id="{27143797-B2ED-3AD9-849F-70A3E1E68B6A}"/>
                  </a:ext>
                </a:extLst>
              </p:cNvPr>
              <p:cNvSpPr/>
              <p:nvPr/>
            </p:nvSpPr>
            <p:spPr>
              <a:xfrm rot="16200000">
                <a:off x="6470339" y="965172"/>
                <a:ext cx="85509" cy="2245894"/>
              </a:xfrm>
              <a:prstGeom prst="leftBrace">
                <a:avLst>
                  <a:gd name="adj1" fmla="val 41750"/>
                  <a:gd name="adj2" fmla="val 50000"/>
                </a:avLst>
              </a:prstGeom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51886F6-9EE4-7B2C-05D7-4F750132A6B4}"/>
                </a:ext>
              </a:extLst>
            </p:cNvPr>
            <p:cNvSpPr txBox="1"/>
            <p:nvPr/>
          </p:nvSpPr>
          <p:spPr>
            <a:xfrm>
              <a:off x="3529383" y="2229385"/>
              <a:ext cx="9579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Vorzeichen</a:t>
              </a:r>
              <a:endParaRPr lang="en-CH" sz="12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F4CA2A3C-1702-DDDF-AFC1-63D87A0E00F8}"/>
                    </a:ext>
                  </a:extLst>
                </p:cNvPr>
                <p:cNvSpPr txBox="1"/>
                <p:nvPr/>
              </p:nvSpPr>
              <p:spPr>
                <a:xfrm>
                  <a:off x="4378252" y="2229384"/>
                  <a:ext cx="101670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Exponent </a:t>
                  </a:r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a14:m>
                  <a:endParaRPr lang="en-CH" sz="120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F4CA2A3C-1702-DDDF-AFC1-63D87A0E00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78252" y="2229384"/>
                  <a:ext cx="1016708" cy="276999"/>
                </a:xfrm>
                <a:prstGeom prst="rect">
                  <a:avLst/>
                </a:prstGeom>
                <a:blipFill>
                  <a:blip r:embed="rId2"/>
                  <a:stretch>
                    <a:fillRect t="-4444" b="-15556"/>
                  </a:stretch>
                </a:blipFill>
              </p:spPr>
              <p:txBody>
                <a:bodyPr/>
                <a:lstStyle/>
                <a:p>
                  <a:r>
                    <a:rPr lang="en-CH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5857798-548C-8924-D3B9-6D347D650223}"/>
                    </a:ext>
                  </a:extLst>
                </p:cNvPr>
                <p:cNvSpPr txBox="1"/>
                <p:nvPr/>
              </p:nvSpPr>
              <p:spPr>
                <a:xfrm>
                  <a:off x="5935029" y="2229384"/>
                  <a:ext cx="237769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Mantisse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...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a14:m>
                  <a:endParaRPr lang="en-CH" sz="12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5857798-548C-8924-D3B9-6D347D6502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35029" y="2229384"/>
                  <a:ext cx="2377698" cy="276999"/>
                </a:xfrm>
                <a:prstGeom prst="rect">
                  <a:avLst/>
                </a:prstGeom>
                <a:blipFill>
                  <a:blip r:embed="rId3"/>
                  <a:stretch>
                    <a:fillRect t="-4444" b="-15556"/>
                  </a:stretch>
                </a:blipFill>
              </p:spPr>
              <p:txBody>
                <a:bodyPr/>
                <a:lstStyle/>
                <a:p>
                  <a:r>
                    <a:rPr lang="en-CH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2">
                <a:extLst>
                  <a:ext uri="{FF2B5EF4-FFF2-40B4-BE49-F238E27FC236}">
                    <a16:creationId xmlns:a16="http://schemas.microsoft.com/office/drawing/2014/main" id="{3B886B40-A893-66F7-159E-C8158ED14D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31837" y="3002225"/>
                <a:ext cx="10728325" cy="309065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de-CH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de-CH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</m:t>
                      </m:r>
                      <m:sSub>
                        <m:sSubPr>
                          <m:ctrlPr>
                            <a:rPr lang="de-CH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de-CH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de-CH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de-CH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de-CH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de-CH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CH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...</m:t>
                      </m:r>
                      <m:sSub>
                        <m:sSubPr>
                          <m:ctrlPr>
                            <a:rPr lang="de-CH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de-CH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de-CH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de-CH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de-CH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sup>
                      </m:sSup>
                    </m:oMath>
                  </m:oMathPara>
                </a14:m>
                <a:endParaRPr lang="de-CH" noProof="0" dirty="0"/>
              </a:p>
              <a:p>
                <a:pPr marL="0" indent="0">
                  <a:buNone/>
                </a:pPr>
                <a:endParaRPr lang="de-CH" noProof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de-CH" noProof="0" dirty="0"/>
                  <a:t>: Basis (im computer normalerweise 2, hier manchmal auch 10)</a:t>
                </a:r>
              </a:p>
              <a:p>
                <a:pPr marL="0" indent="0">
                  <a:buNone/>
                </a:pPr>
                <a:endParaRPr lang="de-CH" dirty="0"/>
              </a:p>
              <a:p>
                <a:pPr marL="0" indent="0">
                  <a:buNone/>
                </a:pPr>
                <a:r>
                  <a:rPr lang="de-CH" dirty="0"/>
                  <a:t>Hier im Kurs: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de-CH" b="1" noProof="0" dirty="0"/>
                  <a:t> </a:t>
                </a:r>
                <a:r>
                  <a:rPr lang="de-CH" noProof="0" dirty="0"/>
                  <a:t>ist </a:t>
                </a:r>
                <a:r>
                  <a:rPr lang="de-CH" b="1" noProof="0" dirty="0"/>
                  <a:t>nie</a:t>
                </a:r>
                <a:r>
                  <a:rPr lang="de-CH" noProof="0" dirty="0"/>
                  <a:t> null wenn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de-CH" noProof="0" dirty="0"/>
                  <a:t>! 	</a:t>
                </a:r>
              </a:p>
              <a:p>
                <a:pPr marL="0" indent="0">
                  <a:buNone/>
                </a:pPr>
                <a:r>
                  <a:rPr lang="de-CH" i="1" noProof="0" dirty="0"/>
                  <a:t>(Spoiler SysProg: stimmt nicht immer!)</a:t>
                </a:r>
              </a:p>
            </p:txBody>
          </p:sp>
        </mc:Choice>
        <mc:Fallback xmlns="">
          <p:sp>
            <p:nvSpPr>
              <p:cNvPr id="23" name="Content Placeholder 2">
                <a:extLst>
                  <a:ext uri="{FF2B5EF4-FFF2-40B4-BE49-F238E27FC236}">
                    <a16:creationId xmlns:a16="http://schemas.microsoft.com/office/drawing/2014/main" id="{3B886B40-A893-66F7-159E-C8158ED14D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1837" y="3002225"/>
                <a:ext cx="10728325" cy="3090650"/>
              </a:xfrm>
              <a:blipFill>
                <a:blip r:embed="rId4"/>
                <a:stretch>
                  <a:fillRect l="-1307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5347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BE24F-2DDE-8D70-DDCE-DB3C5B3A8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Rundungsfehler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A12E0-C16E-BF9A-C129-C668F9A1B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noProof="0" dirty="0"/>
              <a:t>Computer sind Endliche Maschinen:</a:t>
            </a:r>
          </a:p>
          <a:p>
            <a:pPr lvl="1"/>
            <a:r>
              <a:rPr lang="de-CH" noProof="0" dirty="0"/>
              <a:t>Limitierte Auflösung bei Zahlen</a:t>
            </a:r>
          </a:p>
          <a:p>
            <a:pPr lvl="1"/>
            <a:r>
              <a:rPr lang="de-CH" noProof="0" dirty="0"/>
              <a:t>Wachsende Fehler bei wiederholten Rechenschritten</a:t>
            </a:r>
          </a:p>
          <a:p>
            <a:pPr lvl="1"/>
            <a:r>
              <a:rPr lang="de-CH" b="1" noProof="0" dirty="0"/>
              <a:t>Auslöschung bei Subtraktion</a:t>
            </a:r>
            <a:endParaRPr lang="de-CH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A381B-AA50-1620-5C82-F750BAA81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17.09.2026</a:t>
            </a:fld>
            <a:endParaRPr lang="de-CH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7A078-2DD5-98B6-4061-1557B3868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 dirty="0"/>
              <a:t>D-INFK ETHZ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19C1FB-D502-28D8-C30C-141C93B0C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8</a:t>
            </a:fld>
            <a:endParaRPr lang="de-CH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9EE0429-3470-6F16-8CA0-F8EEF8371100}"/>
              </a:ext>
            </a:extLst>
          </p:cNvPr>
          <p:cNvGrpSpPr/>
          <p:nvPr/>
        </p:nvGrpSpPr>
        <p:grpSpPr>
          <a:xfrm>
            <a:off x="4761830" y="3513221"/>
            <a:ext cx="2668338" cy="2005264"/>
            <a:chOff x="4518774" y="2614863"/>
            <a:chExt cx="2668338" cy="20052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1EB3AA0-A71E-C640-06D9-3F58A89C68F6}"/>
                </a:ext>
              </a:extLst>
            </p:cNvPr>
            <p:cNvSpPr/>
            <p:nvPr/>
          </p:nvSpPr>
          <p:spPr>
            <a:xfrm>
              <a:off x="5676480" y="3096127"/>
              <a:ext cx="352926" cy="1524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2F0C3D8-640B-5B05-7C8F-3A6734066C91}"/>
                </a:ext>
              </a:extLst>
            </p:cNvPr>
            <p:cNvSpPr/>
            <p:nvPr/>
          </p:nvSpPr>
          <p:spPr>
            <a:xfrm>
              <a:off x="6834186" y="4406232"/>
              <a:ext cx="352926" cy="2138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5CD1CC5-1FE0-97DA-3A42-942FDDD85C7E}"/>
                </a:ext>
              </a:extLst>
            </p:cNvPr>
            <p:cNvSpPr/>
            <p:nvPr/>
          </p:nvSpPr>
          <p:spPr>
            <a:xfrm>
              <a:off x="4518774" y="2882232"/>
              <a:ext cx="352926" cy="17378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2B70CC1-3546-FB3B-440F-874E383A526B}"/>
                </a:ext>
              </a:extLst>
            </p:cNvPr>
            <p:cNvSpPr/>
            <p:nvPr/>
          </p:nvSpPr>
          <p:spPr>
            <a:xfrm>
              <a:off x="5676480" y="3331411"/>
              <a:ext cx="352926" cy="1288715"/>
            </a:xfrm>
            <a:prstGeom prst="rect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4594502-9AFA-DE63-283D-A3910359E737}"/>
                </a:ext>
              </a:extLst>
            </p:cNvPr>
            <p:cNvSpPr/>
            <p:nvPr/>
          </p:nvSpPr>
          <p:spPr>
            <a:xfrm>
              <a:off x="4518774" y="2614863"/>
              <a:ext cx="352926" cy="200526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D5A21C9-57B2-E585-0FCD-756B7122E5EA}"/>
                </a:ext>
              </a:extLst>
            </p:cNvPr>
            <p:cNvSpPr/>
            <p:nvPr/>
          </p:nvSpPr>
          <p:spPr>
            <a:xfrm>
              <a:off x="6834186" y="3903580"/>
              <a:ext cx="352926" cy="71654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4" name="Minus Sign 13">
              <a:extLst>
                <a:ext uri="{FF2B5EF4-FFF2-40B4-BE49-F238E27FC236}">
                  <a16:creationId xmlns:a16="http://schemas.microsoft.com/office/drawing/2014/main" id="{AABBC18E-17BA-7ADC-30C9-452D2C5FE158}"/>
                </a:ext>
              </a:extLst>
            </p:cNvPr>
            <p:cNvSpPr/>
            <p:nvPr/>
          </p:nvSpPr>
          <p:spPr>
            <a:xfrm>
              <a:off x="5097627" y="3421628"/>
              <a:ext cx="352926" cy="391731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5" name="Equals 14">
              <a:extLst>
                <a:ext uri="{FF2B5EF4-FFF2-40B4-BE49-F238E27FC236}">
                  <a16:creationId xmlns:a16="http://schemas.microsoft.com/office/drawing/2014/main" id="{D4723AA7-CDD6-E71E-EB8F-30E93D21DFAC}"/>
                </a:ext>
              </a:extLst>
            </p:cNvPr>
            <p:cNvSpPr/>
            <p:nvPr/>
          </p:nvSpPr>
          <p:spPr>
            <a:xfrm>
              <a:off x="6255333" y="3457063"/>
              <a:ext cx="352926" cy="320860"/>
            </a:xfrm>
            <a:prstGeom prst="mathEqual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2070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6D97F-4B57-2948-9B22-05CBA5BFF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Beispiel: Auslöschung in Quadratischer Formel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A3010E-E7D6-AFF8-EDA6-467751D4E4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CH" sz="2000" b="0" noProof="0" dirty="0"/>
                  <a:t>Wir lösen: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e-CH" sz="20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CH" sz="2000" b="0" i="1" noProof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de-CH" sz="2000" b="0" i="1" noProof="0" smtClean="0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de-CH" sz="2000" b="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CH" sz="20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CH" sz="2000" b="0" i="1" noProof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de-CH" sz="2000" b="0" i="1" noProof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e-CH" sz="2000" noProof="0" dirty="0"/>
              </a:p>
              <a:p>
                <a:pPr marL="0" indent="0">
                  <a:buNone/>
                </a:pPr>
                <a:r>
                  <a:rPr lang="de-CH" sz="2000" noProof="0" dirty="0"/>
                  <a:t>“Mitternachtsformel”:</a:t>
                </a:r>
              </a:p>
              <a:p>
                <a:pPr marL="0" indent="0">
                  <a:buNone/>
                </a:pPr>
                <a:r>
                  <a:rPr lang="de-CH" sz="2000" noProof="0" dirty="0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20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20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CH" sz="2000" b="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CH" sz="2000" b="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CH" sz="2000" b="0" i="1" noProof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CH" sz="2000" b="0" i="1" noProof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CH" sz="2000" b="0" i="1" noProof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de-CH" sz="2000" b="0" i="1" noProof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de-CH" sz="2000" b="0" i="1" noProof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de-CH" sz="2000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CH" sz="2000" b="0" i="1" noProof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de-CH" sz="2000" b="0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de-CH" sz="2000" b="0" i="1" noProof="0" smtClean="0">
                                <a:latin typeface="Cambria Math" panose="02040503050406030204" pitchFamily="18" charset="0"/>
                              </a:rPr>
                              <m:t>−4</m:t>
                            </m:r>
                            <m:r>
                              <a:rPr lang="de-CH" sz="2000" b="0" i="1" noProof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rad>
                      </m:num>
                      <m:den>
                        <m:r>
                          <a:rPr lang="de-CH" sz="20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de-CH" sz="2000" noProof="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20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20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CH" sz="20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CH" sz="2000" b="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CH" sz="2000" b="0" i="1" noProof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CH" sz="2000" b="0" i="1" noProof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CH" sz="2000" b="0" i="1" noProof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de-CH" sz="2000" b="0" i="1" noProof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de-CH" sz="2000" b="0" i="1" noProof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de-CH" sz="2000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CH" sz="2000" b="0" i="1" noProof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de-CH" sz="2000" b="0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de-CH" sz="2000" b="0" i="1" noProof="0" smtClean="0">
                                <a:latin typeface="Cambria Math" panose="02040503050406030204" pitchFamily="18" charset="0"/>
                              </a:rPr>
                              <m:t>−4</m:t>
                            </m:r>
                            <m:r>
                              <a:rPr lang="de-CH" sz="2000" b="0" i="1" noProof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rad>
                      </m:num>
                      <m:den>
                        <m:r>
                          <a:rPr lang="de-CH" sz="20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de-CH" sz="2000" noProof="0" dirty="0"/>
              </a:p>
              <a:p>
                <a:pPr marL="0" indent="0">
                  <a:buNone/>
                </a:pPr>
                <a:r>
                  <a:rPr lang="de-CH" sz="2000" b="1" noProof="0" dirty="0"/>
                  <a:t>Auslöschung: </a:t>
                </a:r>
                <a:r>
                  <a:rPr lang="de-CH" sz="2000" noProof="0" dirty="0"/>
                  <a:t>Eine Lösung wird Fehlerbehaftet sein!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A3010E-E7D6-AFF8-EDA6-467751D4E4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20" t="-156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91B38-B326-0F83-0730-0E27A86BC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17.09.2026</a:t>
            </a:fld>
            <a:endParaRPr lang="de-CH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4AAE7-52CB-78CF-91F9-146FA2302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 dirty="0"/>
              <a:t>D-Infk ETHZ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B3E90-56BE-C52C-0719-BD8B81FD5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9</a:t>
            </a:fld>
            <a:endParaRPr lang="de-CH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0E4737-ADD1-CF72-ACC9-D306503EE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571" y="3752876"/>
            <a:ext cx="3419129" cy="2663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375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31DB5-D6B6-ADD3-CA71-72CCEC75D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Ansatz: Auslöschung in Quadratischer Formel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52F1EE-F8ED-8E33-209C-DF0FFB7438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CH" sz="2000" noProof="0" dirty="0"/>
                  <a:t>Wir berechnen Lösung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20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20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CH" sz="2000" b="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CH" sz="2000" noProof="0" dirty="0"/>
                  <a:t> wie zuvor: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sz="200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00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sz="200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CH" sz="200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200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200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CH" sz="200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de-CH" sz="200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de-CH" sz="200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de-CH" sz="200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CH" sz="200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de-CH" sz="200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e-CH" sz="200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de-CH" sz="200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rad>
                        </m:num>
                        <m:den>
                          <m:r>
                            <a:rPr lang="de-CH" sz="200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de-CH" sz="2000" noProof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de-CH" sz="2000" noProof="0" dirty="0"/>
                  <a:t>Nutze </a:t>
                </a:r>
                <a:r>
                  <a:rPr lang="de-CH" sz="2000" i="1" noProof="0" dirty="0"/>
                  <a:t>Satz von Vieta</a:t>
                </a:r>
                <a:r>
                  <a:rPr lang="de-CH" sz="2000" noProof="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sz="20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0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sz="20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CH" sz="20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de-CH" sz="20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0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sz="20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20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sz="20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de-CH" sz="20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⟹</m:t>
                      </m:r>
                      <m:sSub>
                        <m:sSubPr>
                          <m:ctrlPr>
                            <a:rPr lang="de-CH" sz="20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0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sz="20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20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0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num>
                        <m:den>
                          <m:sSub>
                            <m:sSubPr>
                              <m:ctrlPr>
                                <a:rPr lang="de-CH" sz="20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20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CH" sz="20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CH" sz="2000" noProof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de-CH" sz="2000" b="1" noProof="0" dirty="0"/>
                  <a:t>Keine</a:t>
                </a:r>
                <a:r>
                  <a:rPr lang="de-CH" sz="2000" noProof="0" dirty="0"/>
                  <a:t> Subtraktion!</a:t>
                </a:r>
                <a:endParaRPr lang="de-CH" sz="2000" noProof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52F1EE-F8ED-8E33-209C-DF0FFB7438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20" t="-156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2B058-080D-E31B-EBF8-2BC57A6A7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17.09.2026</a:t>
            </a:fld>
            <a:endParaRPr lang="de-CH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7548F-4C3D-E073-C283-B39065D1B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 dirty="0"/>
              <a:t>D-Infk ETHZ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2DD4A-D1A4-A709-7A5D-4FDB79D19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10</a:t>
            </a:fld>
            <a:endParaRPr lang="de-CH" noProof="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C642616-A4DC-D647-3BB2-ED0DD08697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571" y="3752875"/>
            <a:ext cx="3419129" cy="26638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EECA560-DC29-4368-6158-7C45696BF5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2571" y="3752875"/>
            <a:ext cx="3419129" cy="2663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220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29173-58F5-3115-7CE0-7FAF9CADE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Numerische Ableitungen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B34AEB-DBE2-A20E-489C-C08D1A856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EAFE7-317E-4912-B75C-DD6945F82242}" type="datetime1">
              <a:rPr lang="de-CH" noProof="0" smtClean="0"/>
              <a:t>17.09.2026</a:t>
            </a:fld>
            <a:endParaRPr lang="de-CH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A0A778-D90E-6FA5-2B06-DB01223CB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 dirty="0"/>
              <a:t>D-Infk ETHZ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67DA9A-8833-8EB0-96A7-5D1AE955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pPr/>
              <a:t>11</a:t>
            </a:fld>
            <a:endParaRPr lang="de-CH" noProof="0" dirty="0"/>
          </a:p>
        </p:txBody>
      </p:sp>
    </p:spTree>
    <p:extLst>
      <p:ext uri="{BB962C8B-B14F-4D97-AF65-F5344CB8AC3E}">
        <p14:creationId xmlns:p14="http://schemas.microsoft.com/office/powerpoint/2010/main" val="1783231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84B92-B95D-E037-E2CA-348DA674C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Beispiel: Auslöschung bei Ableitung mit Differenzenquotient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CFFAD-8A52-D9F6-0612-C571B190E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17.09.2026</a:t>
            </a:fld>
            <a:endParaRPr lang="de-CH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034F70-D1D1-2250-2920-0721CB24A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 dirty="0"/>
              <a:t>D-INFK ETHZ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16BBF-00FF-2E3E-0A93-A1010D6C6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12</a:t>
            </a:fld>
            <a:endParaRPr lang="de-CH" noProof="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C233651-9F0A-D35B-D478-1DA34E5D2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8765" y="119556"/>
            <a:ext cx="6227064" cy="6858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E1FBC27-F0D1-487E-AEE7-844B9F4221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6701" y="1234435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814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CF83B-7CD5-6199-2E31-1979CB90C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48B99-6B69-ECB1-4EE5-ABECAF375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Beispiel: Auslöschung bei Ableitung mit Differenzenquotient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7F213-902A-797D-AB33-E2E43521C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17.09.2026</a:t>
            </a:fld>
            <a:endParaRPr lang="de-CH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33A5D-8628-71A5-C64C-EF2CBF0BC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 dirty="0"/>
              <a:t>D-INFK ETHZ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D8240-48DE-A3B6-8FB6-77D0A48D4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13</a:t>
            </a:fld>
            <a:endParaRPr lang="de-CH" noProof="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091C90E-540E-2125-54D2-04E2CAA96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000" y="1411397"/>
            <a:ext cx="5256000" cy="4860000"/>
          </a:xfrm>
        </p:spPr>
        <p:txBody>
          <a:bodyPr/>
          <a:lstStyle/>
          <a:p>
            <a:r>
              <a:rPr lang="de-CH" noProof="0" dirty="0"/>
              <a:t>Kleineres h ergibt kleineren Fehler</a:t>
            </a:r>
            <a:br>
              <a:rPr lang="de-CH" noProof="0" dirty="0"/>
            </a:br>
            <a:r>
              <a:rPr lang="de-CH" b="1" noProof="0" dirty="0"/>
              <a:t>Bis an eine Grenze</a:t>
            </a:r>
          </a:p>
          <a:p>
            <a:endParaRPr lang="de-CH" b="1" noProof="0" dirty="0"/>
          </a:p>
          <a:p>
            <a:r>
              <a:rPr lang="de-CH" noProof="0" dirty="0"/>
              <a:t>Danach Auslöschung:</a:t>
            </a:r>
          </a:p>
          <a:p>
            <a:pPr lvl="1"/>
            <a:r>
              <a:rPr lang="de-CH" noProof="0" dirty="0"/>
              <a:t>Fehler wächst bis zu 100%</a:t>
            </a:r>
          </a:p>
          <a:p>
            <a:pPr lvl="1"/>
            <a:endParaRPr lang="de-CH" noProof="0" dirty="0"/>
          </a:p>
          <a:p>
            <a:pPr marL="266700" lvl="1" indent="0">
              <a:buNone/>
            </a:pPr>
            <a:r>
              <a:rPr lang="de-CH" b="1" noProof="0" dirty="0"/>
              <a:t>Problem!!!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FAC1B0-EE5C-B730-0466-6E962F387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4067" y="1160350"/>
            <a:ext cx="5381625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438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FE22A1-56F7-4FF9-8A90-D307E6733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Ansatz 1: </a:t>
            </a:r>
            <a:r>
              <a:rPr lang="de-CH" i="1" noProof="0" dirty="0"/>
              <a:t>Ableitung via rein imaginären Schritt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6BD7DC3-17C3-4B09-9D8E-F143A82B20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de-CH" sz="2000" noProof="0" dirty="0"/>
                  <a:t>Taylor-Reihen Differenzenquotienten reell/imaginär:</a:t>
                </a:r>
                <a:endParaRPr lang="de-CH" sz="2000" b="0" noProof="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de-CH" sz="2000" b="0" i="1" noProof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CH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2000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CH" sz="2000" b="0" i="1" noProof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</m:d>
                      <m:r>
                        <a:rPr lang="de-CH" sz="20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sz="2000" b="0" i="1" noProof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CH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2000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CH" sz="2000" b="0" i="1" noProof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de-CH" sz="20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CH" sz="2000" b="0" i="1" noProof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CH" sz="2000" b="0" i="1" noProof="0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CH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2000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CH" sz="2000" b="0" i="1" noProof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de-CH" sz="2000" b="0" i="1" noProof="0" smtClean="0"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de-CH" sz="20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e-CH" sz="2000" b="0" i="1" noProof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CH" sz="2000" b="0" i="1" noProof="0" smtClean="0">
                          <a:latin typeface="Cambria Math" panose="02040503050406030204" pitchFamily="18" charset="0"/>
                        </a:rPr>
                        <m:t>′′</m:t>
                      </m:r>
                      <m:d>
                        <m:dPr>
                          <m:ctrlP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CH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2000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CH" sz="2000" b="0" i="1" noProof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p>
                          <m: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e-CH" sz="20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de-CH" sz="2000" b="0" i="1" noProof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CH" sz="2000" b="0" i="1" noProof="0" smtClean="0">
                          <a:latin typeface="Cambria Math" panose="02040503050406030204" pitchFamily="18" charset="0"/>
                        </a:rPr>
                        <m:t>′′′</m:t>
                      </m:r>
                      <m:d>
                        <m:dPr>
                          <m:ctrlP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CH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2000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CH" sz="2000" b="0" i="1" noProof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p>
                          <m: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de-CH" sz="20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CH" sz="2000" b="0" i="1" noProof="0" smtClean="0">
                          <a:latin typeface="Cambria Math" panose="02040503050406030204" pitchFamily="18" charset="0"/>
                        </a:rPr>
                        <m:t>𝒪</m:t>
                      </m:r>
                      <m:d>
                        <m:dPr>
                          <m:ctrlP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de-CH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sz="2000" b="0" i="1" noProof="0" smtClean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p>
                              <m:r>
                                <a:rPr lang="de-CH" sz="2000" b="0" i="1" noProof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de-CH" sz="2000" b="0" i="1" noProof="0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de-CH" sz="2000" b="0" i="1" noProof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CH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2000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CH" sz="2000" b="0" i="1" noProof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e-CH" sz="20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</m:d>
                      <m:r>
                        <a:rPr lang="de-CH" sz="20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sz="2000" b="0" i="1" noProof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CH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2000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CH" sz="2000" b="0" i="1" noProof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de-CH" sz="20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CH" sz="2000" b="0" i="1" noProof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CH" sz="2000" b="0" i="1" noProof="0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CH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2000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CH" sz="2000" b="0" i="1" noProof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de-CH" sz="2000" b="0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e-CH" sz="2000" b="0" i="1" noProof="0" smtClean="0"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de-CH" sz="2000" b="0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e-CH" sz="2000" b="0" i="1" noProof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CH" sz="2000" b="0" i="1" noProof="0" smtClean="0">
                          <a:latin typeface="Cambria Math" panose="02040503050406030204" pitchFamily="18" charset="0"/>
                        </a:rPr>
                        <m:t>′′</m:t>
                      </m:r>
                      <m:d>
                        <m:dPr>
                          <m:ctrlP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CH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2000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CH" sz="2000" b="0" i="1" noProof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p>
                          <m: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e-CH" sz="2000" b="0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de-CH" sz="20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20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de-CH" sz="2000" b="0" i="1" noProof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CH" sz="2000" b="0" i="1" noProof="0" smtClean="0">
                          <a:latin typeface="Cambria Math" panose="02040503050406030204" pitchFamily="18" charset="0"/>
                        </a:rPr>
                        <m:t>′′′</m:t>
                      </m:r>
                      <m:d>
                        <m:dPr>
                          <m:ctrlP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CH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2000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CH" sz="2000" b="0" i="1" noProof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p>
                          <m: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de-CH" sz="20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CH" sz="2000" b="0" i="1" noProof="0" smtClean="0">
                          <a:latin typeface="Cambria Math" panose="02040503050406030204" pitchFamily="18" charset="0"/>
                        </a:rPr>
                        <m:t>𝒪</m:t>
                      </m:r>
                      <m:d>
                        <m:dPr>
                          <m:ctrlP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de-CH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sz="2000" b="0" i="1" noProof="0" smtClean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p>
                              <m:r>
                                <a:rPr lang="de-CH" sz="2000" b="0" i="1" noProof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de-CH" sz="2000" noProof="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de-CH" sz="2000" noProof="0" dirty="0"/>
                  <a:t>Betrachten wir nur den Imaginärteil der zweiten Formel: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de-CH" sz="2000" b="0" i="1" noProof="0" smtClean="0">
                          <a:latin typeface="Cambria Math" panose="02040503050406030204" pitchFamily="18" charset="0"/>
                        </a:rPr>
                        <m:t>𝐼𝑚</m:t>
                      </m:r>
                      <m:d>
                        <m:dPr>
                          <m:ctrlP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de-CH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CH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sz="2000" b="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de-CH" sz="2000" b="0" i="1" noProof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de-CH" sz="2000" b="0" i="1" noProof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CH" sz="2000" b="0" i="1" noProof="0" smtClean="0">
                                  <a:latin typeface="Cambria Math" panose="02040503050406030204" pitchFamily="18" charset="0"/>
                                </a:rPr>
                                <m:t>𝑖ℎ</m:t>
                              </m:r>
                            </m:e>
                          </m:d>
                        </m:e>
                      </m:d>
                      <m:r>
                        <a:rPr lang="de-CH" sz="20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sz="2000" b="0" i="1" noProof="0" smtClean="0"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de-CH" sz="20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d>
                            <m:dPr>
                              <m:ctrlPr>
                                <a:rPr lang="de-CH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CH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sz="2000" b="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de-CH" sz="2000" b="0" i="1" noProof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de-CH" sz="2000" b="0" i="1" noProof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CH" sz="2000" b="0" i="1" noProof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𝒪</m:t>
                      </m:r>
                      <m:d>
                        <m:dPr>
                          <m:ctrlPr>
                            <a:rPr lang="de-CH" sz="2000" b="0" i="1" noProof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de-CH" sz="2000" b="0" i="1" noProof="0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sz="2000" b="0" i="1" noProof="0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p>
                              <m:r>
                                <a:rPr lang="de-CH" sz="2000" b="0" i="1" noProof="0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de-CH" sz="2000" noProof="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de-CH" sz="2000" b="0" i="1" noProof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CH" sz="2000" b="0" i="1" noProof="0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CH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2000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CH" sz="2000" b="0" i="1" noProof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de-CH" sz="2000" b="0" i="1" noProof="0" smtClean="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  <m:t>𝐼𝑚</m:t>
                          </m:r>
                          <m:d>
                            <m:dPr>
                              <m:ctrlPr>
                                <a:rPr lang="de-CH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2000" b="0" i="1" noProof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de-CH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CH" sz="20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CH" sz="2000" b="0" i="1" noProof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de-CH" sz="2000" b="0" i="1" noProof="0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de-CH" sz="2000" b="0" i="1" noProof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de-CH" sz="2000" b="0" i="1" noProof="0" smtClean="0">
                                      <a:latin typeface="Cambria Math" panose="02040503050406030204" pitchFamily="18" charset="0"/>
                                    </a:rPr>
                                    <m:t>𝑖ℎ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de-CH" sz="2000" b="0" i="1" noProof="0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den>
                      </m:f>
                    </m:oMath>
                  </m:oMathPara>
                </a14:m>
                <a:endParaRPr lang="de-CH" sz="2000" noProof="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de-CH" sz="2000" noProof="0" dirty="0"/>
                  <a:t>Konvergiert mit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CH" sz="2000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CH" sz="2000" b="0" i="1" noProof="0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de-CH" sz="20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de-CH" sz="2000" noProof="0" dirty="0"/>
                  <a:t> und verhindert Auslöschung.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6BD7DC3-17C3-4B09-9D8E-F143A82B20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20" b="-4824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4837140-56B7-432E-8671-4B63B23EE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 dirty="0"/>
              <a:t>D-INFK ETHZ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6DB7874-B99C-4F6D-A86D-EA0EE8CA0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5686-0170-47AF-9B8A-7DF387E652FA}" type="datetime1">
              <a:rPr lang="de-CH" noProof="0" smtClean="0"/>
              <a:t>17.09.2026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620278B-D74F-421E-A3BD-EC66D5837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14</a:t>
            </a:fld>
            <a:endParaRPr lang="de-CH" noProof="0" dirty="0"/>
          </a:p>
        </p:txBody>
      </p:sp>
    </p:spTree>
    <p:extLst>
      <p:ext uri="{BB962C8B-B14F-4D97-AF65-F5344CB8AC3E}">
        <p14:creationId xmlns:p14="http://schemas.microsoft.com/office/powerpoint/2010/main" val="1777112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87617-BDEB-0D99-55FC-8BC5280B0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Ansatz 1: Konvergenz </a:t>
            </a:r>
            <a:r>
              <a:rPr lang="de-CH" i="1" noProof="0" dirty="0"/>
              <a:t>Ableitung via rein imaginären Schritt</a:t>
            </a:r>
            <a:endParaRPr lang="de-CH" noProof="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1A445C8-93EB-6952-82F9-5825D4D8D5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05188" y="1562100"/>
            <a:ext cx="5381625" cy="43815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BCBCF-0E12-D991-528D-DC6E99F33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17.09.2026</a:t>
            </a:fld>
            <a:endParaRPr lang="de-CH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544D6-902E-BA0F-0C9A-A0ADB3D1D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 dirty="0"/>
              <a:t>D-Infk ETHZ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21B5C-E1AB-4EF4-4B3C-7A306988D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15</a:t>
            </a:fld>
            <a:endParaRPr lang="de-CH" noProof="0" dirty="0"/>
          </a:p>
        </p:txBody>
      </p:sp>
    </p:spTree>
    <p:extLst>
      <p:ext uri="{BB962C8B-B14F-4D97-AF65-F5344CB8AC3E}">
        <p14:creationId xmlns:p14="http://schemas.microsoft.com/office/powerpoint/2010/main" val="38992045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F6C64-B46E-11E6-6334-08A207BF2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Ansatz 2: Richardson-Beschleunigung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12610B-ACD3-5083-969A-4B8D9FC872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CH" noProof="0" dirty="0"/>
                  <a:t>Sehen wir uns den Satz von Taylor an für </a:t>
                </a:r>
                <a14:m>
                  <m:oMath xmlns:m="http://schemas.openxmlformats.org/officeDocument/2006/math">
                    <m:r>
                      <a:rPr lang="de-CH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CH" b="0" i="1" noProof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CH" b="0" i="1" noProof="0" smtClean="0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lang="de-CH" noProof="0" dirty="0"/>
                  <a:t> und </a:t>
                </a:r>
                <a14:m>
                  <m:oMath xmlns:m="http://schemas.openxmlformats.org/officeDocument/2006/math">
                    <m:r>
                      <a:rPr lang="de-CH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CH" b="0" i="1" noProof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de-CH" b="0" i="1" noProof="0" smtClean="0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lang="de-CH" noProof="0" dirty="0"/>
                  <a:t>:</a:t>
                </a:r>
              </a:p>
              <a:p>
                <a:pPr marL="0" indent="0">
                  <a:buNone/>
                </a:pPr>
                <a:endParaRPr lang="de-CH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de-CH" b="0" i="1" noProof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de-CH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</m:d>
                      <m:r>
                        <a:rPr lang="de-CH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b="0" i="1" noProof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de-CH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e-CH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CH" b="0" i="1" noProof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CH" b="0" i="1" noProof="0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de-CH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e-CH" b="0" i="1" noProof="0" smtClean="0"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de-CH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CH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e-CH" b="0" i="1" noProof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CH" b="0" i="1" noProof="0" smtClean="0">
                          <a:latin typeface="Cambria Math" panose="02040503050406030204" pitchFamily="18" charset="0"/>
                        </a:rPr>
                        <m:t>′′</m:t>
                      </m:r>
                      <m:d>
                        <m:dPr>
                          <m:ctrlPr>
                            <a:rPr lang="de-CH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p>
                        <m:sSupPr>
                          <m:ctrlPr>
                            <a:rPr lang="de-CH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p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e-CH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CH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de-CH" b="0" i="1" noProof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CH" b="0" i="1" noProof="0" smtClean="0">
                          <a:latin typeface="Cambria Math" panose="02040503050406030204" pitchFamily="18" charset="0"/>
                        </a:rPr>
                        <m:t>′′′</m:t>
                      </m:r>
                      <m:d>
                        <m:dPr>
                          <m:ctrlPr>
                            <a:rPr lang="de-CH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p>
                        <m:sSupPr>
                          <m:ctrlPr>
                            <a:rPr lang="de-CH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p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de-CH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CH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den>
                      </m:f>
                      <m:sSup>
                        <m:sSupPr>
                          <m:ctrlPr>
                            <a:rPr lang="de-CH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de-CH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b="0" i="1" noProof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de-CH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p>
                        <m:sSupPr>
                          <m:ctrlPr>
                            <a:rPr lang="de-CH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p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de-CH" b="0" i="1" noProof="0" smtClean="0">
                          <a:latin typeface="Cambria Math" panose="02040503050406030204" pitchFamily="18" charset="0"/>
                        </a:rPr>
                        <m:t>+...</m:t>
                      </m:r>
                    </m:oMath>
                  </m:oMathPara>
                </a14:m>
                <a:endParaRPr lang="de-CH" b="0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de-CH" i="1" noProof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de-CH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e-CH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CH" i="1" noProof="0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</m:d>
                      <m:r>
                        <a:rPr lang="de-CH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i="1" noProof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de-CH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e-CH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CH" i="1" noProof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CH" i="1" noProof="0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de-CH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e-CH" i="1" noProof="0" smtClean="0"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de-CH" i="1" noProof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CH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CH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e-CH" i="1" noProof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CH" i="1" noProof="0" smtClean="0">
                          <a:latin typeface="Cambria Math" panose="02040503050406030204" pitchFamily="18" charset="0"/>
                        </a:rPr>
                        <m:t>′′</m:t>
                      </m:r>
                      <m:d>
                        <m:dPr>
                          <m:ctrlPr>
                            <a:rPr lang="de-CH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p>
                        <m:sSupPr>
                          <m:ctrlPr>
                            <a:rPr lang="de-CH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i="1" noProof="0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p>
                          <m:r>
                            <a:rPr lang="de-CH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e-CH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de-CH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CH" i="1" noProof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de-CH" i="1" noProof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CH" i="1" noProof="0" smtClean="0">
                          <a:latin typeface="Cambria Math" panose="02040503050406030204" pitchFamily="18" charset="0"/>
                        </a:rPr>
                        <m:t>′′′</m:t>
                      </m:r>
                      <m:d>
                        <m:dPr>
                          <m:ctrlPr>
                            <a:rPr lang="de-CH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p>
                        <m:sSupPr>
                          <m:ctrlPr>
                            <a:rPr lang="de-CH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i="1" noProof="0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p>
                          <m:r>
                            <a:rPr lang="de-CH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de-CH" i="1" noProof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CH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CH" i="1" noProof="0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den>
                      </m:f>
                      <m:sSup>
                        <m:sSupPr>
                          <m:ctrlPr>
                            <a:rPr lang="de-CH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i="1" noProof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de-CH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i="1" noProof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de-CH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p>
                        <m:sSupPr>
                          <m:ctrlPr>
                            <a:rPr lang="de-CH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i="1" noProof="0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p>
                          <m:r>
                            <a:rPr lang="de-CH" i="1" noProof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de-CH" i="1" noProof="0" smtClean="0">
                          <a:latin typeface="Cambria Math" panose="02040503050406030204" pitchFamily="18" charset="0"/>
                        </a:rPr>
                        <m:t>+...</m:t>
                      </m:r>
                    </m:oMath>
                  </m:oMathPara>
                </a14:m>
                <a:endParaRPr lang="de-CH" noProof="0" dirty="0"/>
              </a:p>
              <a:p>
                <a:pPr marL="0" indent="0">
                  <a:buNone/>
                </a:pPr>
                <a:endParaRPr lang="de-CH" noProof="0" dirty="0"/>
              </a:p>
              <a:p>
                <a:pPr marL="0" indent="0">
                  <a:buNone/>
                </a:pPr>
                <a:r>
                  <a:rPr lang="de-CH" noProof="0" dirty="0"/>
                  <a:t>Die Differenz dieser Terme sieht so aus: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de-CH" b="0" i="1" noProof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de-CH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</m:d>
                      <m:r>
                        <a:rPr lang="de-CH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CH" b="0" i="1" noProof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de-CH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</m:d>
                      <m:r>
                        <a:rPr lang="de-CH" b="0" i="1" noProof="0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de-CH" b="0" i="1" noProof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CH" b="0" i="1" noProof="0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de-CH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e-CH" b="0" i="1" noProof="0" smtClean="0"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de-CH" b="0" i="1" noProof="0" smtClean="0">
                          <a:latin typeface="Cambria Math" panose="02040503050406030204" pitchFamily="18" charset="0"/>
                        </a:rPr>
                        <m:t> + </m:t>
                      </m:r>
                      <m:f>
                        <m:fPr>
                          <m:ctrlPr>
                            <a:rPr lang="de-CH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de-CH" b="0" i="1" noProof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CH" b="0" i="1" noProof="0" smtClean="0">
                          <a:latin typeface="Cambria Math" panose="02040503050406030204" pitchFamily="18" charset="0"/>
                        </a:rPr>
                        <m:t>′′′</m:t>
                      </m:r>
                      <m:d>
                        <m:dPr>
                          <m:ctrlPr>
                            <a:rPr lang="de-CH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p>
                        <m:sSupPr>
                          <m:ctrlPr>
                            <a:rPr lang="de-CH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p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de-CH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CH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60</m:t>
                          </m:r>
                        </m:den>
                      </m:f>
                      <m:sSup>
                        <m:sSupPr>
                          <m:ctrlPr>
                            <a:rPr lang="de-CH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de-CH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b="0" i="1" noProof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de-CH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p>
                        <m:sSupPr>
                          <m:ctrlPr>
                            <a:rPr lang="de-CH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p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de-CH" b="0" i="1" noProof="0" smtClean="0">
                          <a:latin typeface="Cambria Math" panose="02040503050406030204" pitchFamily="18" charset="0"/>
                        </a:rPr>
                        <m:t>+...</m:t>
                      </m:r>
                    </m:oMath>
                  </m:oMathPara>
                </a14:m>
                <a:endParaRPr lang="de-CH" noProof="0" dirty="0"/>
              </a:p>
              <a:p>
                <a:pPr marL="0" indent="0">
                  <a:buNone/>
                </a:pPr>
                <a:r>
                  <a:rPr lang="de-CH" noProof="0" dirty="0"/>
                  <a:t>Somit gilt:</a:t>
                </a:r>
                <a:endParaRPr lang="de-CH" sz="2000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e-CH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de-CH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de-CH" b="0" i="1" noProof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CH" b="0" i="1" noProof="0" smtClean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</m:d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de-CH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de-CH" b="0" i="1" noProof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CH" b="0" i="1" noProof="0" smtClean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</m:d>
                        </m:num>
                        <m:den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e-CH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b="0" i="1" noProof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CH" b="0" i="1" noProof="0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de-CH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e-CH" b="0" i="1" noProof="0" smtClean="0"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de-CH" b="0" i="1" noProof="0" smtClean="0">
                          <a:latin typeface="Cambria Math" panose="02040503050406030204" pitchFamily="18" charset="0"/>
                        </a:rPr>
                        <m:t> + </m:t>
                      </m:r>
                      <m:f>
                        <m:fPr>
                          <m:ctrlPr>
                            <a:rPr lang="de-CH" b="0" i="1" noProof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b="0" i="1" noProof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CH" b="0" i="1" noProof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de-CH" b="0" i="1" noProof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CH" b="0" i="1" noProof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′′′</m:t>
                      </m:r>
                      <m:d>
                        <m:dPr>
                          <m:ctrlPr>
                            <a:rPr lang="de-CH" b="0" i="1" noProof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b="0" i="1" noProof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p>
                        <m:sSupPr>
                          <m:ctrlPr>
                            <a:rPr lang="de-CH" b="0" i="1" noProof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b="0" i="1" noProof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p>
                          <m:r>
                            <a:rPr lang="de-CH" b="0" i="1" noProof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de-CH" b="0" i="1" noProof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CH" b="0" i="1" noProof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b="0" i="1" noProof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CH" b="0" i="1" noProof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120</m:t>
                          </m:r>
                        </m:den>
                      </m:f>
                      <m:sSup>
                        <m:sSupPr>
                          <m:ctrlPr>
                            <a:rPr lang="de-CH" b="0" i="1" noProof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b="0" i="1" noProof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de-CH" b="0" i="1" noProof="0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b="0" i="1" noProof="0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de-CH" b="0" i="1" noProof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b="0" i="1" noProof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p>
                        <m:sSupPr>
                          <m:ctrlPr>
                            <a:rPr lang="de-CH" b="0" i="1" noProof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b="0" i="1" noProof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p>
                          <m:r>
                            <a:rPr lang="de-CH" b="0" i="1" noProof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de-CH" b="0" i="1" noProof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+...</m:t>
                      </m:r>
                    </m:oMath>
                  </m:oMathPara>
                </a14:m>
                <a:endParaRPr lang="de-CH" noProof="0" dirty="0">
                  <a:solidFill>
                    <a:schemeClr val="bg1">
                      <a:lumMod val="65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de-CH" noProof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12610B-ACD3-5083-969A-4B8D9FC872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7" t="-169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069A4-2927-7E7F-8018-473071DEF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17.09.2026</a:t>
            </a:fld>
            <a:endParaRPr lang="de-CH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3D9E7-FBCE-66CD-E196-0885E72CD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 dirty="0"/>
              <a:t>D-Infk ETHZ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FCD3D5-6AA9-24A3-111B-89A872646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16</a:t>
            </a:fld>
            <a:endParaRPr lang="de-CH" noProof="0" dirty="0"/>
          </a:p>
        </p:txBody>
      </p:sp>
    </p:spTree>
    <p:extLst>
      <p:ext uri="{BB962C8B-B14F-4D97-AF65-F5344CB8AC3E}">
        <p14:creationId xmlns:p14="http://schemas.microsoft.com/office/powerpoint/2010/main" val="265100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0C8B2-BF26-E7AE-2B51-429C8084F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Ansatz 2: Richardson-Beschleunigung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4B316F-D052-9CA0-0CDD-56A40DC3F7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</m:d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</m:d>
                        </m:num>
                        <m:den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 + </m:t>
                      </m:r>
                      <m:f>
                        <m:fPr>
                          <m:ctrlPr>
                            <a:rPr lang="en-US" b="0" i="1" noProof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noProof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noProof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b="0" i="1" noProof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′′′</m:t>
                      </m:r>
                      <m:d>
                        <m:dPr>
                          <m:ctrlPr>
                            <a:rPr lang="en-US" b="0" i="1" noProof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p>
                        <m:sSupPr>
                          <m:ctrlPr>
                            <a:rPr lang="en-US" b="0" i="1" noProof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noProof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p>
                          <m:r>
                            <a:rPr lang="en-US" b="0" i="1" noProof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noProof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noProof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noProof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noProof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120</m:t>
                          </m:r>
                        </m:den>
                      </m:f>
                      <m:sSup>
                        <m:sSupPr>
                          <m:ctrlPr>
                            <a:rPr lang="en-US" b="0" i="1" noProof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noProof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b="0" i="1" noProof="0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noProof="0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b="0" i="1" noProof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p>
                        <m:sSupPr>
                          <m:ctrlPr>
                            <a:rPr lang="en-US" b="0" i="1" noProof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noProof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p>
                          <m:r>
                            <a:rPr lang="en-US" b="0" i="1" noProof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b="0" i="1" noProof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+...</m:t>
                      </m:r>
                    </m:oMath>
                  </m:oMathPara>
                </a14:m>
                <a:endParaRPr lang="de-CH" noProof="0" dirty="0">
                  <a:solidFill>
                    <a:schemeClr val="bg1">
                      <a:lumMod val="65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de-CH" noProof="0" dirty="0"/>
                  <a:t>Und somit: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de-CH" i="1" noProof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CH" i="1" noProof="0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de-CH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e-CH" i="1" noProof="0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de-CH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i="1" noProof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de-CH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de-CH" i="1" noProof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CH" i="1" noProof="0" smtClean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</m:d>
                          <m:r>
                            <a:rPr lang="de-CH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CH" i="1" noProof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de-CH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de-CH" i="1" noProof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CH" i="1" noProof="0" smtClean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</m:d>
                        </m:num>
                        <m:den>
                          <m:r>
                            <a:rPr lang="de-CH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CH" i="1" noProof="0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den>
                      </m:f>
                      <m:r>
                        <a:rPr lang="de-CH" i="1" noProof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de-CH" i="1" noProof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i="1" noProof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CH" i="1" noProof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de-CH" i="1" noProof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CH" i="1" noProof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′′′</m:t>
                      </m:r>
                      <m:d>
                        <m:dPr>
                          <m:ctrlPr>
                            <a:rPr lang="de-CH" i="1" noProof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 noProof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p>
                        <m:sSupPr>
                          <m:ctrlPr>
                            <a:rPr lang="de-CH" i="1" noProof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i="1" noProof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p>
                          <m:r>
                            <a:rPr lang="de-CH" i="1" noProof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e-CH" i="1" noProof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CH" i="1" noProof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i="1" noProof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CH" i="1" noProof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120</m:t>
                          </m:r>
                        </m:den>
                      </m:f>
                      <m:sSup>
                        <m:sSupPr>
                          <m:ctrlPr>
                            <a:rPr lang="de-CH" i="1" noProof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i="1" noProof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de-CH" i="1" noProof="0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i="1" noProof="0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de-CH" i="1" noProof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 noProof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p>
                        <m:sSupPr>
                          <m:ctrlPr>
                            <a:rPr lang="de-CH" i="1" noProof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i="1" noProof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p>
                          <m:r>
                            <a:rPr lang="de-CH" i="1" noProof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de-CH" i="1" noProof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+...</m:t>
                      </m:r>
                    </m:oMath>
                  </m:oMathPara>
                </a14:m>
                <a:endParaRPr lang="de-CH" noProof="0" dirty="0">
                  <a:solidFill>
                    <a:schemeClr val="bg1">
                      <a:lumMod val="65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de-CH" dirty="0">
                    <a:solidFill>
                      <a:schemeClr val="tx1"/>
                    </a:solidFill>
                  </a:rPr>
                  <a:t>Wir definieren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de-CH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CH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de-CH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de-CH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de-CH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</m:d>
                        <m:r>
                          <a:rPr lang="de-CH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CH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de-CH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de-CH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CH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</m:d>
                      </m:num>
                      <m:den>
                        <m:r>
                          <a:rPr lang="de-CH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de-CH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</m:oMath>
                </a14:m>
                <a:endParaRPr lang="de-CH" noProof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de-CH" noProof="0" dirty="0">
                    <a:solidFill>
                      <a:schemeClr val="tx1"/>
                    </a:solidFill>
                  </a:rPr>
                  <a:t>Dies ist eine erste </a:t>
                </a:r>
                <a:r>
                  <a:rPr lang="de-CH" noProof="0" dirty="0"/>
                  <a:t>gute Annäherung! Nun wählen wir ein </a:t>
                </a:r>
                <a:r>
                  <a:rPr lang="de-CH" b="1" noProof="0" dirty="0"/>
                  <a:t>zusätzliches</a:t>
                </a:r>
                <a:r>
                  <a:rPr lang="de-CH" noProof="0" dirty="0"/>
                  <a:t> </a:t>
                </a:r>
                <a14:m>
                  <m:oMath xmlns:m="http://schemas.openxmlformats.org/officeDocument/2006/math">
                    <m:r>
                      <a:rPr lang="de-CH" i="1" noProof="0" smtClean="0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lang="de-CH" noProof="0" dirty="0"/>
                  <a:t>, hier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CH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CH" b="0" i="1" noProof="0" smtClean="0"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de-CH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de-CH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de-CH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CH" i="1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de-CH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e-CH" i="1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de-CH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de-CH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e-CH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CH" i="1" smtClean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num>
                            <m:den>
                              <m:r>
                                <a:rPr lang="de-CH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de-CH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de-CH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CH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de-CH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de-CH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de-CH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de-CH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p>
                          <m:r>
                            <a:rPr lang="de-CH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e-CH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de-CH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CH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de-CH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de-CH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de-CH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de-CH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p>
                          <m:r>
                            <a:rPr lang="de-CH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de-CH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+...</m:t>
                      </m:r>
                    </m:oMath>
                  </m:oMathPara>
                </a14:m>
                <a:endParaRPr lang="de-CH" dirty="0">
                  <a:solidFill>
                    <a:schemeClr val="bg1">
                      <a:lumMod val="65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de-CH" noProof="0" dirty="0"/>
                  <a:t>Die folgende Linearkombination lässt uns den ersten Term beider Annäherungen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ℎ</m:t>
                            </m:r>
                          </m:num>
                          <m:den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de-CH" noProof="0" dirty="0"/>
                  <a:t> und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d>
                  </m:oMath>
                </a14:m>
                <a:r>
                  <a:rPr lang="de-CH" noProof="0" dirty="0"/>
                  <a:t> für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CH" noProof="0" dirty="0"/>
                  <a:t>herauskürzen: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e>
                          </m:d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</m:d>
                        </m:num>
                        <m:den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b="0" i="1" noProof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noProof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noProof="0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noProof="0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e>
                        <m:sub>
                          <m:r>
                            <a:rPr lang="en-US" b="0" i="1" noProof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b="0" i="1" noProof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noProof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p>
                          <m:r>
                            <a:rPr lang="en-US" b="0" i="1" noProof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b="0" i="1" noProof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noProof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noProof="0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noProof="0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e>
                        <m:sub>
                          <m:r>
                            <a:rPr lang="en-US" b="0" i="1" noProof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n-US" b="0" i="1" noProof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noProof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p>
                          <m:r>
                            <a:rPr lang="en-US" b="0" i="1" noProof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b="0" i="1" noProof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+...</m:t>
                      </m:r>
                    </m:oMath>
                  </m:oMathPara>
                </a14:m>
                <a:endParaRPr lang="de-CH" noProof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4B316F-D052-9CA0-0CDD-56A40DC3F7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7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9413F-7B2A-AFE7-0014-53AAFF125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17.09.2026</a:t>
            </a:fld>
            <a:endParaRPr lang="de-CH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B2246-5509-44F8-AA89-6E7CE6CD7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noProof="0" dirty="0"/>
              <a:t>D-Infk ETHZ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4DA1A-5477-0205-99A6-983CB463C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17</a:t>
            </a:fld>
            <a:endParaRPr lang="de-CH" noProof="0" dirty="0"/>
          </a:p>
        </p:txBody>
      </p:sp>
    </p:spTree>
    <p:extLst>
      <p:ext uri="{BB962C8B-B14F-4D97-AF65-F5344CB8AC3E}">
        <p14:creationId xmlns:p14="http://schemas.microsoft.com/office/powerpoint/2010/main" val="1377199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D577E-2D36-59CF-B965-3648F505C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Ansatz 2: Richardson-Beschleunigung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AB28BE-F99C-8369-E559-BCAD93C6F3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Wir </a:t>
                </a:r>
                <a:r>
                  <a:rPr lang="en-US" dirty="0" err="1"/>
                  <a:t>nutzen</a:t>
                </a:r>
                <a:r>
                  <a:rPr lang="en-US" dirty="0"/>
                  <a:t> </a:t>
                </a:r>
                <a:r>
                  <a:rPr lang="en-US" dirty="0" err="1"/>
                  <a:t>Linearkombinationen</a:t>
                </a:r>
                <a:r>
                  <a:rPr lang="en-US" dirty="0"/>
                  <a:t> der </a:t>
                </a:r>
                <a:r>
                  <a:rPr lang="en-US" dirty="0" err="1"/>
                  <a:t>verschiedenen</a:t>
                </a:r>
                <a:r>
                  <a:rPr lang="en-US" dirty="0"/>
                  <a:t> </a:t>
                </a:r>
                <a:r>
                  <a:rPr lang="en-US" dirty="0" err="1"/>
                  <a:t>Annäherungen</a:t>
                </a:r>
                <a:r>
                  <a:rPr lang="en-US" dirty="0"/>
                  <a:t>, um </a:t>
                </a:r>
                <a:r>
                  <a:rPr lang="en-US" dirty="0" err="1"/>
                  <a:t>deren</a:t>
                </a:r>
                <a:r>
                  <a:rPr lang="en-US" dirty="0"/>
                  <a:t> Fehler </a:t>
                </a:r>
                <a:r>
                  <a:rPr lang="en-US" dirty="0" err="1"/>
                  <a:t>zu</a:t>
                </a:r>
                <a:r>
                  <a:rPr lang="en-US" dirty="0"/>
                  <a:t> </a:t>
                </a:r>
                <a:r>
                  <a:rPr lang="en-US" dirty="0" err="1"/>
                  <a:t>vermindern</a:t>
                </a:r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r>
                  <a:rPr lang="en-US" dirty="0" err="1"/>
                  <a:t>Definiere</a:t>
                </a:r>
                <a:r>
                  <a:rPr lang="en-US" dirty="0"/>
                  <a:t> </a:t>
                </a:r>
                <a:r>
                  <a:rPr lang="en-US" dirty="0" err="1"/>
                  <a:t>rekursiv</a:t>
                </a:r>
                <a:r>
                  <a:rPr lang="en-US" dirty="0"/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Dies </a:t>
                </a:r>
                <a:r>
                  <a:rPr lang="en-US" dirty="0" err="1"/>
                  <a:t>sind</a:t>
                </a:r>
                <a:r>
                  <a:rPr lang="en-US" dirty="0"/>
                  <a:t> </a:t>
                </a:r>
                <a:r>
                  <a:rPr lang="en-US" dirty="0" err="1"/>
                  <a:t>zunehmend</a:t>
                </a:r>
                <a:r>
                  <a:rPr lang="en-US" dirty="0"/>
                  <a:t> </a:t>
                </a:r>
                <a:r>
                  <a:rPr lang="en-US" dirty="0" err="1"/>
                  <a:t>bessere</a:t>
                </a:r>
                <a:r>
                  <a:rPr lang="en-US" dirty="0"/>
                  <a:t> </a:t>
                </a:r>
                <a:r>
                  <a:rPr lang="en-US" dirty="0" err="1"/>
                  <a:t>Annäherungen</a:t>
                </a:r>
                <a:r>
                  <a:rPr lang="en-US" dirty="0"/>
                  <a:t> für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b="0" dirty="0"/>
                  <a:t> </a:t>
                </a:r>
                <a:r>
                  <a:rPr lang="en-US" b="0" dirty="0" err="1"/>
                  <a:t>mit</a:t>
                </a:r>
                <a:r>
                  <a:rPr lang="en-US" b="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(Schema </a:t>
                </a:r>
                <a:r>
                  <a:rPr lang="en-US" dirty="0" err="1"/>
                  <a:t>im</a:t>
                </a:r>
                <a:r>
                  <a:rPr lang="en-US" dirty="0"/>
                  <a:t> </a:t>
                </a:r>
                <a:r>
                  <a:rPr lang="en-US" dirty="0" err="1"/>
                  <a:t>Skript</a:t>
                </a:r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AB28BE-F99C-8369-E559-BCAD93C6F3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7" t="-169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F87C9-90A3-C14B-11C5-9CAE6DA61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17.09.2026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EC1E4-6573-3ECA-5F12-766EAC1AC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D-Infk ETHZ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CED89-8864-5FBD-DE83-200551030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18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761283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DC115-2560-C35B-F827-C5D62222D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Ansatz 2: Richardson-Beschleunigung Fehler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DDE7D-0CA9-741C-C603-48E0B4C6C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17.09.2026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85C71-B4F2-7891-0672-EE7002FB1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D-Infk ETHZ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0986D-D399-01E3-329D-F4212A951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19</a:t>
            </a:fld>
            <a:endParaRPr lang="de-CH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44F2C5-FA8D-A7D3-0EB3-3B75D8DCD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254" y="1554256"/>
            <a:ext cx="5381625" cy="4381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7B1397A-9D9A-1527-853C-1531EE4E5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554256"/>
            <a:ext cx="5381625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028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EDD34-21B1-8FC1-36F5-3A9F1BAF6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Tipps </a:t>
            </a:r>
            <a:br>
              <a:rPr lang="en-US" dirty="0"/>
            </a:br>
            <a:r>
              <a:rPr lang="en-US" dirty="0"/>
              <a:t>&amp; </a:t>
            </a:r>
            <a:r>
              <a:rPr lang="en-US" dirty="0" err="1"/>
              <a:t>Prüfungsvorbereitung</a:t>
            </a:r>
            <a:endParaRPr lang="en-CH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67A0F5-B2D2-EDFB-DD3C-407A3B434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EAFE7-317E-4912-B75C-DD6945F82242}" type="datetime1">
              <a:rPr lang="de-CH" noProof="0" smtClean="0"/>
              <a:t>17.09.2026</a:t>
            </a:fld>
            <a:endParaRPr lang="de-CH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D16108-BEA8-4727-111F-08CA9C0AF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D-Infk ETHZ</a:t>
            </a:r>
            <a:endParaRPr lang="de-CH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885409-EB59-4656-BC76-AFB599EDD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pPr/>
              <a:t>20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492367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2B504-5226-75DA-CE96-85242DE3D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Jupyter Notebook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F218B-C850-F06B-5DE5-8BB11A8BE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http://localhost:8888/tree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E619E-8535-7337-1186-49C6E8231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17.09.2026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3D183-1225-00D1-30CD-9F49AF548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D-Infk ETHZ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3CA5E-0803-A9A6-2B6B-A4C482B37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21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8696144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304D-F8C3-A397-093E-A09A6EA13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Aufgaben</a:t>
            </a:r>
            <a:r>
              <a:rPr lang="en-US" dirty="0"/>
              <a:t> &amp; </a:t>
            </a:r>
            <a:r>
              <a:rPr lang="en-US" dirty="0" err="1"/>
              <a:t>Prüfungsvorbereitung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3E31D-9CFB-5313-6256-CB254F5E1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Nutzt</a:t>
            </a:r>
            <a:r>
              <a:rPr lang="en-US" dirty="0"/>
              <a:t> Jupyter </a:t>
            </a:r>
            <a:r>
              <a:rPr lang="en-US" dirty="0" err="1"/>
              <a:t>bei</a:t>
            </a:r>
            <a:r>
              <a:rPr lang="en-US" dirty="0"/>
              <a:t> den Quizzes</a:t>
            </a:r>
          </a:p>
          <a:p>
            <a:pPr lvl="1"/>
            <a:r>
              <a:rPr lang="en-US" dirty="0" err="1"/>
              <a:t>Ihr</a:t>
            </a:r>
            <a:r>
              <a:rPr lang="en-US" dirty="0"/>
              <a:t> </a:t>
            </a:r>
            <a:r>
              <a:rPr lang="en-US" dirty="0" err="1"/>
              <a:t>habt</a:t>
            </a:r>
            <a:r>
              <a:rPr lang="en-US" dirty="0"/>
              <a:t> Zeit, um </a:t>
            </a:r>
            <a:r>
              <a:rPr lang="en-US" dirty="0" err="1"/>
              <a:t>etwas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programmieren</a:t>
            </a:r>
            <a:endParaRPr lang="en-US" dirty="0"/>
          </a:p>
          <a:p>
            <a:pPr lvl="1"/>
            <a:r>
              <a:rPr lang="en-US" dirty="0" err="1"/>
              <a:t>Prüfungsaufgaben</a:t>
            </a:r>
            <a:r>
              <a:rPr lang="en-US" dirty="0"/>
              <a:t> (MC) je </a:t>
            </a:r>
            <a:r>
              <a:rPr lang="en-US" dirty="0" err="1"/>
              <a:t>nachdem</a:t>
            </a:r>
            <a:r>
              <a:rPr lang="en-US" dirty="0"/>
              <a:t> </a:t>
            </a:r>
            <a:r>
              <a:rPr lang="en-US" dirty="0" err="1"/>
              <a:t>einfacher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einem</a:t>
            </a:r>
            <a:r>
              <a:rPr lang="en-US" dirty="0"/>
              <a:t> Plot</a:t>
            </a:r>
          </a:p>
          <a:p>
            <a:pPr lvl="1"/>
            <a:r>
              <a:rPr lang="en-US" dirty="0" err="1"/>
              <a:t>Können</a:t>
            </a:r>
            <a:r>
              <a:rPr lang="en-US" dirty="0"/>
              <a:t> 1:1 in der </a:t>
            </a:r>
            <a:r>
              <a:rPr lang="en-US" dirty="0" err="1"/>
              <a:t>Prüfung</a:t>
            </a:r>
            <a:r>
              <a:rPr lang="en-US" dirty="0"/>
              <a:t> </a:t>
            </a:r>
            <a:r>
              <a:rPr lang="en-US" dirty="0" err="1"/>
              <a:t>vorkommen</a:t>
            </a:r>
            <a:r>
              <a:rPr lang="en-US" dirty="0"/>
              <a:t>!</a:t>
            </a:r>
          </a:p>
          <a:p>
            <a:pPr marL="266700" lvl="1" indent="0">
              <a:buNone/>
            </a:pPr>
            <a:endParaRPr lang="en-US" dirty="0"/>
          </a:p>
          <a:p>
            <a:r>
              <a:rPr lang="en-US" dirty="0" err="1"/>
              <a:t>Löst</a:t>
            </a:r>
            <a:r>
              <a:rPr lang="en-US" dirty="0"/>
              <a:t> alle </a:t>
            </a:r>
            <a:r>
              <a:rPr lang="en-US" dirty="0" err="1"/>
              <a:t>Übungen</a:t>
            </a:r>
            <a:r>
              <a:rPr lang="en-US" dirty="0"/>
              <a:t> (</a:t>
            </a:r>
            <a:r>
              <a:rPr lang="en-US" dirty="0" err="1"/>
              <a:t>vorzu</a:t>
            </a:r>
            <a:r>
              <a:rPr lang="en-US" dirty="0"/>
              <a:t> </a:t>
            </a:r>
            <a:r>
              <a:rPr lang="en-US" dirty="0" err="1"/>
              <a:t>oder</a:t>
            </a:r>
            <a:r>
              <a:rPr lang="en-US" dirty="0"/>
              <a:t> </a:t>
            </a:r>
            <a:r>
              <a:rPr lang="en-US" dirty="0" err="1"/>
              <a:t>Lernphase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Können</a:t>
            </a:r>
            <a:r>
              <a:rPr lang="en-US" dirty="0"/>
              <a:t> 1:1 in der </a:t>
            </a:r>
            <a:r>
              <a:rPr lang="en-US" dirty="0" err="1"/>
              <a:t>Prüfung</a:t>
            </a:r>
            <a:r>
              <a:rPr lang="en-US" dirty="0"/>
              <a:t> </a:t>
            </a:r>
            <a:r>
              <a:rPr lang="en-US" dirty="0" err="1"/>
              <a:t>vorkommen</a:t>
            </a:r>
            <a:r>
              <a:rPr lang="en-US" dirty="0"/>
              <a:t>!</a:t>
            </a:r>
          </a:p>
          <a:p>
            <a:pPr marL="266700" lvl="1" indent="0">
              <a:buNone/>
            </a:pPr>
            <a:endParaRPr lang="en-US" dirty="0"/>
          </a:p>
          <a:p>
            <a:r>
              <a:rPr lang="en-US" dirty="0" err="1"/>
              <a:t>Nutzt</a:t>
            </a:r>
            <a:r>
              <a:rPr lang="en-US" dirty="0"/>
              <a:t> immer das </a:t>
            </a:r>
            <a:r>
              <a:rPr lang="en-US" dirty="0" err="1"/>
              <a:t>Skript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Aufgaben</a:t>
            </a:r>
            <a:endParaRPr lang="en-US" dirty="0"/>
          </a:p>
          <a:p>
            <a:pPr lvl="1"/>
            <a:r>
              <a:rPr lang="en-US" dirty="0"/>
              <a:t>Das </a:t>
            </a:r>
            <a:r>
              <a:rPr lang="en-US" dirty="0" err="1"/>
              <a:t>ganze</a:t>
            </a:r>
            <a:r>
              <a:rPr lang="en-US" dirty="0"/>
              <a:t> </a:t>
            </a:r>
            <a:r>
              <a:rPr lang="en-US" dirty="0" err="1"/>
              <a:t>Skript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(Ctrl + F) </a:t>
            </a:r>
            <a:r>
              <a:rPr lang="en-US" dirty="0" err="1"/>
              <a:t>steht</a:t>
            </a:r>
            <a:r>
              <a:rPr lang="en-US" dirty="0"/>
              <a:t> an der </a:t>
            </a:r>
            <a:r>
              <a:rPr lang="en-US" dirty="0" err="1"/>
              <a:t>Prüfung</a:t>
            </a:r>
            <a:r>
              <a:rPr lang="en-US" dirty="0"/>
              <a:t> </a:t>
            </a:r>
            <a:r>
              <a:rPr lang="en-US" dirty="0" err="1"/>
              <a:t>zur</a:t>
            </a:r>
            <a:r>
              <a:rPr lang="en-US" dirty="0"/>
              <a:t> </a:t>
            </a:r>
            <a:r>
              <a:rPr lang="en-US" dirty="0" err="1"/>
              <a:t>Verfügung</a:t>
            </a:r>
            <a:r>
              <a:rPr lang="en-US" dirty="0"/>
              <a:t> – </a:t>
            </a:r>
            <a:r>
              <a:rPr lang="en-US" dirty="0" err="1"/>
              <a:t>Gewöhnt</a:t>
            </a:r>
            <a:r>
              <a:rPr lang="en-US" dirty="0"/>
              <a:t> </a:t>
            </a:r>
            <a:r>
              <a:rPr lang="en-US" dirty="0" err="1"/>
              <a:t>euch</a:t>
            </a:r>
            <a:r>
              <a:rPr lang="en-US" dirty="0"/>
              <a:t> </a:t>
            </a:r>
            <a:r>
              <a:rPr lang="en-US" dirty="0" err="1"/>
              <a:t>daran</a:t>
            </a:r>
            <a:r>
              <a:rPr lang="en-US" dirty="0"/>
              <a:t>.</a:t>
            </a:r>
          </a:p>
          <a:p>
            <a:pPr lvl="1"/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CCECD-53BB-2656-45AE-A742489D7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17.09.2026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2522F-6F2A-965A-DF14-B82D3B38C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D-Infk ETHZ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173DA-2D85-B9E7-F8C8-F6D07F968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22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5980345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A71FBB-3009-40AD-979B-DB4E5F592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noProof="0" dirty="0"/>
              <a:t>Jonas Vonäsch</a:t>
            </a:r>
          </a:p>
          <a:p>
            <a:r>
              <a:rPr lang="de-CH" noProof="0" dirty="0"/>
              <a:t>Teaching Assistant NumCS</a:t>
            </a:r>
          </a:p>
          <a:p>
            <a:r>
              <a:rPr lang="de-CH" noProof="0" dirty="0"/>
              <a:t>jvonaesch@student.ethz.ch</a:t>
            </a:r>
          </a:p>
          <a:p>
            <a:endParaRPr lang="de-CH" noProof="0" dirty="0"/>
          </a:p>
          <a:p>
            <a:r>
              <a:rPr lang="de-CH" dirty="0"/>
              <a:t>j</a:t>
            </a:r>
            <a:r>
              <a:rPr lang="de-CH" noProof="0" dirty="0"/>
              <a:t>vonaesch.github.io</a:t>
            </a:r>
          </a:p>
        </p:txBody>
      </p:sp>
      <p:sp>
        <p:nvSpPr>
          <p:cNvPr id="2" name="Bildplatzhalter 1">
            <a:extLst>
              <a:ext uri="{FF2B5EF4-FFF2-40B4-BE49-F238E27FC236}">
                <a16:creationId xmlns:a16="http://schemas.microsoft.com/office/drawing/2014/main" id="{A7932926-A987-44F4-A8A1-AB55FBE1FD4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de-CH" noProof="0" dirty="0"/>
          </a:p>
        </p:txBody>
      </p:sp>
    </p:spTree>
    <p:extLst>
      <p:ext uri="{BB962C8B-B14F-4D97-AF65-F5344CB8AC3E}">
        <p14:creationId xmlns:p14="http://schemas.microsoft.com/office/powerpoint/2010/main" val="1284261725"/>
      </p:ext>
    </p:extLst>
  </p:cSld>
  <p:clrMapOvr>
    <a:masterClrMapping/>
  </p:clrMapOvr>
</p:sld>
</file>

<file path=ppt/theme/theme1.xml><?xml version="1.0" encoding="utf-8"?>
<a:theme xmlns:a="http://schemas.openxmlformats.org/drawingml/2006/main" name="ETH Zürich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Presentation3" id="{BA5C46AE-7A5D-4892-AD72-080C930030C3}" vid="{F3170645-F3F1-4B0F-BB2B-B4E45E2CDCE5}"/>
    </a:ext>
  </a:extLst>
</a:theme>
</file>

<file path=ppt/theme/theme2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Woche 1</Template>
  <TotalTime>559</TotalTime>
  <Words>844</Words>
  <Application>Microsoft Office PowerPoint</Application>
  <PresentationFormat>Widescreen</PresentationFormat>
  <Paragraphs>178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Cambria Math</vt:lpstr>
      <vt:lpstr>Symbol</vt:lpstr>
      <vt:lpstr>ETH Zürich</vt:lpstr>
      <vt:lpstr>Woche 1:  Einstieg</vt:lpstr>
      <vt:lpstr>Willkommen</vt:lpstr>
      <vt:lpstr>Website mit Lernmaterialien</vt:lpstr>
      <vt:lpstr>Whatsapp-Gruppe</vt:lpstr>
      <vt:lpstr>Agenda</vt:lpstr>
      <vt:lpstr>Darstellung von Zahlen  &amp; Rundungsfehler</vt:lpstr>
      <vt:lpstr>Darstellung von Kommazahlen</vt:lpstr>
      <vt:lpstr>Rundungsfehler</vt:lpstr>
      <vt:lpstr>Beispiel: Auslöschung in Quadratischer Formel</vt:lpstr>
      <vt:lpstr>Ansatz: Auslöschung in Quadratischer Formel</vt:lpstr>
      <vt:lpstr>Numerische Ableitungen</vt:lpstr>
      <vt:lpstr>Beispiel: Auslöschung bei Ableitung mit Differenzenquotient</vt:lpstr>
      <vt:lpstr>Beispiel: Auslöschung bei Ableitung mit Differenzenquotient</vt:lpstr>
      <vt:lpstr>Ansatz 1: Ableitung via rein imaginären Schritt</vt:lpstr>
      <vt:lpstr>Ansatz 1: Konvergenz Ableitung via rein imaginären Schritt</vt:lpstr>
      <vt:lpstr>Ansatz 2: Richardson-Beschleunigung</vt:lpstr>
      <vt:lpstr>Ansatz 2: Richardson-Beschleunigung</vt:lpstr>
      <vt:lpstr>Ansatz 2: Richardson-Beschleunigung</vt:lpstr>
      <vt:lpstr>Ansatz 2: Richardson-Beschleunigung Fehler</vt:lpstr>
      <vt:lpstr>Tipps  &amp; Prüfungsvorbereitung</vt:lpstr>
      <vt:lpstr>Jupyter Notebook</vt:lpstr>
      <vt:lpstr>Aufgaben &amp; Prüfungsvorbereitung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Jonas Vonäsch</dc:creator>
  <cp:lastModifiedBy>Jonas Vonäsch</cp:lastModifiedBy>
  <cp:revision>246</cp:revision>
  <dcterms:created xsi:type="dcterms:W3CDTF">2026-09-06T14:56:02Z</dcterms:created>
  <dcterms:modified xsi:type="dcterms:W3CDTF">2026-09-17T08:06:06Z</dcterms:modified>
</cp:coreProperties>
</file>