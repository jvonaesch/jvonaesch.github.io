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61" r:id="rId3"/>
    <p:sldId id="310" r:id="rId4"/>
    <p:sldId id="291" r:id="rId5"/>
    <p:sldId id="311" r:id="rId6"/>
    <p:sldId id="314" r:id="rId7"/>
    <p:sldId id="338" r:id="rId8"/>
    <p:sldId id="312" r:id="rId9"/>
    <p:sldId id="315" r:id="rId10"/>
    <p:sldId id="316" r:id="rId11"/>
    <p:sldId id="319" r:id="rId12"/>
    <p:sldId id="318" r:id="rId13"/>
    <p:sldId id="317" r:id="rId14"/>
    <p:sldId id="320" r:id="rId15"/>
    <p:sldId id="321" r:id="rId16"/>
    <p:sldId id="322" r:id="rId17"/>
    <p:sldId id="326" r:id="rId18"/>
    <p:sldId id="323" r:id="rId19"/>
    <p:sldId id="324" r:id="rId20"/>
    <p:sldId id="325" r:id="rId21"/>
    <p:sldId id="337" r:id="rId22"/>
    <p:sldId id="327" r:id="rId23"/>
    <p:sldId id="328" r:id="rId24"/>
    <p:sldId id="331" r:id="rId25"/>
    <p:sldId id="332" r:id="rId26"/>
    <p:sldId id="329" r:id="rId27"/>
    <p:sldId id="330" r:id="rId28"/>
    <p:sldId id="333" r:id="rId29"/>
    <p:sldId id="334" r:id="rId30"/>
    <p:sldId id="335" r:id="rId31"/>
    <p:sldId id="336" r:id="rId32"/>
    <p:sldId id="309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11" y="8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11.10.2026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11.10.2026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6563B3-27E0-6DAE-53A4-EA49A3CAA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b="8861"/>
          <a:stretch>
            <a:fillRect/>
          </a:stretch>
        </p:blipFill>
        <p:spPr>
          <a:xfrm>
            <a:off x="731837" y="1013567"/>
            <a:ext cx="10728325" cy="5256001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7726947" cy="2772000"/>
          </a:xfrm>
        </p:spPr>
        <p:txBody>
          <a:bodyPr/>
          <a:lstStyle/>
          <a:p>
            <a:r>
              <a:rPr lang="de-DE"/>
              <a:t>Woche 4: </a:t>
            </a:r>
            <a:br>
              <a:rPr lang="de-DE" dirty="0"/>
            </a:br>
            <a:endParaRPr lang="de-CH" dirty="0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1ADABBC-2742-48DB-BA2B-E411F07CEE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Jonas Vonäsch</a:t>
            </a:r>
          </a:p>
          <a:p>
            <a:r>
              <a:rPr lang="de-DE" dirty="0"/>
              <a:t>Numerical Methods for Computer Science</a:t>
            </a:r>
          </a:p>
          <a:p>
            <a:r>
              <a:rPr lang="de-DE" dirty="0"/>
              <a:t>TT. Monat JJJJ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Chebyshev-Interpolation &amp; DCT</a:t>
            </a:r>
          </a:p>
          <a:p>
            <a:r>
              <a:rPr lang="de-CH" dirty="0"/>
              <a:t>Stückweise lineare Interpolation</a:t>
            </a:r>
          </a:p>
          <a:p>
            <a:r>
              <a:rPr lang="de-CH" dirty="0"/>
              <a:t>Kubisch Hermite Interpolation</a:t>
            </a:r>
          </a:p>
          <a:p>
            <a:r>
              <a:rPr lang="de-CH" dirty="0"/>
              <a:t>Kubische Splines</a:t>
            </a:r>
          </a:p>
          <a:p>
            <a:r>
              <a:rPr lang="de-CH" dirty="0"/>
              <a:t>Tafelbeispiel Quadratische Splines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7005-85D4-BB92-821C-BF5C5181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Cosinus</a:t>
            </a:r>
            <a:r>
              <a:rPr lang="en-US" dirty="0"/>
              <a:t>-Transformation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FFF49-51BF-98EA-5D8A-45FDD6BA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8C872-7F8B-532A-DA7C-5EEA88A7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630A9-8887-FB97-88A6-BACC0CD6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112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E708-728A-928E-9737-D362215B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Cosinus</a:t>
            </a:r>
            <a:r>
              <a:rPr lang="en-US" dirty="0"/>
              <a:t>-Transformation: Idee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5E4F1-A7CF-A4B0-40B4-3B4142EF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26C99-9A02-4656-3400-1DC7966F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04AC9-5618-5EF7-1F0A-5631069E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56DB1E1-4415-714C-3EC7-F25471E2A8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837" y="1412875"/>
                <a:ext cx="10728325" cy="46800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i="1" dirty="0"/>
                  <a:t>Die Chebyshev-</a:t>
                </a:r>
                <a:r>
                  <a:rPr lang="en-US" i="1" dirty="0" err="1"/>
                  <a:t>Polynome</a:t>
                </a:r>
                <a:r>
                  <a:rPr lang="en-US" i="1" dirty="0"/>
                  <a:t> </a:t>
                </a:r>
                <a:r>
                  <a:rPr lang="en-US" i="1" dirty="0" err="1"/>
                  <a:t>erinnern</a:t>
                </a:r>
                <a:r>
                  <a:rPr lang="en-US" i="1" dirty="0"/>
                  <a:t> an Trig. </a:t>
                </a:r>
                <a:r>
                  <a:rPr lang="en-US" i="1" dirty="0" err="1"/>
                  <a:t>Polynome</a:t>
                </a:r>
                <a:r>
                  <a:rPr lang="en-US" i="1" dirty="0"/>
                  <a:t>. Chebyshev-Interpolation </a:t>
                </a:r>
                <a:r>
                  <a:rPr lang="en-US" i="1" dirty="0" err="1"/>
                  <a:t>mit</a:t>
                </a:r>
                <a:r>
                  <a:rPr lang="en-US" i="1" dirty="0"/>
                  <a:t> FFT </a:t>
                </a:r>
                <a:r>
                  <a:rPr lang="en-US" i="1" dirty="0" err="1"/>
                  <a:t>lösen</a:t>
                </a:r>
                <a:r>
                  <a:rPr lang="en-US" i="1" dirty="0"/>
                  <a:t>?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Erinnern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:r>
                  <a:rPr lang="en-US" dirty="0" err="1"/>
                  <a:t>uns</a:t>
                </a:r>
                <a:r>
                  <a:rPr lang="en-US" dirty="0"/>
                  <a:t>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arccos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Und die Chebyshev-Knoten: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=0,...,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Einsetzen</a:t>
                </a:r>
                <a:r>
                  <a:rPr lang="en-US" dirty="0"/>
                  <a:t> </a:t>
                </a:r>
                <a:r>
                  <a:rPr lang="en-US" dirty="0" err="1"/>
                  <a:t>liefert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Das </a:t>
                </a:r>
                <a:r>
                  <a:rPr lang="en-US" b="1" dirty="0" err="1"/>
                  <a:t>sieht</a:t>
                </a:r>
                <a:r>
                  <a:rPr lang="en-US" b="1" dirty="0"/>
                  <a:t> </a:t>
                </a:r>
                <a:r>
                  <a:rPr lang="en-US" b="1" dirty="0" err="1"/>
                  <a:t>nacch</a:t>
                </a:r>
                <a:r>
                  <a:rPr lang="en-US" b="1" dirty="0"/>
                  <a:t> </a:t>
                </a:r>
                <a:r>
                  <a:rPr lang="en-US" b="1" dirty="0" err="1"/>
                  <a:t>einem</a:t>
                </a:r>
                <a:r>
                  <a:rPr lang="en-US" b="1" dirty="0"/>
                  <a:t> trig. </a:t>
                </a:r>
                <a:r>
                  <a:rPr lang="en-US" b="1" dirty="0" err="1"/>
                  <a:t>Polynom</a:t>
                </a:r>
                <a:r>
                  <a:rPr lang="en-US" b="1" dirty="0"/>
                  <a:t> </a:t>
                </a:r>
                <a:r>
                  <a:rPr lang="en-US" b="1" dirty="0" err="1"/>
                  <a:t>aus</a:t>
                </a:r>
                <a:r>
                  <a:rPr lang="en-US" b="1" dirty="0"/>
                  <a:t>! FFT </a:t>
                </a:r>
                <a:r>
                  <a:rPr lang="en-US" b="1" dirty="0" err="1"/>
                  <a:t>möglich</a:t>
                </a:r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56DB1E1-4415-714C-3EC7-F25471E2A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837" y="1412875"/>
                <a:ext cx="10728325" cy="4680000"/>
              </a:xfrm>
              <a:blipFill>
                <a:blip r:embed="rId2"/>
                <a:stretch>
                  <a:fillRect l="-1307" t="-1695" b="-130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44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921A-A40C-4A28-FCB3-2BC8A9AC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Cosinus</a:t>
            </a:r>
            <a:r>
              <a:rPr lang="en-US" dirty="0"/>
              <a:t>-Transformation Fast-Forward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91C1B4-003B-A415-F567-03CFF707A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schreiben</a:t>
                </a:r>
                <a:r>
                  <a:rPr lang="en-US" dirty="0"/>
                  <a:t> die Chebyshev-Knoten um </a:t>
                </a:r>
                <a:r>
                  <a:rPr lang="en-US" dirty="0" err="1"/>
                  <a:t>als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,  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Die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stellen</a:t>
                </a:r>
                <a:r>
                  <a:rPr lang="en-US" dirty="0"/>
                  <a:t> </a:t>
                </a:r>
                <a:r>
                  <a:rPr lang="en-US" dirty="0" err="1"/>
                  <a:t>jetzt</a:t>
                </a:r>
                <a:r>
                  <a:rPr lang="en-US" dirty="0"/>
                  <a:t> </a:t>
                </a:r>
                <a:r>
                  <a:rPr lang="en-US" dirty="0" err="1"/>
                  <a:t>einen</a:t>
                </a:r>
                <a:r>
                  <a:rPr lang="en-US" dirty="0"/>
                  <a:t> Teil </a:t>
                </a:r>
                <a:r>
                  <a:rPr lang="en-US" dirty="0" err="1"/>
                  <a:t>unserer</a:t>
                </a:r>
                <a:r>
                  <a:rPr lang="en-US" dirty="0"/>
                  <a:t> </a:t>
                </a:r>
                <a:r>
                  <a:rPr lang="en-US" dirty="0" err="1"/>
                  <a:t>Stützstellen</a:t>
                </a:r>
                <a:r>
                  <a:rPr lang="en-US" dirty="0"/>
                  <a:t> für die FFT </a:t>
                </a:r>
                <a:r>
                  <a:rPr lang="en-US" dirty="0" err="1"/>
                  <a:t>dar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Allerdings </a:t>
                </a:r>
                <a:r>
                  <a:rPr lang="en-US" dirty="0" err="1"/>
                  <a:t>sind</a:t>
                </a:r>
                <a:r>
                  <a:rPr lang="en-US" dirty="0"/>
                  <a:t> </a:t>
                </a:r>
                <a:r>
                  <a:rPr lang="en-US" dirty="0" err="1"/>
                  <a:t>sie</a:t>
                </a:r>
                <a:r>
                  <a:rPr lang="en-US" dirty="0"/>
                  <a:t> </a:t>
                </a:r>
                <a:r>
                  <a:rPr lang="en-US" dirty="0" err="1"/>
                  <a:t>äquidistant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!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Wieso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91C1B4-003B-A415-F567-03CFF707A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5B4C4-9566-1791-572B-EAE00E976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DECD-5424-A03F-CB0C-FC83497C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B6730-03D2-9EFB-C914-84DDAE1E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9B6F5D-BB98-78EC-825F-7AFD1C7E4A21}"/>
              </a:ext>
            </a:extLst>
          </p:cNvPr>
          <p:cNvSpPr txBox="1">
            <a:spLocks/>
          </p:cNvSpPr>
          <p:nvPr/>
        </p:nvSpPr>
        <p:spPr>
          <a:xfrm>
            <a:off x="884237" y="15652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3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92DB9-1373-C6D8-B655-FF30B2DE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18A2-A471-BE4E-0938-6D763918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Spiegelung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129F-BB6B-B62F-7691-59121C74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08105-ABD5-72E6-ADBA-73FFB785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52A34-1C2D-42AB-0996-8A0FF9D9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C64A4-E56C-6770-6690-BC00C9DF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77" y="1204125"/>
            <a:ext cx="4942244" cy="2846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C8E8B3-856F-028A-7123-F0654D19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54"/>
          <a:stretch>
            <a:fillRect/>
          </a:stretch>
        </p:blipFill>
        <p:spPr>
          <a:xfrm rot="10800000" flipH="1">
            <a:off x="3624876" y="3818157"/>
            <a:ext cx="4942244" cy="26117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B5B0AB-28DC-6D3A-14B8-9D573AFA982A}"/>
                  </a:ext>
                </a:extLst>
              </p:cNvPr>
              <p:cNvSpPr txBox="1"/>
              <p:nvPr/>
            </p:nvSpPr>
            <p:spPr>
              <a:xfrm>
                <a:off x="3047998" y="906278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B5B0AB-28DC-6D3A-14B8-9D573AFA9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8" y="906278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523265-7C8B-3B79-AB54-43EB3B0C1AE2}"/>
              </a:ext>
            </a:extLst>
          </p:cNvPr>
          <p:cNvCxnSpPr>
            <a:cxnSpLocks/>
          </p:cNvCxnSpPr>
          <p:nvPr/>
        </p:nvCxnSpPr>
        <p:spPr>
          <a:xfrm flipV="1">
            <a:off x="1023257" y="3256587"/>
            <a:ext cx="2830286" cy="179438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111247-14F2-2E04-19E8-FE8DBED37B65}"/>
                  </a:ext>
                </a:extLst>
              </p:cNvPr>
              <p:cNvSpPr txBox="1"/>
              <p:nvPr/>
            </p:nvSpPr>
            <p:spPr>
              <a:xfrm>
                <a:off x="-1132114" y="5040086"/>
                <a:ext cx="62810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111247-14F2-2E04-19E8-FE8DBED37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32114" y="5040086"/>
                <a:ext cx="6281057" cy="830997"/>
              </a:xfrm>
              <a:prstGeom prst="rect">
                <a:avLst/>
              </a:prstGeom>
              <a:blipFill>
                <a:blip r:embed="rId4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4AC578-D6D9-0F03-0282-D7DD5C8974AE}"/>
              </a:ext>
            </a:extLst>
          </p:cNvPr>
          <p:cNvCxnSpPr>
            <a:cxnSpLocks/>
          </p:cNvCxnSpPr>
          <p:nvPr/>
        </p:nvCxnSpPr>
        <p:spPr>
          <a:xfrm flipV="1">
            <a:off x="2906486" y="4526549"/>
            <a:ext cx="947057" cy="5974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14EEEBDF-DFA4-9083-4161-76D49E24F427}"/>
              </a:ext>
            </a:extLst>
          </p:cNvPr>
          <p:cNvSpPr/>
          <p:nvPr/>
        </p:nvSpPr>
        <p:spPr>
          <a:xfrm>
            <a:off x="4520460" y="2076449"/>
            <a:ext cx="3325243" cy="3483416"/>
          </a:xfrm>
          <a:prstGeom prst="circularArrow">
            <a:avLst>
              <a:gd name="adj1" fmla="val 6170"/>
              <a:gd name="adj2" fmla="val 971480"/>
              <a:gd name="adj3" fmla="val 7133483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6B08B0-BDD6-0FE9-0638-13902FBB0D9E}"/>
              </a:ext>
            </a:extLst>
          </p:cNvPr>
          <p:cNvSpPr txBox="1"/>
          <p:nvPr/>
        </p:nvSpPr>
        <p:spPr>
          <a:xfrm>
            <a:off x="8567120" y="3818157"/>
            <a:ext cx="30915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Zweite </a:t>
            </a:r>
            <a:r>
              <a:rPr lang="en-US" dirty="0" err="1"/>
              <a:t>Hälfte</a:t>
            </a:r>
            <a:r>
              <a:rPr lang="en-US" dirty="0"/>
              <a:t> der Knoten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Weiterführung</a:t>
            </a:r>
            <a:r>
              <a:rPr lang="en-US" dirty="0"/>
              <a:t> der </a:t>
            </a:r>
            <a:r>
              <a:rPr lang="en-US" dirty="0" err="1"/>
              <a:t>ersten</a:t>
            </a:r>
            <a:r>
              <a:rPr lang="en-US" dirty="0"/>
              <a:t> (</a:t>
            </a:r>
            <a:r>
              <a:rPr lang="en-US" dirty="0" err="1"/>
              <a:t>selbe</a:t>
            </a:r>
            <a:r>
              <a:rPr lang="en-US" dirty="0"/>
              <a:t> </a:t>
            </a:r>
            <a:r>
              <a:rPr lang="en-US" dirty="0" err="1"/>
              <a:t>Messstellen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verkehrt</a:t>
            </a:r>
            <a:r>
              <a:rPr lang="en-US" dirty="0"/>
              <a:t>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9517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0B84-7FF6-2452-42EF-32234D20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Cosinus</a:t>
            </a:r>
            <a:r>
              <a:rPr lang="en-US" dirty="0"/>
              <a:t>-Transformation: </a:t>
            </a:r>
            <a:r>
              <a:rPr lang="en-US" dirty="0" err="1"/>
              <a:t>Vorgehen</a:t>
            </a:r>
            <a:endParaRPr lang="en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89D9-43D9-95E7-21F3-7D737FD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Wir </a:t>
                </a:r>
                <a:r>
                  <a:rPr lang="en-US" dirty="0" err="1"/>
                  <a:t>messen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 den </a:t>
                </a:r>
                <a:r>
                  <a:rPr lang="en-US" dirty="0" err="1"/>
                  <a:t>Stellen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und </a:t>
                </a:r>
                <a:r>
                  <a:rPr lang="en-US" dirty="0" err="1"/>
                  <a:t>bekommen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Wir tun so, </a:t>
                </a:r>
                <a:r>
                  <a:rPr lang="en-US" dirty="0" err="1"/>
                  <a:t>als</a:t>
                </a:r>
                <a:r>
                  <a:rPr lang="en-US" dirty="0"/>
                  <a:t> </a:t>
                </a:r>
                <a:r>
                  <a:rPr lang="en-US" dirty="0" err="1"/>
                  <a:t>hätten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die </a:t>
                </a:r>
                <a:r>
                  <a:rPr lang="en-US" dirty="0" err="1"/>
                  <a:t>Werte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gemessen</a:t>
                </a:r>
              </a:p>
              <a:p>
                <a:r>
                  <a:rPr lang="en-US" b="0" dirty="0"/>
                  <a:t>Wir </a:t>
                </a:r>
                <a:r>
                  <a:rPr lang="en-US" b="0" dirty="0" err="1"/>
                  <a:t>berechnen</a:t>
                </a:r>
                <a:r>
                  <a:rPr lang="en-US" b="0" dirty="0"/>
                  <a:t>: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 err="1"/>
                  <a:t>Anhand</a:t>
                </a:r>
                <a:r>
                  <a:rPr lang="en-US" dirty="0"/>
                  <a:t> von: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		</a:t>
                </a:r>
                <a:r>
                  <a:rPr lang="en-US" dirty="0" err="1"/>
                  <a:t>extrahieren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Wir </a:t>
                </a:r>
                <a:r>
                  <a:rPr lang="en-US" dirty="0" err="1"/>
                  <a:t>extrahieren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aus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mit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ü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=1,...,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ü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ü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,...,−1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˜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CH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89D9-43D9-95E7-21F3-7D737FD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3" t="-1695" b="-260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EB180-8C85-4B58-E556-3D6C3EF1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420F-6705-D6A5-945B-712165C2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D3268-C74E-11D1-B397-6E8B6E7D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750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B1D7-75A1-AB4C-EC92-179FCB10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Chebyshev </a:t>
            </a:r>
            <a:r>
              <a:rPr lang="en-US" dirty="0" err="1"/>
              <a:t>mit</a:t>
            </a:r>
            <a:r>
              <a:rPr lang="en-US" dirty="0"/>
              <a:t> FFT: DCT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ACF03-F339-B0D0-00E9-B8CFD278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FF936-2F23-6F1C-6DB1-3D454FF5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45F4C-073F-BFE1-F48F-B7089AB8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D11922-7302-4BD7-875D-F059A7F9C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12" y="-392925"/>
            <a:ext cx="10097280" cy="764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9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C180-196E-F0AC-C7CD-BFFD164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Stückweise</a:t>
            </a:r>
            <a:r>
              <a:rPr lang="en-US" dirty="0"/>
              <a:t> </a:t>
            </a:r>
            <a:r>
              <a:rPr lang="en-US" dirty="0" err="1"/>
              <a:t>Polynomiale</a:t>
            </a:r>
            <a:r>
              <a:rPr lang="en-US" dirty="0"/>
              <a:t> 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B37DA-7967-CCB3-7779-323F6FB7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E9833-4A02-0662-CB34-0EE7A0EC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29C1-84CB-D744-A582-E2D00B46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93874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5104-CC55-D8A6-6359-B1B02420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Stückweise</a:t>
            </a:r>
            <a:r>
              <a:rPr lang="en-US" dirty="0"/>
              <a:t> </a:t>
            </a:r>
            <a:r>
              <a:rPr lang="en-US" dirty="0" err="1"/>
              <a:t>polynomielle</a:t>
            </a:r>
            <a:r>
              <a:rPr lang="en-US" dirty="0"/>
              <a:t> Interpolation: Idee	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0088E-28ED-635C-0A60-774CD5989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Bei </a:t>
                </a:r>
                <a:r>
                  <a:rPr lang="en-US" dirty="0" err="1"/>
                  <a:t>polynomieller</a:t>
                </a:r>
                <a:r>
                  <a:rPr lang="en-US" dirty="0"/>
                  <a:t> Interpolation 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Stützstellen</a:t>
                </a:r>
                <a:r>
                  <a:rPr lang="en-US" dirty="0"/>
                  <a:t>, </a:t>
                </a:r>
                <a:r>
                  <a:rPr lang="en-US" dirty="0" err="1"/>
                  <a:t>ergibt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ein</a:t>
                </a:r>
                <a:r>
                  <a:rPr lang="en-US" dirty="0"/>
                  <a:t> </a:t>
                </a:r>
                <a:r>
                  <a:rPr lang="en-US" dirty="0" err="1"/>
                  <a:t>Polynom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-ten Grades!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Runge-</a:t>
                </a:r>
                <a:r>
                  <a:rPr lang="en-US" b="1" dirty="0" err="1"/>
                  <a:t>Phänomen</a:t>
                </a:r>
                <a:r>
                  <a:rPr lang="en-US" b="1" dirty="0"/>
                  <a:t>, </a:t>
                </a:r>
                <a:r>
                  <a:rPr lang="en-US" b="1" dirty="0" err="1"/>
                  <a:t>starke</a:t>
                </a:r>
                <a:r>
                  <a:rPr lang="en-US" b="1" dirty="0"/>
                  <a:t> </a:t>
                </a:r>
                <a:r>
                  <a:rPr lang="en-US" b="1" dirty="0" err="1"/>
                  <a:t>Schwingung</a:t>
                </a:r>
                <a:r>
                  <a:rPr lang="en-US" b="1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Neuer Ansatz:</a:t>
                </a:r>
              </a:p>
              <a:p>
                <a:pPr marL="0" indent="0" algn="ctr">
                  <a:buNone/>
                </a:pPr>
                <a:r>
                  <a:rPr lang="en-US" dirty="0" err="1"/>
                  <a:t>Wähle</a:t>
                </a:r>
                <a:r>
                  <a:rPr lang="en-US" dirty="0"/>
                  <a:t> </a:t>
                </a:r>
                <a:r>
                  <a:rPr lang="en-US" b="1" dirty="0"/>
                  <a:t>breakpoints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&lt;...&lt;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 err="1"/>
                  <a:t>Interpoliere</a:t>
                </a:r>
                <a:r>
                  <a:rPr lang="en-US" dirty="0"/>
                  <a:t> </a:t>
                </a:r>
                <a:r>
                  <a:rPr lang="en-US" dirty="0" err="1"/>
                  <a:t>jeweils</a:t>
                </a:r>
                <a:r>
                  <a:rPr lang="en-US" dirty="0"/>
                  <a:t> local 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:r>
                  <a:rPr lang="en-US" dirty="0" err="1"/>
                  <a:t>einer</a:t>
                </a:r>
                <a:r>
                  <a:rPr lang="en-US" dirty="0"/>
                  <a:t> </a:t>
                </a:r>
                <a:r>
                  <a:rPr lang="en-US" dirty="0" err="1"/>
                  <a:t>Funktion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im</a:t>
                </a:r>
                <a:r>
                  <a:rPr lang="en-US" dirty="0"/>
                  <a:t> </a:t>
                </a:r>
                <a:r>
                  <a:rPr lang="en-US" dirty="0" err="1"/>
                  <a:t>Abschnitt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0088E-28ED-635C-0A60-774CD5989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6EF12-C9ED-4CAE-2D8A-9FCC2C60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04256-0A1C-EA1B-4DCE-A60389AB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C3E56-8305-E159-670C-D62515F1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53972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5A97-B1C6-66E7-B7CD-CB024F45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Stückweise</a:t>
            </a:r>
            <a:r>
              <a:rPr lang="en-US" dirty="0"/>
              <a:t> </a:t>
            </a:r>
            <a:r>
              <a:rPr lang="en-US" dirty="0" err="1"/>
              <a:t>polynomielle</a:t>
            </a:r>
            <a:r>
              <a:rPr lang="en-US" dirty="0"/>
              <a:t> Interpolation: Illustration	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7B379-CC28-6FAA-CA12-192844E0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B504-29B5-B089-7415-D9A854E2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97E54-07C0-9CEC-3C37-4A7704A6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42B1-E130-3959-A23C-4C4B75B2B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4982" y="1086190"/>
            <a:ext cx="6342036" cy="468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3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91EC-C1EF-E556-FC39-AB82EFF1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Stückweise</a:t>
            </a:r>
            <a:r>
              <a:rPr lang="en-US" dirty="0"/>
              <a:t> </a:t>
            </a:r>
            <a:r>
              <a:rPr lang="en-US" dirty="0" err="1"/>
              <a:t>Lineare</a:t>
            </a:r>
            <a:r>
              <a:rPr lang="en-US" dirty="0"/>
              <a:t> 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5DA81-B4C8-AA05-FA93-5CB0E206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BD97B-FE19-8CF1-5926-C7562225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40E52-6CD0-6194-48F3-9BA5D071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327434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8808-176D-C2AA-D4FE-419EBD62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Stückweise</a:t>
            </a:r>
            <a:r>
              <a:rPr lang="en-US" dirty="0"/>
              <a:t> </a:t>
            </a:r>
            <a:r>
              <a:rPr lang="en-US" dirty="0" err="1"/>
              <a:t>Lineare</a:t>
            </a:r>
            <a:r>
              <a:rPr lang="en-US" dirty="0"/>
              <a:t> Interpolation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63D0-465F-143B-DBEA-260C2317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9FBEA-DE62-6646-B5B6-4B3A4287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FCBE5-0DA6-FAF1-610E-0D56400E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AD05415-0CF1-3AA3-F4B2-2C4616DC5BFF}"/>
              </a:ext>
            </a:extLst>
          </p:cNvPr>
          <p:cNvGrpSpPr/>
          <p:nvPr/>
        </p:nvGrpSpPr>
        <p:grpSpPr>
          <a:xfrm>
            <a:off x="3865118" y="1905000"/>
            <a:ext cx="4724400" cy="3624943"/>
            <a:chOff x="3739929" y="1905000"/>
            <a:chExt cx="4724400" cy="362494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4BA6EF3-D8C2-1F13-3282-12A1717C4780}"/>
                </a:ext>
              </a:extLst>
            </p:cNvPr>
            <p:cNvCxnSpPr/>
            <p:nvPr/>
          </p:nvCxnSpPr>
          <p:spPr>
            <a:xfrm>
              <a:off x="3739929" y="5529943"/>
              <a:ext cx="4724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F3E29DB-183C-10E8-2BBD-38337A8FD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9929" y="1905000"/>
              <a:ext cx="0" cy="36249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2BEFB569-B7D7-4F30-0FA4-7AE2B430D350}"/>
              </a:ext>
            </a:extLst>
          </p:cNvPr>
          <p:cNvSpPr/>
          <p:nvPr/>
        </p:nvSpPr>
        <p:spPr>
          <a:xfrm>
            <a:off x="4669971" y="2950029"/>
            <a:ext cx="130627" cy="141514"/>
          </a:xfrm>
          <a:prstGeom prst="ellipse">
            <a:avLst/>
          </a:prstGeom>
          <a:solidFill>
            <a:srgbClr val="215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4355C6E-48B4-14D9-EA15-DFC0C98D0C83}"/>
              </a:ext>
            </a:extLst>
          </p:cNvPr>
          <p:cNvSpPr/>
          <p:nvPr/>
        </p:nvSpPr>
        <p:spPr>
          <a:xfrm>
            <a:off x="6164942" y="3646715"/>
            <a:ext cx="130627" cy="141514"/>
          </a:xfrm>
          <a:prstGeom prst="ellipse">
            <a:avLst/>
          </a:prstGeom>
          <a:solidFill>
            <a:srgbClr val="215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315FA6-ABFE-E92C-E6AD-D37B36D4D222}"/>
              </a:ext>
            </a:extLst>
          </p:cNvPr>
          <p:cNvSpPr/>
          <p:nvPr/>
        </p:nvSpPr>
        <p:spPr>
          <a:xfrm>
            <a:off x="7725222" y="2405745"/>
            <a:ext cx="130627" cy="141514"/>
          </a:xfrm>
          <a:prstGeom prst="ellipse">
            <a:avLst/>
          </a:prstGeom>
          <a:solidFill>
            <a:srgbClr val="215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D0429A-5DEF-DE0D-E881-9DF90EB304B5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735284" y="3091543"/>
            <a:ext cx="1" cy="243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D9BF45-DD16-45AA-E24C-67D18DAA10FE}"/>
              </a:ext>
            </a:extLst>
          </p:cNvPr>
          <p:cNvCxnSpPr>
            <a:cxnSpLocks/>
          </p:cNvCxnSpPr>
          <p:nvPr/>
        </p:nvCxnSpPr>
        <p:spPr>
          <a:xfrm flipH="1">
            <a:off x="6230255" y="3759200"/>
            <a:ext cx="1" cy="17707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04904F-D9F6-98F5-ABB9-D6AEF58050C8}"/>
              </a:ext>
            </a:extLst>
          </p:cNvPr>
          <p:cNvCxnSpPr>
            <a:cxnSpLocks/>
          </p:cNvCxnSpPr>
          <p:nvPr/>
        </p:nvCxnSpPr>
        <p:spPr>
          <a:xfrm>
            <a:off x="7790536" y="2547258"/>
            <a:ext cx="0" cy="2982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5C2FE99-3452-4F62-1653-9B996E5CC771}"/>
              </a:ext>
            </a:extLst>
          </p:cNvPr>
          <p:cNvSpPr/>
          <p:nvPr/>
        </p:nvSpPr>
        <p:spPr>
          <a:xfrm>
            <a:off x="4669971" y="5459187"/>
            <a:ext cx="130627" cy="14151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46415B5-3D5E-3AB6-601C-6D2690AB2B5F}"/>
              </a:ext>
            </a:extLst>
          </p:cNvPr>
          <p:cNvSpPr/>
          <p:nvPr/>
        </p:nvSpPr>
        <p:spPr>
          <a:xfrm>
            <a:off x="6164941" y="5459187"/>
            <a:ext cx="130627" cy="14151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79AED33-2543-DCCE-2CBF-CEC4D93BDF8A}"/>
              </a:ext>
            </a:extLst>
          </p:cNvPr>
          <p:cNvSpPr/>
          <p:nvPr/>
        </p:nvSpPr>
        <p:spPr>
          <a:xfrm>
            <a:off x="7725224" y="5459187"/>
            <a:ext cx="130627" cy="14151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DCB026-4B96-E9EA-73F3-32A05269B31F}"/>
                  </a:ext>
                </a:extLst>
              </p:cNvPr>
              <p:cNvSpPr txBox="1"/>
              <p:nvPr/>
            </p:nvSpPr>
            <p:spPr>
              <a:xfrm>
                <a:off x="4531176" y="5535387"/>
                <a:ext cx="408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H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DCB026-4B96-E9EA-73F3-32A05269B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176" y="5535387"/>
                <a:ext cx="40821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438BE7-9160-4EE2-A7F9-9D4B2192E75C}"/>
                  </a:ext>
                </a:extLst>
              </p:cNvPr>
              <p:cNvSpPr txBox="1"/>
              <p:nvPr/>
            </p:nvSpPr>
            <p:spPr>
              <a:xfrm>
                <a:off x="6026146" y="5507574"/>
                <a:ext cx="408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H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438BE7-9160-4EE2-A7F9-9D4B2192E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146" y="5507574"/>
                <a:ext cx="40821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98F3BBF-0357-F34D-9BA8-C05233BF68F4}"/>
                  </a:ext>
                </a:extLst>
              </p:cNvPr>
              <p:cNvSpPr txBox="1"/>
              <p:nvPr/>
            </p:nvSpPr>
            <p:spPr>
              <a:xfrm>
                <a:off x="7586429" y="5529943"/>
                <a:ext cx="408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H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98F3BBF-0357-F34D-9BA8-C05233BF6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429" y="5529943"/>
                <a:ext cx="4082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E2A34E8-165C-1CB9-6462-276925F1E06C}"/>
              </a:ext>
            </a:extLst>
          </p:cNvPr>
          <p:cNvGrpSpPr/>
          <p:nvPr/>
        </p:nvGrpSpPr>
        <p:grpSpPr>
          <a:xfrm>
            <a:off x="5496588" y="5459187"/>
            <a:ext cx="408215" cy="440088"/>
            <a:chOff x="5496588" y="5459187"/>
            <a:chExt cx="408215" cy="440088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0654F1-DA08-5549-4958-C6845EB6B16A}"/>
                </a:ext>
              </a:extLst>
            </p:cNvPr>
            <p:cNvSpPr/>
            <p:nvPr/>
          </p:nvSpPr>
          <p:spPr>
            <a:xfrm>
              <a:off x="5621561" y="5459187"/>
              <a:ext cx="130627" cy="1415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3041349-DF00-1693-1008-D6190C7DF52E}"/>
                    </a:ext>
                  </a:extLst>
                </p:cNvPr>
                <p:cNvSpPr txBox="1"/>
                <p:nvPr/>
              </p:nvSpPr>
              <p:spPr>
                <a:xfrm>
                  <a:off x="5496588" y="5529943"/>
                  <a:ext cx="408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CH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3041349-DF00-1693-1008-D6190C7DF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6588" y="5529943"/>
                  <a:ext cx="40821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E34377A-7461-3586-42E2-B38136B15C69}"/>
              </a:ext>
            </a:extLst>
          </p:cNvPr>
          <p:cNvGrpSpPr/>
          <p:nvPr/>
        </p:nvGrpSpPr>
        <p:grpSpPr>
          <a:xfrm>
            <a:off x="4735283" y="4849027"/>
            <a:ext cx="1494972" cy="1569186"/>
            <a:chOff x="4735283" y="4849027"/>
            <a:chExt cx="1494972" cy="1569186"/>
          </a:xfrm>
        </p:grpSpPr>
        <p:sp>
          <p:nvSpPr>
            <p:cNvPr id="46" name="Left Brace 45">
              <a:extLst>
                <a:ext uri="{FF2B5EF4-FFF2-40B4-BE49-F238E27FC236}">
                  <a16:creationId xmlns:a16="http://schemas.microsoft.com/office/drawing/2014/main" id="{15E8CDDE-CDC4-26FC-A424-034361635F2D}"/>
                </a:ext>
              </a:extLst>
            </p:cNvPr>
            <p:cNvSpPr/>
            <p:nvPr/>
          </p:nvSpPr>
          <p:spPr>
            <a:xfrm rot="16200000">
              <a:off x="5411379" y="5301992"/>
              <a:ext cx="142780" cy="1494972"/>
            </a:xfrm>
            <a:prstGeom prst="leftBrace">
              <a:avLst>
                <a:gd name="adj1" fmla="val 59160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26E4401-D6C5-E8A2-95B2-2F634E48C318}"/>
                    </a:ext>
                  </a:extLst>
                </p:cNvPr>
                <p:cNvSpPr txBox="1"/>
                <p:nvPr/>
              </p:nvSpPr>
              <p:spPr>
                <a:xfrm>
                  <a:off x="5278661" y="6048881"/>
                  <a:ext cx="408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H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26E4401-D6C5-E8A2-95B2-2F634E48C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8661" y="6048881"/>
                  <a:ext cx="40821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A8B7C508-3C6A-D87F-B22C-31EA660AEE96}"/>
                </a:ext>
              </a:extLst>
            </p:cNvPr>
            <p:cNvSpPr/>
            <p:nvPr/>
          </p:nvSpPr>
          <p:spPr>
            <a:xfrm rot="16200000" flipH="1">
              <a:off x="5140323" y="4774148"/>
              <a:ext cx="141514" cy="951593"/>
            </a:xfrm>
            <a:prstGeom prst="leftBrace">
              <a:avLst>
                <a:gd name="adj1" fmla="val 59160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E235EBA-6C23-870D-17FC-1ADE946118BF}"/>
                    </a:ext>
                  </a:extLst>
                </p:cNvPr>
                <p:cNvSpPr txBox="1"/>
                <p:nvPr/>
              </p:nvSpPr>
              <p:spPr>
                <a:xfrm>
                  <a:off x="4828261" y="4849027"/>
                  <a:ext cx="858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H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E235EBA-6C23-870D-17FC-1ADE94611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261" y="4849027"/>
                  <a:ext cx="85861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3859AE6-FA46-6CF1-9732-9A6D37239209}"/>
              </a:ext>
            </a:extLst>
          </p:cNvPr>
          <p:cNvCxnSpPr>
            <a:cxnSpLocks/>
          </p:cNvCxnSpPr>
          <p:nvPr/>
        </p:nvCxnSpPr>
        <p:spPr>
          <a:xfrm flipH="1" flipV="1">
            <a:off x="4735287" y="3020786"/>
            <a:ext cx="1494971" cy="6966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575DD1C-C6D3-DA86-7FA2-D99CCF702B22}"/>
              </a:ext>
            </a:extLst>
          </p:cNvPr>
          <p:cNvGrpSpPr/>
          <p:nvPr/>
        </p:nvGrpSpPr>
        <p:grpSpPr>
          <a:xfrm>
            <a:off x="5621560" y="3392153"/>
            <a:ext cx="130627" cy="2067033"/>
            <a:chOff x="5621560" y="3392153"/>
            <a:chExt cx="130627" cy="2067033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0091132-40F9-93E7-2CCC-6C0C4FEC05AE}"/>
                </a:ext>
              </a:extLst>
            </p:cNvPr>
            <p:cNvSpPr/>
            <p:nvPr/>
          </p:nvSpPr>
          <p:spPr>
            <a:xfrm>
              <a:off x="5621560" y="3392153"/>
              <a:ext cx="130627" cy="14151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AA27F78-F953-19B9-11D7-0C17412E5046}"/>
                </a:ext>
              </a:extLst>
            </p:cNvPr>
            <p:cNvCxnSpPr>
              <a:cxnSpLocks/>
              <a:stCxn id="59" idx="4"/>
            </p:cNvCxnSpPr>
            <p:nvPr/>
          </p:nvCxnSpPr>
          <p:spPr>
            <a:xfrm flipH="1">
              <a:off x="5686872" y="3533667"/>
              <a:ext cx="2" cy="192551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0F0A3BC-EB86-FF3B-4792-F9DA73505B69}"/>
              </a:ext>
            </a:extLst>
          </p:cNvPr>
          <p:cNvGrpSpPr/>
          <p:nvPr/>
        </p:nvGrpSpPr>
        <p:grpSpPr>
          <a:xfrm>
            <a:off x="5752187" y="1304144"/>
            <a:ext cx="4960007" cy="2029953"/>
            <a:chOff x="5752187" y="1304144"/>
            <a:chExt cx="4960007" cy="2029953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E5FA975-9514-C155-A511-7ED7C9385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2187" y="2036811"/>
              <a:ext cx="644983" cy="129728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C8E0F43-A2CB-A54C-D66B-C0AE16E5BA7C}"/>
                    </a:ext>
                  </a:extLst>
                </p:cNvPr>
                <p:cNvSpPr txBox="1"/>
                <p:nvPr/>
              </p:nvSpPr>
              <p:spPr>
                <a:xfrm>
                  <a:off x="5941571" y="1304144"/>
                  <a:ext cx="4770623" cy="7852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007A9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7A9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rgbClr val="007A9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7A9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7A96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7A96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7A9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7A96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7A9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CH" sz="24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C8E0F43-A2CB-A54C-D66B-C0AE16E5B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1571" y="1304144"/>
                  <a:ext cx="4770623" cy="78528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0929AE1-AD4A-4AF2-958C-6CEAA08964A1}"/>
                  </a:ext>
                </a:extLst>
              </p:cNvPr>
              <p:cNvSpPr txBox="1"/>
              <p:nvPr/>
            </p:nvSpPr>
            <p:spPr>
              <a:xfrm>
                <a:off x="4531176" y="2580698"/>
                <a:ext cx="408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H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0929AE1-AD4A-4AF2-958C-6CEAA0896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176" y="2580698"/>
                <a:ext cx="408215" cy="369332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8C5DBB-25B1-7D46-DAD6-BF0CDF522D68}"/>
                  </a:ext>
                </a:extLst>
              </p:cNvPr>
              <p:cNvSpPr txBox="1"/>
              <p:nvPr/>
            </p:nvSpPr>
            <p:spPr>
              <a:xfrm>
                <a:off x="6040654" y="3277384"/>
                <a:ext cx="408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H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8C5DBB-25B1-7D46-DAD6-BF0CDF522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654" y="3277384"/>
                <a:ext cx="408215" cy="369332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0DCD828-55AC-A270-E7DE-FE029C25C57F}"/>
              </a:ext>
            </a:extLst>
          </p:cNvPr>
          <p:cNvCxnSpPr>
            <a:cxnSpLocks/>
          </p:cNvCxnSpPr>
          <p:nvPr/>
        </p:nvCxnSpPr>
        <p:spPr>
          <a:xfrm flipH="1">
            <a:off x="6234607" y="2476502"/>
            <a:ext cx="1560282" cy="12409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E347997-AD0D-E1F2-1456-C26B1FB82BA5}"/>
                  </a:ext>
                </a:extLst>
              </p:cNvPr>
              <p:cNvSpPr txBox="1"/>
              <p:nvPr/>
            </p:nvSpPr>
            <p:spPr>
              <a:xfrm>
                <a:off x="7826824" y="2256458"/>
                <a:ext cx="408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H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E347997-AD0D-E1F2-1456-C26B1FB82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824" y="2256458"/>
                <a:ext cx="408215" cy="369332"/>
              </a:xfrm>
              <a:prstGeom prst="rect">
                <a:avLst/>
              </a:prstGeom>
              <a:blipFill>
                <a:blip r:embed="rId11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59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4EFB089-D821-2426-DA6D-46EF76B9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en-US" dirty="0" err="1"/>
              <a:t>Stückweise</a:t>
            </a:r>
            <a:r>
              <a:rPr lang="en-US" dirty="0"/>
              <a:t> </a:t>
            </a:r>
            <a:r>
              <a:rPr lang="en-US" dirty="0" err="1"/>
              <a:t>Lineare</a:t>
            </a:r>
            <a:r>
              <a:rPr lang="en-US" dirty="0"/>
              <a:t> Interpolation: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143B0-2A12-1D87-DB36-0DB86E0F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1B96697-4585-4368-989A-16003D150648}" type="datetime1">
              <a:rPr lang="de-CH" noProof="0" smtClean="0"/>
              <a:pPr>
                <a:spcAft>
                  <a:spcPts val="600"/>
                </a:spcAft>
              </a:pPr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D6680-3837-0DB6-DC59-AF038195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Department Informatik</a:t>
            </a:r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B177A-7803-1D68-E97B-4841F167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14</a:t>
            </a:fld>
            <a:endParaRPr lang="de-CH" noProof="0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5744D9CB-70B2-BFF1-17FF-98DF0252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837" y="1160351"/>
            <a:ext cx="6324323" cy="4680000"/>
          </a:xfrm>
          <a:prstGeom prst="rect">
            <a:avLst/>
          </a:prstGeom>
          <a:noFill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09D1E45-1B43-47E1-3642-A5204F3425B2}"/>
              </a:ext>
            </a:extLst>
          </p:cNvPr>
          <p:cNvGrpSpPr/>
          <p:nvPr/>
        </p:nvGrpSpPr>
        <p:grpSpPr>
          <a:xfrm>
            <a:off x="4120243" y="1391510"/>
            <a:ext cx="2013857" cy="1683704"/>
            <a:chOff x="4120243" y="1391510"/>
            <a:chExt cx="2013857" cy="1683704"/>
          </a:xfrm>
          <a:solidFill>
            <a:schemeClr val="accent1">
              <a:lumMod val="20000"/>
              <a:lumOff val="80000"/>
            </a:schemeClr>
          </a:solidFill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B46C47F-CD47-508F-113E-571F94A19421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 flipH="1">
              <a:off x="4120243" y="2060283"/>
              <a:ext cx="1352550" cy="1014931"/>
            </a:xfrm>
            <a:prstGeom prst="straightConnector1">
              <a:avLst/>
            </a:prstGeom>
            <a:grp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7F0AD9B-3697-FF9B-DEA5-03EDBC2C6D5C}"/>
                    </a:ext>
                  </a:extLst>
                </p:cNvPr>
                <p:cNvSpPr txBox="1"/>
                <p:nvPr/>
              </p:nvSpPr>
              <p:spPr>
                <a:xfrm>
                  <a:off x="4811486" y="1391510"/>
                  <a:ext cx="1322614" cy="668773"/>
                </a:xfrm>
                <a:prstGeom prst="rect">
                  <a:avLst/>
                </a:prstGeom>
                <a:grp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Hier </a:t>
                  </a:r>
                  <a14:m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dirty="0"/>
                    <a:t> eindeutig</a:t>
                  </a:r>
                  <a:endParaRPr lang="en-CH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7F0AD9B-3697-FF9B-DEA5-03EDBC2C6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1486" y="1391510"/>
                  <a:ext cx="1322614" cy="668773"/>
                </a:xfrm>
                <a:prstGeom prst="rect">
                  <a:avLst/>
                </a:prstGeom>
                <a:blipFill>
                  <a:blip r:embed="rId3"/>
                  <a:stretch>
                    <a:fillRect t="-4425" b="-11504"/>
                  </a:stretch>
                </a:blipFill>
                <a:ln w="1905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85C819-3837-A08D-DE71-DD611399FAB7}"/>
              </a:ext>
            </a:extLst>
          </p:cNvPr>
          <p:cNvGrpSpPr/>
          <p:nvPr/>
        </p:nvGrpSpPr>
        <p:grpSpPr>
          <a:xfrm>
            <a:off x="6659199" y="1391510"/>
            <a:ext cx="2386830" cy="1683704"/>
            <a:chOff x="4090241" y="1391510"/>
            <a:chExt cx="2386830" cy="1683704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A49616D-965C-FD65-72EE-A32654AB4540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H="1">
              <a:off x="4090241" y="2088945"/>
              <a:ext cx="1426166" cy="986269"/>
            </a:xfrm>
            <a:prstGeom prst="straightConnector1">
              <a:avLst/>
            </a:prstGeom>
            <a:ln w="1905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321BFA-7403-B1C8-1D66-B67BADCEAA54}"/>
                    </a:ext>
                  </a:extLst>
                </p:cNvPr>
                <p:cNvSpPr txBox="1"/>
                <p:nvPr/>
              </p:nvSpPr>
              <p:spPr>
                <a:xfrm>
                  <a:off x="4555742" y="1391510"/>
                  <a:ext cx="1921329" cy="69743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dirty="0"/>
                    <a:t> Undefiniert!</a:t>
                  </a:r>
                  <a:endParaRPr lang="en-CH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321BFA-7403-B1C8-1D66-B67BADCEA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5742" y="1391510"/>
                  <a:ext cx="1921329" cy="697435"/>
                </a:xfrm>
                <a:prstGeom prst="rect">
                  <a:avLst/>
                </a:prstGeom>
                <a:blipFill>
                  <a:blip r:embed="rId4"/>
                  <a:stretch>
                    <a:fillRect t="-4237" b="-11017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4700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9A63-761F-34E2-CFB4-3204C4D7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 Hermite 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FC9F04-1C38-FFF9-00AE-10FCC07D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CBFC7-3F71-EFAA-9319-F4531286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9BBDD-8BBE-2C1F-6658-02AFDB68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1097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84B2-E9C8-B3A1-A419-D1190363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Kubisch-Hermite Idee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271A5-C744-B83E-2C7E-1C2DC8BF76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i="1" dirty="0"/>
                  <a:t>Wir </a:t>
                </a:r>
                <a:r>
                  <a:rPr lang="en-US" i="1" dirty="0" err="1"/>
                  <a:t>wollen</a:t>
                </a:r>
                <a:r>
                  <a:rPr lang="en-US" i="1" dirty="0"/>
                  <a:t> </a:t>
                </a:r>
                <a:r>
                  <a:rPr lang="en-US" i="1" dirty="0" err="1"/>
                  <a:t>stetig</a:t>
                </a:r>
                <a:r>
                  <a:rPr lang="en-US" i="1" dirty="0"/>
                  <a:t> </a:t>
                </a:r>
                <a:r>
                  <a:rPr lang="en-US" i="1" dirty="0" err="1"/>
                  <a:t>differenzierbares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Betrachte</a:t>
                </a:r>
                <a:r>
                  <a:rPr lang="en-US" dirty="0"/>
                  <a:t> </a:t>
                </a:r>
                <a:r>
                  <a:rPr lang="en-US" dirty="0" err="1"/>
                  <a:t>Funktionen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	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beobachten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 auf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orthonormal!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271A5-C744-B83E-2C7E-1C2DC8BF76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82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DC20B-1578-647E-BA94-97601D80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13C1A-9A6E-421E-BC1F-2A7E928D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B04ED-9A83-88CE-E7A5-7E125C1C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FE7A42-4D63-8584-5E96-3827D5F0BC00}"/>
              </a:ext>
            </a:extLst>
          </p:cNvPr>
          <p:cNvGrpSpPr/>
          <p:nvPr/>
        </p:nvGrpSpPr>
        <p:grpSpPr>
          <a:xfrm>
            <a:off x="2525828" y="3983536"/>
            <a:ext cx="7140344" cy="1846659"/>
            <a:chOff x="2525828" y="4320996"/>
            <a:chExt cx="7140344" cy="18466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4606CF7-3313-018D-7EFC-78B85755D67D}"/>
                    </a:ext>
                  </a:extLst>
                </p:cNvPr>
                <p:cNvSpPr txBox="1"/>
                <p:nvPr/>
              </p:nvSpPr>
              <p:spPr>
                <a:xfrm>
                  <a:off x="2525828" y="4320996"/>
                  <a:ext cx="2841171" cy="18466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’</m:t>
                        </m:r>
                        <m:d>
                          <m:dPr>
                            <m:ctrlPr>
                              <a:rPr lang="en-US" sz="240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40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’</m:t>
                        </m:r>
                        <m:d>
                          <m:dPr>
                            <m:ctrlPr>
                              <a:rPr lang="en-US" sz="240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CH" sz="2400" dirty="0"/>
                </a:p>
                <a:p>
                  <a:endParaRPr lang="en-CH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4606CF7-3313-018D-7EFC-78B85755D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828" y="4320996"/>
                  <a:ext cx="2841171" cy="184665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AA83B3B-A57F-585F-FE50-45EC01D66843}"/>
                    </a:ext>
                  </a:extLst>
                </p:cNvPr>
                <p:cNvSpPr txBox="1"/>
                <p:nvPr/>
              </p:nvSpPr>
              <p:spPr>
                <a:xfrm>
                  <a:off x="6825001" y="4320996"/>
                  <a:ext cx="2841171" cy="18466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4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CH" sz="2400" dirty="0"/>
                </a:p>
                <a:p>
                  <a:endParaRPr lang="en-CH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AA83B3B-A57F-585F-FE50-45EC01D66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001" y="4320996"/>
                  <a:ext cx="2841171" cy="18466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5731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BEBF-E707-EF99-785F-9C4EC57C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 Hermite: Plots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ECCFE-77BB-68E6-D15E-21CD5D3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B43A5-F7B4-8CA2-C5F0-471B1480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C3705-D0F6-E16C-F3F7-E9141B11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EC45C-5858-C33C-CC45-D6FD89A8C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87" y="1874484"/>
            <a:ext cx="5324475" cy="3933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521D6D-18C1-4148-DA10-90DD1621D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1874484"/>
            <a:ext cx="53244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0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50C2-84FF-33E3-BE5B-BA2C0E02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 Hermite </a:t>
            </a:r>
            <a:r>
              <a:rPr lang="en-US" dirty="0" err="1"/>
              <a:t>Konstruktion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2D4EA4-6AD5-44A7-55CE-2DDEEFDF7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Angenommen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und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b="1" dirty="0" err="1"/>
                  <a:t>seien</a:t>
                </a:r>
                <a:r>
                  <a:rPr lang="en-US" b="1" dirty="0"/>
                  <a:t> </a:t>
                </a:r>
                <a:r>
                  <a:rPr lang="en-US" b="1" dirty="0" err="1"/>
                  <a:t>bekannt</a:t>
                </a:r>
                <a:r>
                  <a:rPr lang="en-US" b="1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Im</a:t>
                </a:r>
                <a:r>
                  <a:rPr lang="en-US" dirty="0"/>
                  <a:t>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konstruieren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r>
                  <a:rPr lang="en-US" dirty="0"/>
                  <a:t>Damit </a:t>
                </a:r>
                <a:r>
                  <a:rPr lang="en-US" dirty="0" err="1"/>
                  <a:t>stimmen</a:t>
                </a:r>
                <a:r>
                  <a:rPr lang="en-US" dirty="0"/>
                  <a:t> </a:t>
                </a:r>
                <a:r>
                  <a:rPr lang="en-US" dirty="0" err="1"/>
                  <a:t>sowohl</a:t>
                </a:r>
                <a:r>
                  <a:rPr lang="en-US" dirty="0"/>
                  <a:t> die </a:t>
                </a:r>
                <a:r>
                  <a:rPr lang="en-US" dirty="0" err="1"/>
                  <a:t>Funktionswerte</a:t>
                </a:r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 </a:t>
                </a:r>
                <a:r>
                  <a:rPr lang="en-US" dirty="0" err="1"/>
                  <a:t>auch</a:t>
                </a:r>
                <a:r>
                  <a:rPr lang="en-US" dirty="0"/>
                  <a:t> </a:t>
                </a:r>
                <a:r>
                  <a:rPr lang="en-US" dirty="0" err="1"/>
                  <a:t>Ableitungen</a:t>
                </a:r>
                <a:r>
                  <a:rPr lang="en-US" dirty="0"/>
                  <a:t> </a:t>
                </a:r>
                <a:r>
                  <a:rPr lang="en-US" dirty="0" err="1"/>
                  <a:t>jeweils</a:t>
                </a:r>
                <a:r>
                  <a:rPr lang="en-US" dirty="0"/>
                  <a:t> in </a:t>
                </a:r>
                <a:r>
                  <a:rPr lang="en-US" dirty="0" err="1"/>
                  <a:t>allen</a:t>
                </a:r>
                <a:r>
                  <a:rPr lang="en-US" dirty="0"/>
                  <a:t> </a:t>
                </a:r>
                <a:r>
                  <a:rPr lang="en-US" dirty="0" err="1"/>
                  <a:t>Stützstellen</a:t>
                </a:r>
                <a:r>
                  <a:rPr lang="en-US" dirty="0"/>
                  <a:t> 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überein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2D4EA4-6AD5-44A7-55CE-2DDEEFDF7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 r="-102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B4745-2072-1451-5401-C41BF39A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DE9F4-8E36-1412-3B20-A5BF114B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0C68-52DB-0A05-F32D-B49E9563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E688F5-A93E-BA9E-8C7C-B718560A9168}"/>
              </a:ext>
            </a:extLst>
          </p:cNvPr>
          <p:cNvGrpSpPr/>
          <p:nvPr/>
        </p:nvGrpSpPr>
        <p:grpSpPr>
          <a:xfrm>
            <a:off x="8909057" y="2152884"/>
            <a:ext cx="2841172" cy="3447995"/>
            <a:chOff x="7315541" y="2275547"/>
            <a:chExt cx="2841172" cy="3447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BAC0E3-15EF-B35B-EF10-0669890D45C1}"/>
                    </a:ext>
                  </a:extLst>
                </p:cNvPr>
                <p:cNvSpPr txBox="1"/>
                <p:nvPr/>
              </p:nvSpPr>
              <p:spPr>
                <a:xfrm>
                  <a:off x="7315542" y="2275547"/>
                  <a:ext cx="2841171" cy="18466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4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  <m:d>
                          <m:dPr>
                            <m:ctrlPr>
                              <a:rPr lang="en-US" sz="2400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400" b="0" i="1" dirty="0">
                    <a:solidFill>
                      <a:schemeClr val="bg1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  <m:d>
                          <m:dPr>
                            <m:ctrlPr>
                              <a:rPr lang="en-US" sz="2400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CH" sz="24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endParaRPr lang="en-CH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BAC0E3-15EF-B35B-EF10-0669890D4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542" y="2275547"/>
                  <a:ext cx="2841171" cy="184665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189E77C-9680-82A6-3C08-AF4F2E58B72E}"/>
                    </a:ext>
                  </a:extLst>
                </p:cNvPr>
                <p:cNvSpPr txBox="1"/>
                <p:nvPr/>
              </p:nvSpPr>
              <p:spPr>
                <a:xfrm>
                  <a:off x="7315541" y="3876883"/>
                  <a:ext cx="2841171" cy="18466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400" b="0" i="1" dirty="0">
                    <a:solidFill>
                      <a:schemeClr val="bg1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CH" sz="24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endParaRPr lang="en-CH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189E77C-9680-82A6-3C08-AF4F2E58B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541" y="3876883"/>
                  <a:ext cx="2841171" cy="18466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EC3190-B7B1-803A-DCEA-986BEF512E22}"/>
                  </a:ext>
                </a:extLst>
              </p:cNvPr>
              <p:cNvSpPr txBox="1"/>
              <p:nvPr/>
            </p:nvSpPr>
            <p:spPr>
              <a:xfrm>
                <a:off x="6215291" y="3426471"/>
                <a:ext cx="1408604" cy="652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H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EC3190-B7B1-803A-DCEA-986BEF512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91" y="3426471"/>
                <a:ext cx="1408604" cy="652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75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D8BD-6A4C-B0A6-D53E-2A50EBA9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 Hermite Formel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510462-01B6-EFF7-5CBE-4113C6B40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 err="1"/>
                  <a:t>Passt</a:t>
                </a:r>
                <a:r>
                  <a:rPr lang="en-US" dirty="0"/>
                  <a:t> </a:t>
                </a:r>
                <a:r>
                  <a:rPr lang="en-US" dirty="0" err="1"/>
                  <a:t>genau</a:t>
                </a:r>
                <a:r>
                  <a:rPr lang="en-US" dirty="0"/>
                  <a:t> auf die </a:t>
                </a:r>
                <a:r>
                  <a:rPr lang="en-US" dirty="0" err="1"/>
                  <a:t>Funktionswerte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die </a:t>
                </a:r>
                <a:r>
                  <a:rPr lang="en-US" dirty="0" err="1"/>
                  <a:t>Ableitungen</a:t>
                </a:r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 </a:t>
                </a:r>
                <a:r>
                  <a:rPr lang="en-US" dirty="0" err="1"/>
                  <a:t>hier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 err="1"/>
                  <a:t>Passt</a:t>
                </a:r>
                <a:r>
                  <a:rPr lang="en-US" dirty="0"/>
                  <a:t> </a:t>
                </a:r>
                <a:r>
                  <a:rPr lang="en-US" dirty="0" err="1"/>
                  <a:t>genau</a:t>
                </a:r>
                <a:r>
                  <a:rPr lang="en-US" dirty="0"/>
                  <a:t> auf die </a:t>
                </a:r>
                <a:r>
                  <a:rPr lang="en-US" dirty="0" err="1"/>
                  <a:t>Ableitungen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die </a:t>
                </a:r>
                <a:r>
                  <a:rPr lang="en-US" dirty="0" err="1"/>
                  <a:t>Funktionswerte</a:t>
                </a:r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 </a:t>
                </a:r>
                <a:r>
                  <a:rPr lang="en-US" dirty="0" err="1"/>
                  <a:t>hier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510462-01B6-EFF7-5CBE-4113C6B40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b="-104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AA9C-0723-E907-69BB-958D8124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3BA09-DB76-C670-AA50-B82D6D53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22A31-2E5F-F56B-28EC-982B852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574876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398D-2AF4-89A0-A5CF-F5B60559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 Hermite Formel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7A30DA-10D5-13A8-BC8F-79F05A532B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Es gilt: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Also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in </a:t>
                </a:r>
                <a:r>
                  <a:rPr lang="en-US" dirty="0" err="1"/>
                  <a:t>jedem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eine </a:t>
                </a:r>
                <a:r>
                  <a:rPr lang="en-US" dirty="0" err="1"/>
                  <a:t>stetige</a:t>
                </a:r>
                <a:r>
                  <a:rPr lang="en-US" dirty="0"/>
                  <a:t> </a:t>
                </a:r>
                <a:r>
                  <a:rPr lang="en-US" dirty="0" err="1"/>
                  <a:t>Funktion</a:t>
                </a:r>
                <a:r>
                  <a:rPr lang="en-US" dirty="0"/>
                  <a:t>, die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annähert</a:t>
                </a:r>
                <a:r>
                  <a:rPr lang="en-US" dirty="0"/>
                  <a:t>. </a:t>
                </a: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7A30DA-10D5-13A8-BC8F-79F05A532B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37ED-E2E3-220F-9ACD-161FC524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7E8EE-5B38-B8E2-9C3D-74C00435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7739F-C0BB-9A64-402D-2E01A347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121510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C06B3-4D07-0109-4E4C-257D4FC2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0BDF-D7A1-CED2-A56B-C54E8C87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Kubisch Hermite: Plots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397F8-9B2F-01A2-ADEC-B1603CAF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AABA7-7D8C-D788-2DB8-3D4EB68C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ECC9-8F19-10DC-6131-013DCD9F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C046F3-EBD5-1434-C6ED-7D329E1F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87" y="1874484"/>
            <a:ext cx="5324475" cy="3933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9364F4-DA52-64E3-EEF4-62C7361CB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1874484"/>
            <a:ext cx="53244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3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7402-5E15-FDA3-DD97-7AAA8117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Splines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94915-92EF-4AE5-0108-8F079801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18342-E126-AF93-5CDD-1962C6DC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A8E4D-B717-4ED0-405C-D4AB6AE9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8843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6926-9FBB-D286-437F-1A0BD3E2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Splines: Definition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57468-C263-2924-1AE3-83528104F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ist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polynom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von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Grad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Oder </a:t>
                </a:r>
                <a:r>
                  <a:rPr lang="en-US" dirty="0" err="1"/>
                  <a:t>mit</a:t>
                </a:r>
                <a:r>
                  <a:rPr lang="en-US" dirty="0"/>
                  <a:t> Worten:</a:t>
                </a:r>
              </a:p>
              <a:p>
                <a:pPr marL="0" indent="0" algn="ctr">
                  <a:buNone/>
                </a:pPr>
                <a:r>
                  <a:rPr lang="en-US" i="1" dirty="0"/>
                  <a:t>Stückweise </a:t>
                </a:r>
                <a:r>
                  <a:rPr lang="en-US" i="1" dirty="0" err="1"/>
                  <a:t>definierte</a:t>
                </a:r>
                <a:r>
                  <a:rPr lang="en-US" i="1" dirty="0"/>
                  <a:t> </a:t>
                </a:r>
                <a:r>
                  <a:rPr lang="en-US" i="1" dirty="0" err="1"/>
                  <a:t>Aneinanderreihung</a:t>
                </a:r>
                <a:r>
                  <a:rPr lang="en-US" i="1" dirty="0"/>
                  <a:t> von </a:t>
                </a:r>
                <a:r>
                  <a:rPr lang="en-US" i="1" dirty="0" err="1"/>
                  <a:t>Polynomen</a:t>
                </a:r>
                <a:r>
                  <a:rPr lang="en-US" i="1" dirty="0"/>
                  <a:t>, die an </a:t>
                </a:r>
                <a:r>
                  <a:rPr lang="en-US" b="1" i="1" dirty="0" err="1"/>
                  <a:t>allen</a:t>
                </a:r>
                <a:r>
                  <a:rPr lang="en-US" i="1" dirty="0"/>
                  <a:t> </a:t>
                </a:r>
                <a:r>
                  <a:rPr lang="en-US" i="1" dirty="0" err="1"/>
                  <a:t>stellen</a:t>
                </a:r>
                <a:r>
                  <a:rPr lang="en-US" i="1" dirty="0"/>
                  <a:t> </a:t>
                </a:r>
                <a:r>
                  <a:rPr lang="en-US" i="1" dirty="0" err="1"/>
                  <a:t>stetig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i="1" dirty="0"/>
                  <a:t>-mal </a:t>
                </a:r>
                <a:r>
                  <a:rPr lang="en-US" i="1" dirty="0" err="1"/>
                  <a:t>differenzierbar</a:t>
                </a:r>
                <a:r>
                  <a:rPr lang="en-US" i="1" dirty="0"/>
                  <a:t> </a:t>
                </a:r>
                <a:r>
                  <a:rPr lang="en-US" i="1" dirty="0" err="1"/>
                  <a:t>ist</a:t>
                </a:r>
                <a:r>
                  <a:rPr lang="en-US" i="1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Eine Spline der Ordnung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überall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-mal </a:t>
                </a:r>
                <a:r>
                  <a:rPr lang="en-US" dirty="0" err="1"/>
                  <a:t>differenzierbar</a:t>
                </a:r>
                <a:r>
                  <a:rPr lang="en-US" dirty="0"/>
                  <a:t>!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Unterschied</a:t>
                </a:r>
                <a:r>
                  <a:rPr lang="en-US" dirty="0"/>
                  <a:t> </a:t>
                </a:r>
                <a:r>
                  <a:rPr lang="en-US" dirty="0" err="1"/>
                  <a:t>zu</a:t>
                </a:r>
                <a:r>
                  <a:rPr lang="en-US" dirty="0"/>
                  <a:t> Hermite, die </a:t>
                </a:r>
                <a:r>
                  <a:rPr lang="en-US" b="1" dirty="0" err="1"/>
                  <a:t>nur</a:t>
                </a:r>
                <a:r>
                  <a:rPr lang="en-US" b="1" dirty="0"/>
                  <a:t> </a:t>
                </a:r>
                <a:r>
                  <a:rPr lang="en-US" b="1" dirty="0" err="1"/>
                  <a:t>einmal</a:t>
                </a:r>
                <a:r>
                  <a:rPr lang="en-US" dirty="0"/>
                  <a:t> </a:t>
                </a:r>
                <a:r>
                  <a:rPr lang="en-US" dirty="0" err="1"/>
                  <a:t>differenzierbar</a:t>
                </a:r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57468-C263-2924-1AE3-83528104F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F4391-FF48-80C6-F1E4-DA31B0E7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5999E-563D-54C6-0B97-113AD6E5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1C59B-F56C-D737-211A-CAAE7951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8466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6A9D-5B66-3E13-BE01-2E3268DE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Kubische</a:t>
            </a:r>
            <a:r>
              <a:rPr lang="en-US" dirty="0"/>
              <a:t> splines: </a:t>
            </a:r>
            <a:r>
              <a:rPr lang="en-US" dirty="0" err="1"/>
              <a:t>Grundlage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791402-5939-D804-7E58-0B900D46E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Denken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:r>
                  <a:rPr lang="en-US" dirty="0" err="1"/>
                  <a:t>zurück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Hermite: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Neue </a:t>
                </a:r>
                <a:r>
                  <a:rPr lang="en-US" dirty="0" err="1"/>
                  <a:t>Knotenbedingungen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Anstatt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𝑑𝑦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 parameter </a:t>
                </a:r>
                <a:r>
                  <a:rPr lang="en-US" dirty="0" err="1"/>
                  <a:t>zu</a:t>
                </a:r>
                <a:r>
                  <a:rPr lang="en-US" dirty="0"/>
                  <a:t> </a:t>
                </a:r>
                <a:r>
                  <a:rPr lang="en-US" dirty="0" err="1"/>
                  <a:t>nehmen</a:t>
                </a:r>
                <a:r>
                  <a:rPr lang="en-US" dirty="0"/>
                  <a:t>, </a:t>
                </a:r>
                <a:r>
                  <a:rPr lang="en-US" dirty="0" err="1"/>
                  <a:t>lösen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:r>
                  <a:rPr lang="en-US" dirty="0" err="1"/>
                  <a:t>ein</a:t>
                </a:r>
                <a:r>
                  <a:rPr lang="en-US" dirty="0"/>
                  <a:t> </a:t>
                </a:r>
                <a:r>
                  <a:rPr lang="en-US" dirty="0" err="1"/>
                  <a:t>Gleichungssystem</a:t>
                </a:r>
                <a:r>
                  <a:rPr lang="en-US" dirty="0"/>
                  <a:t> </a:t>
                </a:r>
                <a:r>
                  <a:rPr lang="en-US" dirty="0" err="1"/>
                  <a:t>nach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! </a:t>
                </a: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791402-5939-D804-7E58-0B900D46E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A85C6-9E38-D211-AD6F-17BD5CB9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7F846-680B-0065-D24A-6B71EE56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72CAC-22BB-DA44-E821-6F5C70C6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54462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D9C2-C128-D097-0DD2-1EDE506F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Kubische</a:t>
            </a:r>
            <a:r>
              <a:rPr lang="en-US" dirty="0"/>
              <a:t> Splines: </a:t>
            </a:r>
            <a:r>
              <a:rPr lang="en-US" dirty="0" err="1"/>
              <a:t>Gleichungssystem</a:t>
            </a:r>
            <a:r>
              <a:rPr lang="en-US" dirty="0"/>
              <a:t>: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08F05C-C6BD-FCC6-0ADD-925E3AF03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215" y="906347"/>
            <a:ext cx="8648356" cy="50453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369B9-8DA0-06AB-F1A7-909DE997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852B0-9AA5-BDFC-948A-DC9C9F6E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F7A63-CAC3-F400-C75A-2244530A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75132A-A7A4-34FF-D6C7-561C485AEB2A}"/>
              </a:ext>
            </a:extLst>
          </p:cNvPr>
          <p:cNvSpPr/>
          <p:nvPr/>
        </p:nvSpPr>
        <p:spPr>
          <a:xfrm>
            <a:off x="5421086" y="5051653"/>
            <a:ext cx="4931228" cy="9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FDFC2-954A-C6FA-FDFA-C68363FE4486}"/>
              </a:ext>
            </a:extLst>
          </p:cNvPr>
          <p:cNvSpPr/>
          <p:nvPr/>
        </p:nvSpPr>
        <p:spPr>
          <a:xfrm>
            <a:off x="7531280" y="4316258"/>
            <a:ext cx="3212920" cy="9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C8F21B-26E0-B235-E7AB-D1339E60F8C1}"/>
              </a:ext>
            </a:extLst>
          </p:cNvPr>
          <p:cNvSpPr/>
          <p:nvPr/>
        </p:nvSpPr>
        <p:spPr>
          <a:xfrm>
            <a:off x="10438970" y="2466537"/>
            <a:ext cx="1195793" cy="1989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3187C3-6F79-C3C9-634B-A5C49D1957EC}"/>
              </a:ext>
            </a:extLst>
          </p:cNvPr>
          <p:cNvSpPr/>
          <p:nvPr/>
        </p:nvSpPr>
        <p:spPr>
          <a:xfrm>
            <a:off x="9265765" y="324670"/>
            <a:ext cx="1195793" cy="1989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74602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B224-EE14-AF9C-E3D2-02B605D5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Splines: </a:t>
            </a:r>
            <a:r>
              <a:rPr lang="en-US" dirty="0" err="1"/>
              <a:t>Freiheitsgrade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C2381-CCA8-FBF5-993C-BF4B3F838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haben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Knoten!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Anzahl</a:t>
                </a:r>
                <a:r>
                  <a:rPr lang="en-US" dirty="0"/>
                  <a:t> </a:t>
                </a:r>
                <a:r>
                  <a:rPr lang="en-US" b="1" dirty="0" err="1"/>
                  <a:t>Stetigkeitsbedingungen</a:t>
                </a:r>
                <a:r>
                  <a:rPr lang="en-US" dirty="0"/>
                  <a:t>: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jeder</a:t>
                </a:r>
                <a:r>
                  <a:rPr lang="en-US" dirty="0"/>
                  <a:t> </a:t>
                </a:r>
                <a:r>
                  <a:rPr lang="en-US" dirty="0" err="1"/>
                  <a:t>Punkt</a:t>
                </a:r>
                <a:r>
                  <a:rPr lang="en-US" dirty="0"/>
                  <a:t> </a:t>
                </a:r>
                <a:r>
                  <a:rPr lang="en-US" dirty="0" err="1"/>
                  <a:t>ausser</a:t>
                </a:r>
                <a:r>
                  <a:rPr lang="en-US" dirty="0"/>
                  <a:t> </a:t>
                </a:r>
                <a:r>
                  <a:rPr lang="en-US" dirty="0" err="1"/>
                  <a:t>Endpunkte</a:t>
                </a:r>
                <a:r>
                  <a:rPr lang="en-US" dirty="0"/>
                  <a:t>, für </a:t>
                </a:r>
                <a:r>
                  <a:rPr lang="en-US" dirty="0" err="1"/>
                  <a:t>jede</a:t>
                </a:r>
                <a:r>
                  <a:rPr lang="en-US" dirty="0"/>
                  <a:t> 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ableitungen</a:t>
                </a:r>
                <a:r>
                  <a:rPr lang="en-US" dirty="0"/>
                  <a:t> plus die </a:t>
                </a:r>
                <a:r>
                  <a:rPr lang="en-US" dirty="0" err="1"/>
                  <a:t>Funktion</a:t>
                </a:r>
                <a:r>
                  <a:rPr lang="en-US" dirty="0"/>
                  <a:t> </a:t>
                </a:r>
                <a:r>
                  <a:rPr lang="en-US" dirty="0" err="1"/>
                  <a:t>selber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Anzahl</a:t>
                </a:r>
                <a:r>
                  <a:rPr lang="en-US" dirty="0"/>
                  <a:t> </a:t>
                </a:r>
                <a:r>
                  <a:rPr lang="en-US" b="1" dirty="0" err="1"/>
                  <a:t>Polynomkoeffizienten</a:t>
                </a:r>
                <a:r>
                  <a:rPr lang="en-US" dirty="0"/>
                  <a:t>: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Jedes</a:t>
                </a:r>
                <a:r>
                  <a:rPr lang="en-US" dirty="0"/>
                  <a:t> </a:t>
                </a:r>
                <a:r>
                  <a:rPr lang="en-US" dirty="0" err="1"/>
                  <a:t>Liniensegment</a:t>
                </a:r>
                <a:r>
                  <a:rPr lang="en-US" dirty="0"/>
                  <a:t>, </a:t>
                </a:r>
                <a:r>
                  <a:rPr lang="en-US" dirty="0" err="1"/>
                  <a:t>polynome</a:t>
                </a:r>
                <a:r>
                  <a:rPr lang="en-US" dirty="0"/>
                  <a:t> der Ordnung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Anzahl</a:t>
                </a:r>
                <a:r>
                  <a:rPr lang="en-US" dirty="0"/>
                  <a:t> </a:t>
                </a:r>
                <a:r>
                  <a:rPr lang="en-US" b="1" dirty="0" err="1"/>
                  <a:t>Freiheitsgrade</a:t>
                </a:r>
                <a:r>
                  <a:rPr lang="en-US" dirty="0"/>
                  <a:t>: 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(Freie </a:t>
                </a:r>
                <a:r>
                  <a:rPr lang="en-US" dirty="0" err="1"/>
                  <a:t>Koeffizienten</a:t>
                </a:r>
                <a:r>
                  <a:rPr lang="en-US" dirty="0"/>
                  <a:t> minus </a:t>
                </a:r>
                <a:r>
                  <a:rPr lang="en-US" dirty="0" err="1"/>
                  <a:t>Bedingungen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C2381-CCA8-FBF5-993C-BF4B3F838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A03C6-70E9-651A-EAD9-ED781FA4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D384-1297-89F6-17E2-03644ACC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AC169-8A1C-DF1D-765F-308248C0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336450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4C37-4BFA-CA1E-E638-65A220A2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Kubische</a:t>
            </a:r>
            <a:r>
              <a:rPr lang="en-US" dirty="0"/>
              <a:t> Spline: Freiheit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5EF9E8-7EC9-F550-C475-33B9C02A9A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Für </a:t>
                </a:r>
                <a:r>
                  <a:rPr lang="en-US" dirty="0" err="1"/>
                  <a:t>kobische</a:t>
                </a:r>
                <a:r>
                  <a:rPr lang="en-US" dirty="0"/>
                  <a:t> Splines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=3</m:t>
                        </m:r>
                      </m:e>
                    </m:d>
                  </m:oMath>
                </a14:m>
                <a:r>
                  <a:rPr lang="en-US" dirty="0"/>
                  <a:t> gilt: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dim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𝒮</m:t>
                              </m:r>
                            </m:e>
                          </m:fun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Gegebene</a:t>
                </a:r>
                <a:r>
                  <a:rPr lang="en-US" dirty="0"/>
                  <a:t> </a:t>
                </a:r>
                <a:r>
                  <a:rPr lang="en-US" dirty="0" err="1"/>
                  <a:t>Bedingungen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Punkte</a:t>
                </a:r>
              </a:p>
              <a:p>
                <a:pPr marL="0" indent="0">
                  <a:buNone/>
                </a:pPr>
                <a:r>
                  <a:rPr lang="en-US" dirty="0" err="1"/>
                  <a:t>Verbleibende</a:t>
                </a:r>
                <a:r>
                  <a:rPr lang="en-US" dirty="0"/>
                  <a:t> </a:t>
                </a:r>
                <a:r>
                  <a:rPr lang="en-US" dirty="0" err="1"/>
                  <a:t>Freiheitsgrade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müssen</a:t>
                </a:r>
                <a:r>
                  <a:rPr lang="en-US" dirty="0"/>
                  <a:t> je </a:t>
                </a:r>
                <a:r>
                  <a:rPr lang="en-US" dirty="0" err="1"/>
                  <a:t>nach</a:t>
                </a:r>
                <a:r>
                  <a:rPr lang="en-US" dirty="0"/>
                  <a:t> </a:t>
                </a:r>
                <a:r>
                  <a:rPr lang="en-US" dirty="0" err="1"/>
                  <a:t>Anwendung</a:t>
                </a:r>
                <a:r>
                  <a:rPr lang="en-US" dirty="0"/>
                  <a:t> </a:t>
                </a:r>
                <a:r>
                  <a:rPr lang="en-US" b="1" dirty="0" err="1"/>
                  <a:t>zwei</a:t>
                </a:r>
                <a:r>
                  <a:rPr lang="en-US" b="1" dirty="0"/>
                  <a:t> </a:t>
                </a:r>
                <a:r>
                  <a:rPr lang="en-US" b="1" dirty="0" err="1"/>
                  <a:t>weitere</a:t>
                </a:r>
                <a:r>
                  <a:rPr lang="en-US" b="1" dirty="0"/>
                  <a:t> </a:t>
                </a:r>
                <a:r>
                  <a:rPr lang="en-US" b="1" dirty="0" err="1"/>
                  <a:t>Bedingungen</a:t>
                </a:r>
                <a:r>
                  <a:rPr lang="en-US" dirty="0"/>
                  <a:t> </a:t>
                </a:r>
                <a:r>
                  <a:rPr lang="en-US" dirty="0" err="1"/>
                  <a:t>festlegen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5EF9E8-7EC9-F550-C475-33B9C02A9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E931C-A3DB-D0DA-F488-F1415FCE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EB1A8-CE58-583D-63D9-4714FB9D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E75EA-D4F8-E051-C467-A1A5DBCF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141334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BD80-A055-7F60-94FE-40FF9D99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Vollständige</a:t>
            </a:r>
            <a:r>
              <a:rPr lang="en-US" dirty="0"/>
              <a:t> </a:t>
            </a:r>
            <a:r>
              <a:rPr lang="en-US" dirty="0" err="1"/>
              <a:t>Kubische</a:t>
            </a:r>
            <a:r>
              <a:rPr lang="en-US" dirty="0"/>
              <a:t> Spline-Interpolation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A39CE5-6768-EE98-F0CA-53336DB6F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807" y="2819367"/>
            <a:ext cx="9846386" cy="24547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E438-41D6-BBEB-616E-0826AD59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12DB2-EB1A-32E1-5843-56E75DD5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399E1-9CCD-6272-B52B-265350CF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F9896B7-E3FB-31F7-911E-7CE8C1217C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837" y="1412875"/>
                <a:ext cx="10728325" cy="4680000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8163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1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80000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5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Um die </a:t>
                </a:r>
                <a:r>
                  <a:rPr lang="en-US" dirty="0" err="1"/>
                  <a:t>zwei</a:t>
                </a:r>
                <a:r>
                  <a:rPr lang="en-US" dirty="0"/>
                  <a:t> </a:t>
                </a:r>
                <a:r>
                  <a:rPr lang="en-US" dirty="0" err="1"/>
                  <a:t>Freiheitsgrade</a:t>
                </a:r>
                <a:r>
                  <a:rPr lang="en-US" dirty="0"/>
                  <a:t> </a:t>
                </a:r>
                <a:r>
                  <a:rPr lang="en-US" dirty="0" err="1"/>
                  <a:t>zu</a:t>
                </a:r>
                <a:r>
                  <a:rPr lang="en-US" dirty="0"/>
                  <a:t> </a:t>
                </a:r>
                <a:r>
                  <a:rPr lang="en-US" dirty="0" err="1"/>
                  <a:t>füllen</a:t>
                </a:r>
                <a:r>
                  <a:rPr lang="en-US" dirty="0"/>
                  <a:t>, </a:t>
                </a:r>
                <a:r>
                  <a:rPr lang="en-US" dirty="0" err="1"/>
                  <a:t>wählen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:r>
                  <a:rPr lang="en-US" dirty="0" err="1"/>
                  <a:t>ein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Auch “</a:t>
                </a:r>
                <a:r>
                  <a:rPr lang="en-US" dirty="0" err="1"/>
                  <a:t>Eingespannte</a:t>
                </a:r>
                <a:r>
                  <a:rPr lang="en-US" dirty="0"/>
                  <a:t>” </a:t>
                </a:r>
                <a:r>
                  <a:rPr lang="en-US" dirty="0" err="1"/>
                  <a:t>Kubische</a:t>
                </a:r>
                <a:r>
                  <a:rPr lang="en-US" dirty="0"/>
                  <a:t> Spline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F9896B7-E3FB-31F7-911E-7CE8C12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7" y="1412875"/>
                <a:ext cx="10728325" cy="4680000"/>
              </a:xfrm>
              <a:prstGeom prst="rect">
                <a:avLst/>
              </a:prstGeom>
              <a:blipFill>
                <a:blip r:embed="rId3"/>
                <a:stretch>
                  <a:fillRect l="-1307" t="-1695" b="-130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484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C585-9A55-E29A-6A16-512E0DBD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Natürliche</a:t>
            </a:r>
            <a:r>
              <a:rPr lang="en-US" dirty="0"/>
              <a:t> </a:t>
            </a:r>
            <a:r>
              <a:rPr lang="en-US" dirty="0" err="1"/>
              <a:t>Kubische</a:t>
            </a:r>
            <a:r>
              <a:rPr lang="en-US" dirty="0"/>
              <a:t> Spline-Interpolation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B05835-3CBB-AD17-58AE-127F220D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8754" y="1902238"/>
            <a:ext cx="9454490" cy="30535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1CB63-3D61-4645-DBC7-6DC03191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FDCF9-6ECC-FB25-F490-18919C7A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4DBE7-E8CD-71C5-40EB-12FE7D98F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3EBF3ED-B9BB-59D2-4E3B-3A2F104E12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837" y="1412875"/>
                <a:ext cx="10728325" cy="4680000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8163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1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80000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5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Um die </a:t>
                </a:r>
                <a:r>
                  <a:rPr lang="en-US" dirty="0" err="1"/>
                  <a:t>zwei</a:t>
                </a:r>
                <a:r>
                  <a:rPr lang="en-US" dirty="0"/>
                  <a:t> </a:t>
                </a:r>
                <a:r>
                  <a:rPr lang="en-US" dirty="0" err="1"/>
                  <a:t>Freiheitsgrade</a:t>
                </a:r>
                <a:r>
                  <a:rPr lang="en-US" dirty="0"/>
                  <a:t> </a:t>
                </a:r>
                <a:r>
                  <a:rPr lang="en-US" dirty="0" err="1"/>
                  <a:t>zu</a:t>
                </a:r>
                <a:r>
                  <a:rPr lang="en-US" dirty="0"/>
                  <a:t> </a:t>
                </a:r>
                <a:r>
                  <a:rPr lang="en-US" dirty="0" err="1"/>
                  <a:t>füllen</a:t>
                </a:r>
                <a:r>
                  <a:rPr lang="en-US" dirty="0"/>
                  <a:t>, </a:t>
                </a:r>
                <a:r>
                  <a:rPr lang="en-US" dirty="0" err="1"/>
                  <a:t>setzen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Auch “</a:t>
                </a:r>
                <a:r>
                  <a:rPr lang="en-US" dirty="0" err="1"/>
                  <a:t>Eingespannte</a:t>
                </a:r>
                <a:r>
                  <a:rPr lang="en-US" dirty="0"/>
                  <a:t>” </a:t>
                </a:r>
                <a:r>
                  <a:rPr lang="en-US" dirty="0" err="1"/>
                  <a:t>Kubische</a:t>
                </a:r>
                <a:r>
                  <a:rPr lang="en-US" dirty="0"/>
                  <a:t> Spline: </a:t>
                </a:r>
                <a:r>
                  <a:rPr lang="en-US" dirty="0" err="1"/>
                  <a:t>Minimale</a:t>
                </a:r>
                <a:r>
                  <a:rPr lang="en-US" dirty="0"/>
                  <a:t> </a:t>
                </a:r>
                <a:r>
                  <a:rPr lang="en-US" dirty="0" err="1"/>
                  <a:t>Krümmung</a:t>
                </a:r>
                <a:r>
                  <a:rPr lang="en-US" dirty="0"/>
                  <a:t> der </a:t>
                </a:r>
                <a:r>
                  <a:rPr lang="en-US" dirty="0" err="1"/>
                  <a:t>gesamten</a:t>
                </a:r>
                <a:r>
                  <a:rPr lang="en-US" dirty="0"/>
                  <a:t> Spline!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3EBF3ED-B9BB-59D2-4E3B-3A2F104E1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7" y="1412875"/>
                <a:ext cx="10728325" cy="4680000"/>
              </a:xfrm>
              <a:prstGeom prst="rect">
                <a:avLst/>
              </a:prstGeom>
              <a:blipFill>
                <a:blip r:embed="rId3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272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2D31-5D4C-B009-5262-9C4FE10F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Periodische</a:t>
            </a:r>
            <a:r>
              <a:rPr lang="en-US" dirty="0"/>
              <a:t> </a:t>
            </a:r>
            <a:r>
              <a:rPr lang="en-US" dirty="0" err="1"/>
              <a:t>Kubische</a:t>
            </a:r>
            <a:r>
              <a:rPr lang="en-US" dirty="0"/>
              <a:t> Spline-Interpolation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45169-1ADE-2576-5DB5-512D17DC95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wollen</a:t>
                </a:r>
                <a:r>
                  <a:rPr lang="en-US" dirty="0"/>
                  <a:t> nun </a:t>
                </a:r>
                <a:r>
                  <a:rPr lang="en-US" dirty="0" err="1"/>
                  <a:t>auch</a:t>
                </a:r>
                <a:r>
                  <a:rPr lang="en-US" dirty="0"/>
                  <a:t>, </a:t>
                </a:r>
                <a:r>
                  <a:rPr lang="en-US" dirty="0" err="1"/>
                  <a:t>dass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lösen</a:t>
                </a:r>
                <a:r>
                  <a:rPr lang="en-US" dirty="0"/>
                  <a:t> </a:t>
                </a:r>
                <a:r>
                  <a:rPr lang="en-US" dirty="0" err="1"/>
                  <a:t>nur</a:t>
                </a:r>
                <a:r>
                  <a:rPr lang="en-US" dirty="0"/>
                  <a:t> </a:t>
                </a:r>
                <a:r>
                  <a:rPr lang="en-US" dirty="0" err="1"/>
                  <a:t>nach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: Matrix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quadratisch</a:t>
                </a:r>
                <a:r>
                  <a:rPr lang="en-US" dirty="0"/>
                  <a:t>, </a:t>
                </a:r>
                <a:r>
                  <a:rPr lang="en-US" dirty="0" err="1"/>
                  <a:t>rechte</a:t>
                </a:r>
                <a:r>
                  <a:rPr lang="en-US" dirty="0"/>
                  <a:t> </a:t>
                </a:r>
                <a:r>
                  <a:rPr lang="en-US" dirty="0" err="1"/>
                  <a:t>Seite</a:t>
                </a:r>
                <a:r>
                  <a:rPr lang="en-US" dirty="0"/>
                  <a:t> des Systems </a:t>
                </a:r>
                <a:r>
                  <a:rPr lang="en-US" dirty="0" err="1"/>
                  <a:t>bleibt</a:t>
                </a:r>
                <a:r>
                  <a:rPr lang="en-US" dirty="0"/>
                  <a:t> Gleich!</a:t>
                </a: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45169-1ADE-2576-5DB5-512D17DC9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E961-B97E-73B1-8D42-24311C4D3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18170-A462-A062-7EF1-A18C61A6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32E35-0FFA-29F0-BD52-4F8443E4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56306-36D1-0141-E09D-0490B1D72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966" y="2144452"/>
            <a:ext cx="4768068" cy="256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47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2EB6-B4FC-2FA0-7723-01CBC44C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Not-A-Knot </a:t>
            </a:r>
            <a:r>
              <a:rPr lang="en-US" dirty="0" err="1"/>
              <a:t>Kubische</a:t>
            </a:r>
            <a:r>
              <a:rPr lang="en-US" dirty="0"/>
              <a:t> Spline-Interpolation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F14D1C-9557-0411-3130-F7E1E1879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′′′</m:t>
                    </m:r>
                  </m:oMath>
                </a14:m>
                <a:r>
                  <a:rPr lang="en-US" dirty="0"/>
                  <a:t> sei </a:t>
                </a:r>
                <a:r>
                  <a:rPr lang="en-US" dirty="0" err="1"/>
                  <a:t>ebenfalls</a:t>
                </a:r>
                <a:r>
                  <a:rPr lang="en-US" dirty="0"/>
                  <a:t> </a:t>
                </a:r>
                <a:r>
                  <a:rPr lang="en-US" dirty="0" err="1"/>
                  <a:t>stetig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Bewirkt</a:t>
                </a:r>
                <a:r>
                  <a:rPr lang="en-US" dirty="0"/>
                  <a:t> </a:t>
                </a:r>
                <a:r>
                  <a:rPr lang="en-US" dirty="0" err="1"/>
                  <a:t>effektiv</a:t>
                </a:r>
                <a:r>
                  <a:rPr lang="en-US" dirty="0"/>
                  <a:t>, </a:t>
                </a:r>
                <a:r>
                  <a:rPr lang="en-US" dirty="0" err="1"/>
                  <a:t>dass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en-US" dirty="0" err="1"/>
                  <a:t>Deswegen</a:t>
                </a:r>
                <a:r>
                  <a:rPr lang="en-US"/>
                  <a:t> “not-a-knot</a:t>
                </a:r>
                <a:r>
                  <a:rPr lang="en-US" dirty="0"/>
                  <a:t>”</a:t>
                </a: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F14D1C-9557-0411-3130-F7E1E1879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43B22-C97A-FBD0-BF43-CB7D4E71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0AA3C-862F-DB5F-25F9-FD48784E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CD0DD-5DF9-8B31-C4C1-C534ACA2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62939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Jonas Vonäsch</a:t>
            </a:r>
          </a:p>
          <a:p>
            <a:r>
              <a:rPr lang="de-CH" noProof="0" dirty="0"/>
              <a:t>Teaching Assistant NumCS</a:t>
            </a:r>
          </a:p>
          <a:p>
            <a:r>
              <a:rPr lang="de-CH" noProof="0" dirty="0"/>
              <a:t>jvonaesch@student.ethz.ch</a:t>
            </a:r>
          </a:p>
          <a:p>
            <a:endParaRPr lang="de-CH" noProof="0" dirty="0"/>
          </a:p>
          <a:p>
            <a:r>
              <a:rPr lang="de-CH" dirty="0"/>
              <a:t>j</a:t>
            </a:r>
            <a:r>
              <a:rPr lang="de-CH" noProof="0" dirty="0"/>
              <a:t>vonaesch.github.io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7932926-A987-44F4-A8A1-AB55FBE1FD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NumCS Powerpoint.potx" id="{9D12AF97-3938-44EF-A197-3C3608B29A94}" vid="{D7EF6B36-1E67-4BCE-AB4F-15EB1D3AABE5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NumCS Powerpoint</Template>
  <TotalTime>392</TotalTime>
  <Words>1202</Words>
  <Application>Microsoft Office PowerPoint</Application>
  <PresentationFormat>Widescreen</PresentationFormat>
  <Paragraphs>309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Cambria Math</vt:lpstr>
      <vt:lpstr>Symbol</vt:lpstr>
      <vt:lpstr>ETH Zürich</vt:lpstr>
      <vt:lpstr>Woche 4:  </vt:lpstr>
      <vt:lpstr>Agenda</vt:lpstr>
      <vt:lpstr>Cosinus-Transformation</vt:lpstr>
      <vt:lpstr>Cosinus-Transformation: Idee</vt:lpstr>
      <vt:lpstr>Cosinus-Transformation Fast-Forward</vt:lpstr>
      <vt:lpstr>Intuition zur Spiegelung</vt:lpstr>
      <vt:lpstr>Cosinus-Transformation: Vorgehen</vt:lpstr>
      <vt:lpstr>Chebyshev mit FFT: DCT</vt:lpstr>
      <vt:lpstr>Stückweise Polynomiale Interpolation</vt:lpstr>
      <vt:lpstr>Stückweise polynomielle Interpolation: Idee </vt:lpstr>
      <vt:lpstr>Stückweise polynomielle Interpolation: Illustration </vt:lpstr>
      <vt:lpstr>Stückweise Lineare Interpolation</vt:lpstr>
      <vt:lpstr>Stückweise Lineare Interpolation</vt:lpstr>
      <vt:lpstr>Stückweise Lineare Interpolation: Problem</vt:lpstr>
      <vt:lpstr>Kubisch Hermite Interpolation</vt:lpstr>
      <vt:lpstr>Kubisch-Hermite Idee</vt:lpstr>
      <vt:lpstr>Kubisch Hermite: Plots</vt:lpstr>
      <vt:lpstr>Kubisch Hermite Konstruktion</vt:lpstr>
      <vt:lpstr>Kubisch Hermite Formel</vt:lpstr>
      <vt:lpstr>Kubisch Hermite Formel</vt:lpstr>
      <vt:lpstr>Kubisch Hermite: Plots</vt:lpstr>
      <vt:lpstr>Splines</vt:lpstr>
      <vt:lpstr>Splines: Definition</vt:lpstr>
      <vt:lpstr>Kubische splines: Grundlage</vt:lpstr>
      <vt:lpstr>Kubische Splines: Gleichungssystem:</vt:lpstr>
      <vt:lpstr>Splines: Freiheitsgrade</vt:lpstr>
      <vt:lpstr>Kubische Spline: Freiheit</vt:lpstr>
      <vt:lpstr>Vollständige Kubische Spline-Interpolation</vt:lpstr>
      <vt:lpstr>Natürliche Kubische Spline-Interpolation</vt:lpstr>
      <vt:lpstr>Periodische Kubische Spline-Interpolation</vt:lpstr>
      <vt:lpstr>Not-A-Knot Kubische Spline-Interpolation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Vonäsch</dc:creator>
  <cp:lastModifiedBy>Jonas Vonäsch</cp:lastModifiedBy>
  <cp:revision>236</cp:revision>
  <dcterms:created xsi:type="dcterms:W3CDTF">2026-10-02T09:02:04Z</dcterms:created>
  <dcterms:modified xsi:type="dcterms:W3CDTF">2026-10-11T13:35:00Z</dcterms:modified>
</cp:coreProperties>
</file>