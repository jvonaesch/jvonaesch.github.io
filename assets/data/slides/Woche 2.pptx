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6" r:id="rId2"/>
    <p:sldId id="261" r:id="rId3"/>
    <p:sldId id="276" r:id="rId4"/>
    <p:sldId id="263" r:id="rId5"/>
    <p:sldId id="278" r:id="rId6"/>
    <p:sldId id="277" r:id="rId7"/>
    <p:sldId id="284" r:id="rId8"/>
    <p:sldId id="304" r:id="rId9"/>
    <p:sldId id="280" r:id="rId10"/>
    <p:sldId id="281" r:id="rId11"/>
    <p:sldId id="285" r:id="rId12"/>
    <p:sldId id="282" r:id="rId13"/>
    <p:sldId id="283" r:id="rId14"/>
    <p:sldId id="291" r:id="rId15"/>
    <p:sldId id="305" r:id="rId16"/>
    <p:sldId id="292" r:id="rId17"/>
    <p:sldId id="287" r:id="rId18"/>
    <p:sldId id="294" r:id="rId19"/>
    <p:sldId id="306" r:id="rId20"/>
    <p:sldId id="289" r:id="rId21"/>
    <p:sldId id="290" r:id="rId22"/>
    <p:sldId id="300" r:id="rId23"/>
    <p:sldId id="307" r:id="rId24"/>
    <p:sldId id="295" r:id="rId25"/>
    <p:sldId id="298" r:id="rId26"/>
    <p:sldId id="297" r:id="rId27"/>
    <p:sldId id="299" r:id="rId28"/>
    <p:sldId id="301" r:id="rId29"/>
    <p:sldId id="302" r:id="rId30"/>
    <p:sldId id="303" r:id="rId31"/>
    <p:sldId id="308" r:id="rId3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A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9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82" y="27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0" d="100"/>
          <a:sy n="80" d="100"/>
        </p:scale>
        <p:origin x="4176" y="45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8AF70A90-CA7E-49EB-AB17-C37FEDD075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A7711EA-1FBE-4E98-9D43-C2D65C45D0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8ABEA4-9216-4FDF-AAE1-D8632908A8EC}" type="datetimeFigureOut">
              <a:rPr lang="de-CH" smtClean="0"/>
              <a:t>24.09.2026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2CCD3C8-8930-4E0E-A891-B770724F2B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7798FB5-86BC-42DA-9D05-F96D484814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685DCD-866D-47AE-A236-118539F53379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232272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8A90D-FE7E-41AF-B03D-808D82937CB9}" type="datetimeFigureOut">
              <a:rPr lang="de-CH" smtClean="0"/>
              <a:t>24.09.2026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15DDFD-030C-4D5A-B33E-3A7E7538D2BE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4149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3538"/>
            <a:ext cx="5904000" cy="2772000"/>
          </a:xfrm>
          <a:solidFill>
            <a:schemeClr val="accent1"/>
          </a:solidFill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3C296D1-2CD0-479F-A866-6EC741D2293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E41BE31-9613-4103-99FF-7DCFF643B3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3860495"/>
            <a:ext cx="468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DEB298C-798E-4D73-9DD6-F896C06530C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4293381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  <p15:guide id="3" orient="horz" pos="640" userDrawn="1">
          <p15:clr>
            <a:srgbClr val="FBAE40"/>
          </p15:clr>
        </p15:guide>
        <p15:guide id="4" orient="horz" pos="3952" userDrawn="1">
          <p15:clr>
            <a:srgbClr val="FBAE40"/>
          </p15:clr>
        </p15:guide>
        <p15:guide id="5" pos="610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8A01615F-450E-43D0-B554-DA3FBD48DF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0" tIns="0" rIns="5580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04000" y="2957494"/>
            <a:ext cx="5688000" cy="2268000"/>
          </a:xfrm>
          <a:solidFill>
            <a:schemeClr val="accent6"/>
          </a:solidFill>
        </p:spPr>
        <p:txBody>
          <a:bodyPr lIns="324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9" name="Textplatzhalter 3">
            <a:extLst>
              <a:ext uri="{FF2B5EF4-FFF2-40B4-BE49-F238E27FC236}">
                <a16:creationId xmlns:a16="http://schemas.microsoft.com/office/drawing/2014/main" id="{003A487C-8977-4264-A8A1-D6C1DB6046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45210" y="4639666"/>
            <a:ext cx="4320000" cy="46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Bildplatzhalter 8">
            <a:extLst>
              <a:ext uri="{FF2B5EF4-FFF2-40B4-BE49-F238E27FC236}">
                <a16:creationId xmlns:a16="http://schemas.microsoft.com/office/drawing/2014/main" id="{E91D3734-CD8F-4F94-A813-570EF31C473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547D2927-4A99-4714-8EBA-F773EAA2630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100241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62D94F76-218E-49F2-87F8-05982912ED18}"/>
              </a:ext>
            </a:extLst>
          </p:cNvPr>
          <p:cNvSpPr/>
          <p:nvPr userDrawn="1"/>
        </p:nvSpPr>
        <p:spPr>
          <a:xfrm>
            <a:off x="731838" y="1016000"/>
            <a:ext cx="10728325" cy="5257800"/>
          </a:xfrm>
          <a:prstGeom prst="rect">
            <a:avLst/>
          </a:prstGeom>
          <a:solidFill>
            <a:srgbClr val="8E67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940405"/>
            <a:ext cx="10188000" cy="3420000"/>
          </a:xfrm>
          <a:solidFill>
            <a:schemeClr val="accent3"/>
          </a:solidFill>
          <a:ln>
            <a:noFill/>
          </a:ln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0503E57F-F89F-431B-8D38-7CC97B7C20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4217884"/>
            <a:ext cx="864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Bildplatzhalter 8">
            <a:extLst>
              <a:ext uri="{FF2B5EF4-FFF2-40B4-BE49-F238E27FC236}">
                <a16:creationId xmlns:a16="http://schemas.microsoft.com/office/drawing/2014/main" id="{1BEB6197-C509-4752-B57E-CEE955F5D92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4ADF7DEC-21BD-45CA-9E91-B9F58A69F62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3924069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837" y="1016000"/>
            <a:ext cx="10728326" cy="5256000"/>
          </a:xfrm>
          <a:solidFill>
            <a:schemeClr val="accent6"/>
          </a:solidFill>
          <a:ln>
            <a:noFill/>
          </a:ln>
        </p:spPr>
        <p:txBody>
          <a:bodyPr lIns="324000" tIns="11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6" name="Textplatzhalter 3">
            <a:extLst>
              <a:ext uri="{FF2B5EF4-FFF2-40B4-BE49-F238E27FC236}">
                <a16:creationId xmlns:a16="http://schemas.microsoft.com/office/drawing/2014/main" id="{5FCAD79B-EF47-46A0-9575-229F3DAA72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5" y="5122625"/>
            <a:ext cx="10044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72236FC6-C8FF-43C1-86B9-BF112345926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789A3267-E086-4EC3-A0BB-F8ECD01A5C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732532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4 – Uni Zür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3538"/>
            <a:ext cx="5904000" cy="2772000"/>
          </a:xfrm>
          <a:solidFill>
            <a:schemeClr val="accent2"/>
          </a:solidFill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93E2EDD-B19F-478D-BB03-AD55EC1E86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7672" y="228020"/>
            <a:ext cx="3679200" cy="552508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D364BCB8-820F-4C3A-BA37-7048A4C8D4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3860495"/>
            <a:ext cx="468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A73913C2-8DFE-4F15-B2DB-2A6D5C26700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791A1AD7-DB7D-4C75-BEFB-EB6D34D3B2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2789257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39750" indent="-539750">
              <a:buFont typeface="+mj-lt"/>
              <a:buAutoNum type="arabicPeriod"/>
              <a:defRPr/>
            </a:lvl1pPr>
            <a:lvl2pPr marL="1079500" indent="-539750">
              <a:buFont typeface="+mj-lt"/>
              <a:buAutoNum type="arabicPeriod"/>
              <a:defRPr/>
            </a:lvl2pPr>
            <a:lvl3pPr marL="1612900" indent="-533400">
              <a:buFont typeface="+mj-lt"/>
              <a:buAutoNum type="arabicPeriod"/>
              <a:defRPr/>
            </a:lvl3pPr>
            <a:lvl4pPr marL="2152650" indent="-539750">
              <a:buFont typeface="+mj-lt"/>
              <a:buAutoNum type="arabicPeriod"/>
              <a:defRPr/>
            </a:lvl4pPr>
            <a:lvl5pPr marL="2692400" indent="-539750">
              <a:buFont typeface="+mj-lt"/>
              <a:buAutoNum type="arabicPeriod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24.09.2026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 dirty="0"/>
              <a:t>Organisationseinheit verbal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599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24.09.2026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 dirty="0"/>
              <a:t>Organisationseinheit verbal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753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Fuss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412875"/>
            <a:ext cx="10728325" cy="396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1E762-278A-4155-9BEB-7C2CB2386E92}" type="datetime1">
              <a:rPr lang="de-CH" noProof="0" smtClean="0"/>
              <a:t>24.09.2026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2F6D94FA-21C6-4AE0-AA4F-3A077810ED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836" y="5570135"/>
            <a:ext cx="5364164" cy="721233"/>
          </a:xfrm>
        </p:spPr>
        <p:txBody>
          <a:bodyPr anchor="b" anchorCtr="0"/>
          <a:lstStyle>
            <a:lvl1pPr marL="179388" indent="-179388">
              <a:spcBef>
                <a:spcPts val="0"/>
              </a:spcBef>
              <a:buFont typeface="+mj-lt"/>
              <a:buAutoNum type="arabicPeriod"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6001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224781"/>
            <a:ext cx="10728325" cy="1260000"/>
          </a:xfr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C4EAFE7-317E-4912-B75C-DD6945F82242}" type="datetime1">
              <a:rPr lang="de-CH" noProof="0" smtClean="0"/>
              <a:t>24.09.2026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ACA52AF-F19D-405C-AD5F-7D94B96A5CC3}" type="slidenum">
              <a:rPr lang="de-CH" noProof="0" smtClean="0"/>
              <a:pPr/>
              <a:t>‹#›</a:t>
            </a:fld>
            <a:endParaRPr lang="de-CH" noProof="0"/>
          </a:p>
        </p:txBody>
      </p:sp>
      <p:grpSp>
        <p:nvGrpSpPr>
          <p:cNvPr id="10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GrpSpPr/>
          <p:nvPr/>
        </p:nvGrpSpPr>
        <p:grpSpPr>
          <a:xfrm>
            <a:off x="731837" y="6507088"/>
            <a:ext cx="984462" cy="162000"/>
            <a:chOff x="731837" y="6507088"/>
            <a:chExt cx="984462" cy="162000"/>
          </a:xfrm>
          <a:solidFill>
            <a:schemeClr val="bg1"/>
          </a:solidFill>
        </p:grpSpPr>
        <p:grpSp>
          <p:nvGrpSpPr>
            <p:cNvPr id="12" name="Grafik 6">
              <a:extLst>
                <a:ext uri="{FF2B5EF4-FFF2-40B4-BE49-F238E27FC236}">
                  <a16:creationId xmlns:a16="http://schemas.microsoft.com/office/drawing/2014/main" id="{7F7C476A-2849-4D68-9FA2-3A5CFC13C833}"/>
                </a:ext>
              </a:extLst>
            </p:cNvPr>
            <p:cNvGrpSpPr/>
            <p:nvPr/>
          </p:nvGrpSpPr>
          <p:grpSpPr>
            <a:xfrm>
              <a:off x="1266489" y="6555186"/>
              <a:ext cx="197463" cy="110963"/>
              <a:chOff x="1266489" y="6555186"/>
              <a:chExt cx="197463" cy="110963"/>
            </a:xfrm>
            <a:grpFill/>
          </p:grpSpPr>
          <p:sp>
            <p:nvSpPr>
              <p:cNvPr id="13" name="Freihandform: Form 12">
                <a:extLst>
                  <a:ext uri="{FF2B5EF4-FFF2-40B4-BE49-F238E27FC236}">
                    <a16:creationId xmlns:a16="http://schemas.microsoft.com/office/drawing/2014/main" id="{18BB0752-F87C-44D9-A9A5-97AF1DEDA1AE}"/>
                  </a:ext>
                </a:extLst>
              </p:cNvPr>
              <p:cNvSpPr/>
              <p:nvPr/>
            </p:nvSpPr>
            <p:spPr>
              <a:xfrm>
                <a:off x="1266489" y="6556934"/>
                <a:ext cx="95902" cy="109216"/>
              </a:xfrm>
              <a:custGeom>
                <a:avLst/>
                <a:gdLst>
                  <a:gd name="connsiteX0" fmla="*/ 66742 w 95902"/>
                  <a:gd name="connsiteY0" fmla="*/ 65797 h 109216"/>
                  <a:gd name="connsiteX1" fmla="*/ 35339 w 95902"/>
                  <a:gd name="connsiteY1" fmla="*/ 95082 h 109216"/>
                  <a:gd name="connsiteX2" fmla="*/ 15953 w 95902"/>
                  <a:gd name="connsiteY2" fmla="*/ 79537 h 109216"/>
                  <a:gd name="connsiteX3" fmla="*/ 15899 w 95902"/>
                  <a:gd name="connsiteY3" fmla="*/ 76265 h 109216"/>
                  <a:gd name="connsiteX4" fmla="*/ 16896 w 95902"/>
                  <a:gd name="connsiteY4" fmla="*/ 66295 h 109216"/>
                  <a:gd name="connsiteX5" fmla="*/ 30230 w 95902"/>
                  <a:gd name="connsiteY5" fmla="*/ 0 h 109216"/>
                  <a:gd name="connsiteX6" fmla="*/ 30230 w 95902"/>
                  <a:gd name="connsiteY6" fmla="*/ 0 h 109216"/>
                  <a:gd name="connsiteX7" fmla="*/ 14528 w 95902"/>
                  <a:gd name="connsiteY7" fmla="*/ 0 h 109216"/>
                  <a:gd name="connsiteX8" fmla="*/ 1194 w 95902"/>
                  <a:gd name="connsiteY8" fmla="*/ 67791 h 109216"/>
                  <a:gd name="connsiteX9" fmla="*/ 1194 w 95902"/>
                  <a:gd name="connsiteY9" fmla="*/ 68788 h 109216"/>
                  <a:gd name="connsiteX10" fmla="*/ 73 w 95902"/>
                  <a:gd name="connsiteY10" fmla="*/ 78508 h 109216"/>
                  <a:gd name="connsiteX11" fmla="*/ 26638 w 95902"/>
                  <a:gd name="connsiteY11" fmla="*/ 109122 h 109216"/>
                  <a:gd name="connsiteX12" fmla="*/ 29980 w 95902"/>
                  <a:gd name="connsiteY12" fmla="*/ 109163 h 109216"/>
                  <a:gd name="connsiteX13" fmla="*/ 61384 w 95902"/>
                  <a:gd name="connsiteY13" fmla="*/ 96702 h 109216"/>
                  <a:gd name="connsiteX14" fmla="*/ 59265 w 95902"/>
                  <a:gd name="connsiteY14" fmla="*/ 107917 h 109216"/>
                  <a:gd name="connsiteX15" fmla="*/ 59265 w 95902"/>
                  <a:gd name="connsiteY15" fmla="*/ 107917 h 109216"/>
                  <a:gd name="connsiteX16" fmla="*/ 74842 w 95902"/>
                  <a:gd name="connsiteY16" fmla="*/ 107917 h 109216"/>
                  <a:gd name="connsiteX17" fmla="*/ 95902 w 95902"/>
                  <a:gd name="connsiteY17" fmla="*/ 0 h 109216"/>
                  <a:gd name="connsiteX18" fmla="*/ 95902 w 95902"/>
                  <a:gd name="connsiteY18" fmla="*/ 0 h 109216"/>
                  <a:gd name="connsiteX19" fmla="*/ 79951 w 95902"/>
                  <a:gd name="connsiteY19" fmla="*/ 0 h 109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5902" h="109216">
                    <a:moveTo>
                      <a:pt x="66742" y="65797"/>
                    </a:moveTo>
                    <a:cubicBezTo>
                      <a:pt x="65228" y="82115"/>
                      <a:pt x="51723" y="94709"/>
                      <a:pt x="35339" y="95082"/>
                    </a:cubicBezTo>
                    <a:cubicBezTo>
                      <a:pt x="25692" y="96142"/>
                      <a:pt x="17013" y="89183"/>
                      <a:pt x="15953" y="79537"/>
                    </a:cubicBezTo>
                    <a:cubicBezTo>
                      <a:pt x="15833" y="78450"/>
                      <a:pt x="15814" y="77355"/>
                      <a:pt x="15899" y="76265"/>
                    </a:cubicBezTo>
                    <a:cubicBezTo>
                      <a:pt x="15976" y="72921"/>
                      <a:pt x="16309" y="69588"/>
                      <a:pt x="16896" y="66295"/>
                    </a:cubicBezTo>
                    <a:lnTo>
                      <a:pt x="30230" y="0"/>
                    </a:lnTo>
                    <a:lnTo>
                      <a:pt x="30230" y="0"/>
                    </a:lnTo>
                    <a:lnTo>
                      <a:pt x="14528" y="0"/>
                    </a:lnTo>
                    <a:lnTo>
                      <a:pt x="1194" y="67791"/>
                    </a:lnTo>
                    <a:lnTo>
                      <a:pt x="1194" y="68788"/>
                    </a:lnTo>
                    <a:cubicBezTo>
                      <a:pt x="472" y="71978"/>
                      <a:pt x="95" y="75237"/>
                      <a:pt x="73" y="78508"/>
                    </a:cubicBezTo>
                    <a:cubicBezTo>
                      <a:pt x="-1045" y="94298"/>
                      <a:pt x="10848" y="108004"/>
                      <a:pt x="26638" y="109122"/>
                    </a:cubicBezTo>
                    <a:cubicBezTo>
                      <a:pt x="27751" y="109200"/>
                      <a:pt x="28866" y="109214"/>
                      <a:pt x="29980" y="109163"/>
                    </a:cubicBezTo>
                    <a:cubicBezTo>
                      <a:pt x="41760" y="109765"/>
                      <a:pt x="53221" y="105218"/>
                      <a:pt x="61384" y="96702"/>
                    </a:cubicBezTo>
                    <a:lnTo>
                      <a:pt x="59265" y="107917"/>
                    </a:lnTo>
                    <a:lnTo>
                      <a:pt x="59265" y="107917"/>
                    </a:lnTo>
                    <a:lnTo>
                      <a:pt x="74842" y="107917"/>
                    </a:lnTo>
                    <a:lnTo>
                      <a:pt x="95902" y="0"/>
                    </a:lnTo>
                    <a:lnTo>
                      <a:pt x="95902" y="0"/>
                    </a:lnTo>
                    <a:lnTo>
                      <a:pt x="79951" y="0"/>
                    </a:lnTo>
                    <a:close/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  <p:sp>
            <p:nvSpPr>
              <p:cNvPr id="14" name="Freihandform: Form 13">
                <a:extLst>
                  <a:ext uri="{FF2B5EF4-FFF2-40B4-BE49-F238E27FC236}">
                    <a16:creationId xmlns:a16="http://schemas.microsoft.com/office/drawing/2014/main" id="{ED44DE23-7081-4AC9-BF06-502BEC71C004}"/>
                  </a:ext>
                </a:extLst>
              </p:cNvPr>
              <p:cNvSpPr/>
              <p:nvPr/>
            </p:nvSpPr>
            <p:spPr>
              <a:xfrm>
                <a:off x="1376472" y="6555186"/>
                <a:ext cx="87480" cy="109664"/>
              </a:xfrm>
              <a:custGeom>
                <a:avLst/>
                <a:gdLst>
                  <a:gd name="connsiteX0" fmla="*/ 64302 w 87480"/>
                  <a:gd name="connsiteY0" fmla="*/ 3 h 109664"/>
                  <a:gd name="connsiteX1" fmla="*/ 34518 w 87480"/>
                  <a:gd name="connsiteY1" fmla="*/ 14209 h 109664"/>
                  <a:gd name="connsiteX2" fmla="*/ 36886 w 87480"/>
                  <a:gd name="connsiteY2" fmla="*/ 1747 h 109664"/>
                  <a:gd name="connsiteX3" fmla="*/ 36886 w 87480"/>
                  <a:gd name="connsiteY3" fmla="*/ 1747 h 109664"/>
                  <a:gd name="connsiteX4" fmla="*/ 21434 w 87480"/>
                  <a:gd name="connsiteY4" fmla="*/ 1747 h 109664"/>
                  <a:gd name="connsiteX5" fmla="*/ 0 w 87480"/>
                  <a:gd name="connsiteY5" fmla="*/ 109664 h 109664"/>
                  <a:gd name="connsiteX6" fmla="*/ 0 w 87480"/>
                  <a:gd name="connsiteY6" fmla="*/ 109664 h 109664"/>
                  <a:gd name="connsiteX7" fmla="*/ 15826 w 87480"/>
                  <a:gd name="connsiteY7" fmla="*/ 109664 h 109664"/>
                  <a:gd name="connsiteX8" fmla="*/ 28288 w 87480"/>
                  <a:gd name="connsiteY8" fmla="*/ 43493 h 109664"/>
                  <a:gd name="connsiteX9" fmla="*/ 59940 w 87480"/>
                  <a:gd name="connsiteY9" fmla="*/ 14209 h 109664"/>
                  <a:gd name="connsiteX10" fmla="*/ 75019 w 87480"/>
                  <a:gd name="connsiteY10" fmla="*/ 21810 h 109664"/>
                  <a:gd name="connsiteX11" fmla="*/ 75019 w 87480"/>
                  <a:gd name="connsiteY11" fmla="*/ 21810 h 109664"/>
                  <a:gd name="connsiteX12" fmla="*/ 87480 w 87480"/>
                  <a:gd name="connsiteY12" fmla="*/ 10346 h 109664"/>
                  <a:gd name="connsiteX13" fmla="*/ 87480 w 87480"/>
                  <a:gd name="connsiteY13" fmla="*/ 10346 h 109664"/>
                  <a:gd name="connsiteX14" fmla="*/ 63928 w 87480"/>
                  <a:gd name="connsiteY14" fmla="*/ 252 h 10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7480" h="109664">
                    <a:moveTo>
                      <a:pt x="64302" y="3"/>
                    </a:moveTo>
                    <a:cubicBezTo>
                      <a:pt x="52709" y="-136"/>
                      <a:pt x="41706" y="5111"/>
                      <a:pt x="34518" y="14209"/>
                    </a:cubicBezTo>
                    <a:lnTo>
                      <a:pt x="36886" y="1747"/>
                    </a:lnTo>
                    <a:lnTo>
                      <a:pt x="36886" y="1747"/>
                    </a:lnTo>
                    <a:lnTo>
                      <a:pt x="21434" y="1747"/>
                    </a:lnTo>
                    <a:lnTo>
                      <a:pt x="0" y="109664"/>
                    </a:lnTo>
                    <a:lnTo>
                      <a:pt x="0" y="109664"/>
                    </a:lnTo>
                    <a:lnTo>
                      <a:pt x="15826" y="109664"/>
                    </a:lnTo>
                    <a:lnTo>
                      <a:pt x="28288" y="43493"/>
                    </a:lnTo>
                    <a:cubicBezTo>
                      <a:pt x="30515" y="27438"/>
                      <a:pt x="43760" y="15183"/>
                      <a:pt x="59940" y="14209"/>
                    </a:cubicBezTo>
                    <a:cubicBezTo>
                      <a:pt x="65919" y="14072"/>
                      <a:pt x="71573" y="16922"/>
                      <a:pt x="75019" y="21810"/>
                    </a:cubicBezTo>
                    <a:lnTo>
                      <a:pt x="75019" y="21810"/>
                    </a:lnTo>
                    <a:lnTo>
                      <a:pt x="87480" y="10346"/>
                    </a:lnTo>
                    <a:lnTo>
                      <a:pt x="87480" y="10346"/>
                    </a:lnTo>
                    <a:cubicBezTo>
                      <a:pt x="81552" y="3603"/>
                      <a:pt x="72899" y="-105"/>
                      <a:pt x="63928" y="252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</p:grp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18C24FD2-AEE2-43CA-8EB3-8E646C2E5E46}"/>
                </a:ext>
              </a:extLst>
            </p:cNvPr>
            <p:cNvSpPr/>
            <p:nvPr/>
          </p:nvSpPr>
          <p:spPr>
            <a:xfrm>
              <a:off x="1159517" y="6556560"/>
              <a:ext cx="96452" cy="108166"/>
            </a:xfrm>
            <a:custGeom>
              <a:avLst/>
              <a:gdLst>
                <a:gd name="connsiteX0" fmla="*/ 23303 w 96452"/>
                <a:gd name="connsiteY0" fmla="*/ 0 h 108166"/>
                <a:gd name="connsiteX1" fmla="*/ 20562 w 96452"/>
                <a:gd name="connsiteY1" fmla="*/ 13708 h 108166"/>
                <a:gd name="connsiteX2" fmla="*/ 20562 w 96452"/>
                <a:gd name="connsiteY2" fmla="*/ 13957 h 108166"/>
                <a:gd name="connsiteX3" fmla="*/ 74271 w 96452"/>
                <a:gd name="connsiteY3" fmla="*/ 13957 h 108166"/>
                <a:gd name="connsiteX4" fmla="*/ 2742 w 96452"/>
                <a:gd name="connsiteY4" fmla="*/ 94957 h 108166"/>
                <a:gd name="connsiteX5" fmla="*/ 2617 w 96452"/>
                <a:gd name="connsiteY5" fmla="*/ 94957 h 108166"/>
                <a:gd name="connsiteX6" fmla="*/ 0 w 96452"/>
                <a:gd name="connsiteY6" fmla="*/ 108166 h 108166"/>
                <a:gd name="connsiteX7" fmla="*/ 76265 w 96452"/>
                <a:gd name="connsiteY7" fmla="*/ 108166 h 108166"/>
                <a:gd name="connsiteX8" fmla="*/ 79006 w 96452"/>
                <a:gd name="connsiteY8" fmla="*/ 94209 h 108166"/>
                <a:gd name="connsiteX9" fmla="*/ 21932 w 96452"/>
                <a:gd name="connsiteY9" fmla="*/ 94209 h 108166"/>
                <a:gd name="connsiteX10" fmla="*/ 93835 w 96452"/>
                <a:gd name="connsiteY10" fmla="*/ 13209 h 108166"/>
                <a:gd name="connsiteX11" fmla="*/ 93835 w 96452"/>
                <a:gd name="connsiteY11" fmla="*/ 13209 h 108166"/>
                <a:gd name="connsiteX12" fmla="*/ 96452 w 96452"/>
                <a:gd name="connsiteY12" fmla="*/ 0 h 108166"/>
                <a:gd name="connsiteX13" fmla="*/ 23303 w 96452"/>
                <a:gd name="connsiteY13" fmla="*/ 0 h 10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6452" h="108166">
                  <a:moveTo>
                    <a:pt x="23303" y="0"/>
                  </a:moveTo>
                  <a:lnTo>
                    <a:pt x="20562" y="13708"/>
                  </a:lnTo>
                  <a:lnTo>
                    <a:pt x="20562" y="13957"/>
                  </a:lnTo>
                  <a:lnTo>
                    <a:pt x="74271" y="13957"/>
                  </a:lnTo>
                  <a:lnTo>
                    <a:pt x="2742" y="94957"/>
                  </a:lnTo>
                  <a:lnTo>
                    <a:pt x="2617" y="94957"/>
                  </a:lnTo>
                  <a:lnTo>
                    <a:pt x="0" y="108166"/>
                  </a:lnTo>
                  <a:lnTo>
                    <a:pt x="76265" y="108166"/>
                  </a:lnTo>
                  <a:lnTo>
                    <a:pt x="79006" y="94209"/>
                  </a:lnTo>
                  <a:lnTo>
                    <a:pt x="21932" y="94209"/>
                  </a:lnTo>
                  <a:lnTo>
                    <a:pt x="93835" y="13209"/>
                  </a:lnTo>
                  <a:lnTo>
                    <a:pt x="93835" y="13209"/>
                  </a:lnTo>
                  <a:lnTo>
                    <a:pt x="96452" y="0"/>
                  </a:lnTo>
                  <a:lnTo>
                    <a:pt x="23303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AEE7F6F4-4D2C-45B3-A061-9606B2BD36A7}"/>
                </a:ext>
              </a:extLst>
            </p:cNvPr>
            <p:cNvSpPr/>
            <p:nvPr/>
          </p:nvSpPr>
          <p:spPr>
            <a:xfrm>
              <a:off x="1466445" y="6556560"/>
              <a:ext cx="37259" cy="108166"/>
            </a:xfrm>
            <a:custGeom>
              <a:avLst/>
              <a:gdLst>
                <a:gd name="connsiteX0" fmla="*/ 21683 w 37259"/>
                <a:gd name="connsiteY0" fmla="*/ 0 h 108166"/>
                <a:gd name="connsiteX1" fmla="*/ 0 w 37259"/>
                <a:gd name="connsiteY1" fmla="*/ 107917 h 108166"/>
                <a:gd name="connsiteX2" fmla="*/ 0 w 37259"/>
                <a:gd name="connsiteY2" fmla="*/ 108166 h 108166"/>
                <a:gd name="connsiteX3" fmla="*/ 15702 w 37259"/>
                <a:gd name="connsiteY3" fmla="*/ 108166 h 108166"/>
                <a:gd name="connsiteX4" fmla="*/ 37260 w 37259"/>
                <a:gd name="connsiteY4" fmla="*/ 0 h 108166"/>
                <a:gd name="connsiteX5" fmla="*/ 21683 w 37259"/>
                <a:gd name="connsiteY5" fmla="*/ 0 h 10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259" h="108166">
                  <a:moveTo>
                    <a:pt x="21683" y="0"/>
                  </a:moveTo>
                  <a:lnTo>
                    <a:pt x="0" y="107917"/>
                  </a:lnTo>
                  <a:lnTo>
                    <a:pt x="0" y="108166"/>
                  </a:lnTo>
                  <a:lnTo>
                    <a:pt x="15702" y="108166"/>
                  </a:lnTo>
                  <a:lnTo>
                    <a:pt x="37260" y="0"/>
                  </a:lnTo>
                  <a:lnTo>
                    <a:pt x="21683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grpSp>
          <p:nvGrpSpPr>
            <p:cNvPr id="17" name="Grafik 6">
              <a:extLst>
                <a:ext uri="{FF2B5EF4-FFF2-40B4-BE49-F238E27FC236}">
                  <a16:creationId xmlns:a16="http://schemas.microsoft.com/office/drawing/2014/main" id="{7F7C476A-2849-4D68-9FA2-3A5CFC13C833}"/>
                </a:ext>
              </a:extLst>
            </p:cNvPr>
            <p:cNvGrpSpPr/>
            <p:nvPr/>
          </p:nvGrpSpPr>
          <p:grpSpPr>
            <a:xfrm>
              <a:off x="1518879" y="6507337"/>
              <a:ext cx="191395" cy="158803"/>
              <a:chOff x="1518879" y="6507337"/>
              <a:chExt cx="191395" cy="158803"/>
            </a:xfrm>
            <a:grpFill/>
          </p:grpSpPr>
          <p:sp>
            <p:nvSpPr>
              <p:cNvPr id="18" name="Freihandform: Form 17">
                <a:extLst>
                  <a:ext uri="{FF2B5EF4-FFF2-40B4-BE49-F238E27FC236}">
                    <a16:creationId xmlns:a16="http://schemas.microsoft.com/office/drawing/2014/main" id="{B2186F78-5D28-4695-8B1C-5A3F1A53AAB3}"/>
                  </a:ext>
                </a:extLst>
              </p:cNvPr>
              <p:cNvSpPr/>
              <p:nvPr/>
            </p:nvSpPr>
            <p:spPr>
              <a:xfrm>
                <a:off x="1614114" y="6507337"/>
                <a:ext cx="96160" cy="157638"/>
              </a:xfrm>
              <a:custGeom>
                <a:avLst/>
                <a:gdLst>
                  <a:gd name="connsiteX0" fmla="*/ 66046 w 96160"/>
                  <a:gd name="connsiteY0" fmla="*/ 47852 h 157638"/>
                  <a:gd name="connsiteX1" fmla="*/ 35142 w 96160"/>
                  <a:gd name="connsiteY1" fmla="*/ 60314 h 157638"/>
                  <a:gd name="connsiteX2" fmla="*/ 47603 w 96160"/>
                  <a:gd name="connsiteY2" fmla="*/ 0 h 157638"/>
                  <a:gd name="connsiteX3" fmla="*/ 31652 w 96160"/>
                  <a:gd name="connsiteY3" fmla="*/ 0 h 157638"/>
                  <a:gd name="connsiteX4" fmla="*/ 0 w 96160"/>
                  <a:gd name="connsiteY4" fmla="*/ 157389 h 157638"/>
                  <a:gd name="connsiteX5" fmla="*/ 15701 w 96160"/>
                  <a:gd name="connsiteY5" fmla="*/ 157389 h 157638"/>
                  <a:gd name="connsiteX6" fmla="*/ 28911 w 96160"/>
                  <a:gd name="connsiteY6" fmla="*/ 91218 h 157638"/>
                  <a:gd name="connsiteX7" fmla="*/ 60563 w 96160"/>
                  <a:gd name="connsiteY7" fmla="*/ 62058 h 157638"/>
                  <a:gd name="connsiteX8" fmla="*/ 79837 w 96160"/>
                  <a:gd name="connsiteY8" fmla="*/ 77742 h 157638"/>
                  <a:gd name="connsiteX9" fmla="*/ 79878 w 96160"/>
                  <a:gd name="connsiteY9" fmla="*/ 80875 h 157638"/>
                  <a:gd name="connsiteX10" fmla="*/ 78757 w 96160"/>
                  <a:gd name="connsiteY10" fmla="*/ 90969 h 157638"/>
                  <a:gd name="connsiteX11" fmla="*/ 65423 w 96160"/>
                  <a:gd name="connsiteY11" fmla="*/ 157638 h 157638"/>
                  <a:gd name="connsiteX12" fmla="*/ 81125 w 96160"/>
                  <a:gd name="connsiteY12" fmla="*/ 157638 h 157638"/>
                  <a:gd name="connsiteX13" fmla="*/ 94957 w 96160"/>
                  <a:gd name="connsiteY13" fmla="*/ 89474 h 157638"/>
                  <a:gd name="connsiteX14" fmla="*/ 96078 w 96160"/>
                  <a:gd name="connsiteY14" fmla="*/ 78757 h 157638"/>
                  <a:gd name="connsiteX15" fmla="*/ 69522 w 96160"/>
                  <a:gd name="connsiteY15" fmla="*/ 47902 h 157638"/>
                  <a:gd name="connsiteX16" fmla="*/ 66046 w 96160"/>
                  <a:gd name="connsiteY16" fmla="*/ 47852 h 157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6160" h="157638">
                    <a:moveTo>
                      <a:pt x="66046" y="47852"/>
                    </a:moveTo>
                    <a:cubicBezTo>
                      <a:pt x="54431" y="47363"/>
                      <a:pt x="43168" y="51904"/>
                      <a:pt x="35142" y="60314"/>
                    </a:cubicBezTo>
                    <a:lnTo>
                      <a:pt x="47603" y="0"/>
                    </a:lnTo>
                    <a:lnTo>
                      <a:pt x="31652" y="0"/>
                    </a:lnTo>
                    <a:lnTo>
                      <a:pt x="0" y="157389"/>
                    </a:lnTo>
                    <a:lnTo>
                      <a:pt x="15701" y="157389"/>
                    </a:lnTo>
                    <a:lnTo>
                      <a:pt x="28911" y="91218"/>
                    </a:lnTo>
                    <a:cubicBezTo>
                      <a:pt x="30603" y="74910"/>
                      <a:pt x="44170" y="62411"/>
                      <a:pt x="60563" y="62058"/>
                    </a:cubicBezTo>
                    <a:cubicBezTo>
                      <a:pt x="70216" y="61067"/>
                      <a:pt x="78845" y="68088"/>
                      <a:pt x="79837" y="77742"/>
                    </a:cubicBezTo>
                    <a:cubicBezTo>
                      <a:pt x="79945" y="78783"/>
                      <a:pt x="79958" y="79832"/>
                      <a:pt x="79878" y="80875"/>
                    </a:cubicBezTo>
                    <a:cubicBezTo>
                      <a:pt x="79822" y="84268"/>
                      <a:pt x="79446" y="87647"/>
                      <a:pt x="78757" y="90969"/>
                    </a:cubicBezTo>
                    <a:lnTo>
                      <a:pt x="65423" y="157638"/>
                    </a:lnTo>
                    <a:lnTo>
                      <a:pt x="81125" y="157638"/>
                    </a:lnTo>
                    <a:lnTo>
                      <a:pt x="94957" y="89474"/>
                    </a:lnTo>
                    <a:cubicBezTo>
                      <a:pt x="95657" y="85943"/>
                      <a:pt x="96034" y="82356"/>
                      <a:pt x="96078" y="78757"/>
                    </a:cubicBezTo>
                    <a:cubicBezTo>
                      <a:pt x="97265" y="62903"/>
                      <a:pt x="85375" y="49089"/>
                      <a:pt x="69522" y="47902"/>
                    </a:cubicBezTo>
                    <a:cubicBezTo>
                      <a:pt x="68365" y="47815"/>
                      <a:pt x="67205" y="47799"/>
                      <a:pt x="66046" y="47852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  <p:sp>
            <p:nvSpPr>
              <p:cNvPr id="19" name="Freihandform: Form 18">
                <a:extLst>
                  <a:ext uri="{FF2B5EF4-FFF2-40B4-BE49-F238E27FC236}">
                    <a16:creationId xmlns:a16="http://schemas.microsoft.com/office/drawing/2014/main" id="{1FE5475E-83C3-4BE3-BBF1-FAE9A6986B3F}"/>
                  </a:ext>
                </a:extLst>
              </p:cNvPr>
              <p:cNvSpPr/>
              <p:nvPr/>
            </p:nvSpPr>
            <p:spPr>
              <a:xfrm>
                <a:off x="1518879" y="6555189"/>
                <a:ext cx="87882" cy="110951"/>
              </a:xfrm>
              <a:custGeom>
                <a:avLst/>
                <a:gdLst>
                  <a:gd name="connsiteX0" fmla="*/ 56853 w 87882"/>
                  <a:gd name="connsiteY0" fmla="*/ 0 h 110951"/>
                  <a:gd name="connsiteX1" fmla="*/ 1649 w 87882"/>
                  <a:gd name="connsiteY1" fmla="*/ 55329 h 110951"/>
                  <a:gd name="connsiteX2" fmla="*/ 153 w 87882"/>
                  <a:gd name="connsiteY2" fmla="*/ 71903 h 110951"/>
                  <a:gd name="connsiteX3" fmla="*/ 32484 w 87882"/>
                  <a:gd name="connsiteY3" fmla="*/ 110801 h 110951"/>
                  <a:gd name="connsiteX4" fmla="*/ 37538 w 87882"/>
                  <a:gd name="connsiteY4" fmla="*/ 110908 h 110951"/>
                  <a:gd name="connsiteX5" fmla="*/ 73552 w 87882"/>
                  <a:gd name="connsiteY5" fmla="*/ 95705 h 110951"/>
                  <a:gd name="connsiteX6" fmla="*/ 73552 w 87882"/>
                  <a:gd name="connsiteY6" fmla="*/ 95705 h 110951"/>
                  <a:gd name="connsiteX7" fmla="*/ 64455 w 87882"/>
                  <a:gd name="connsiteY7" fmla="*/ 84614 h 110951"/>
                  <a:gd name="connsiteX8" fmla="*/ 64455 w 87882"/>
                  <a:gd name="connsiteY8" fmla="*/ 84614 h 110951"/>
                  <a:gd name="connsiteX9" fmla="*/ 64455 w 87882"/>
                  <a:gd name="connsiteY9" fmla="*/ 84614 h 110951"/>
                  <a:gd name="connsiteX10" fmla="*/ 38535 w 87882"/>
                  <a:gd name="connsiteY10" fmla="*/ 97075 h 110951"/>
                  <a:gd name="connsiteX11" fmla="*/ 15233 w 87882"/>
                  <a:gd name="connsiteY11" fmla="*/ 75551 h 110951"/>
                  <a:gd name="connsiteX12" fmla="*/ 15356 w 87882"/>
                  <a:gd name="connsiteY12" fmla="*/ 72152 h 110951"/>
                  <a:gd name="connsiteX13" fmla="*/ 17101 w 87882"/>
                  <a:gd name="connsiteY13" fmla="*/ 55952 h 110951"/>
                  <a:gd name="connsiteX14" fmla="*/ 31058 w 87882"/>
                  <a:gd name="connsiteY14" fmla="*/ 25048 h 110951"/>
                  <a:gd name="connsiteX15" fmla="*/ 55233 w 87882"/>
                  <a:gd name="connsiteY15" fmla="*/ 14206 h 110951"/>
                  <a:gd name="connsiteX16" fmla="*/ 76293 w 87882"/>
                  <a:gd name="connsiteY16" fmla="*/ 26668 h 110951"/>
                  <a:gd name="connsiteX17" fmla="*/ 76293 w 87882"/>
                  <a:gd name="connsiteY17" fmla="*/ 26668 h 110951"/>
                  <a:gd name="connsiteX18" fmla="*/ 87883 w 87882"/>
                  <a:gd name="connsiteY18" fmla="*/ 16823 h 110951"/>
                  <a:gd name="connsiteX19" fmla="*/ 87883 w 87882"/>
                  <a:gd name="connsiteY19" fmla="*/ 16823 h 110951"/>
                  <a:gd name="connsiteX20" fmla="*/ 56729 w 87882"/>
                  <a:gd name="connsiteY20" fmla="*/ 748 h 110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87882" h="110951">
                    <a:moveTo>
                      <a:pt x="56853" y="0"/>
                    </a:moveTo>
                    <a:cubicBezTo>
                      <a:pt x="28192" y="0"/>
                      <a:pt x="8129" y="20188"/>
                      <a:pt x="1649" y="55329"/>
                    </a:cubicBezTo>
                    <a:cubicBezTo>
                      <a:pt x="671" y="60800"/>
                      <a:pt x="170" y="66345"/>
                      <a:pt x="153" y="71903"/>
                    </a:cubicBezTo>
                    <a:cubicBezTo>
                      <a:pt x="-1660" y="91572"/>
                      <a:pt x="12814" y="108987"/>
                      <a:pt x="32484" y="110801"/>
                    </a:cubicBezTo>
                    <a:cubicBezTo>
                      <a:pt x="34163" y="110955"/>
                      <a:pt x="35853" y="110991"/>
                      <a:pt x="37538" y="110908"/>
                    </a:cubicBezTo>
                    <a:cubicBezTo>
                      <a:pt x="51112" y="110955"/>
                      <a:pt x="64118" y="105465"/>
                      <a:pt x="73552" y="95705"/>
                    </a:cubicBezTo>
                    <a:lnTo>
                      <a:pt x="73552" y="95705"/>
                    </a:lnTo>
                    <a:lnTo>
                      <a:pt x="64455" y="84614"/>
                    </a:lnTo>
                    <a:lnTo>
                      <a:pt x="64455" y="84614"/>
                    </a:lnTo>
                    <a:lnTo>
                      <a:pt x="64455" y="84614"/>
                    </a:lnTo>
                    <a:cubicBezTo>
                      <a:pt x="58138" y="92466"/>
                      <a:pt x="48613" y="97045"/>
                      <a:pt x="38535" y="97075"/>
                    </a:cubicBezTo>
                    <a:cubicBezTo>
                      <a:pt x="26157" y="97566"/>
                      <a:pt x="15724" y="87929"/>
                      <a:pt x="15233" y="75551"/>
                    </a:cubicBezTo>
                    <a:cubicBezTo>
                      <a:pt x="15188" y="74416"/>
                      <a:pt x="15229" y="73280"/>
                      <a:pt x="15356" y="72152"/>
                    </a:cubicBezTo>
                    <a:cubicBezTo>
                      <a:pt x="15424" y="66709"/>
                      <a:pt x="16008" y="61285"/>
                      <a:pt x="17101" y="55952"/>
                    </a:cubicBezTo>
                    <a:cubicBezTo>
                      <a:pt x="18838" y="44568"/>
                      <a:pt x="23666" y="33878"/>
                      <a:pt x="31058" y="25048"/>
                    </a:cubicBezTo>
                    <a:cubicBezTo>
                      <a:pt x="37213" y="18167"/>
                      <a:pt x="46002" y="14225"/>
                      <a:pt x="55233" y="14206"/>
                    </a:cubicBezTo>
                    <a:cubicBezTo>
                      <a:pt x="64085" y="13892"/>
                      <a:pt x="72308" y="18758"/>
                      <a:pt x="76293" y="26668"/>
                    </a:cubicBezTo>
                    <a:lnTo>
                      <a:pt x="76293" y="26668"/>
                    </a:lnTo>
                    <a:lnTo>
                      <a:pt x="87883" y="16823"/>
                    </a:lnTo>
                    <a:lnTo>
                      <a:pt x="87883" y="16823"/>
                    </a:lnTo>
                    <a:cubicBezTo>
                      <a:pt x="81104" y="6298"/>
                      <a:pt x="69235" y="174"/>
                      <a:pt x="56729" y="748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</p:grp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41B77B6E-E7CB-412B-95AC-A9322C6799BB}"/>
                </a:ext>
              </a:extLst>
            </p:cNvPr>
            <p:cNvSpPr/>
            <p:nvPr/>
          </p:nvSpPr>
          <p:spPr>
            <a:xfrm>
              <a:off x="1493985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826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826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832E5C1A-13CE-49A6-B590-B6EAA5F9E1AD}"/>
                </a:ext>
              </a:extLst>
            </p:cNvPr>
            <p:cNvSpPr/>
            <p:nvPr/>
          </p:nvSpPr>
          <p:spPr>
            <a:xfrm>
              <a:off x="1340708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826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826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63AE00B0-780F-4053-8FE9-B7D321217AFF}"/>
                </a:ext>
              </a:extLst>
            </p:cNvPr>
            <p:cNvSpPr/>
            <p:nvPr/>
          </p:nvSpPr>
          <p:spPr>
            <a:xfrm>
              <a:off x="1298712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702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702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2406CEAF-7399-4CCB-A322-03F0BA2532F5}"/>
                </a:ext>
              </a:extLst>
            </p:cNvPr>
            <p:cNvSpPr/>
            <p:nvPr/>
          </p:nvSpPr>
          <p:spPr>
            <a:xfrm>
              <a:off x="731837" y="6507088"/>
              <a:ext cx="417960" cy="157638"/>
            </a:xfrm>
            <a:custGeom>
              <a:avLst/>
              <a:gdLst>
                <a:gd name="connsiteX0" fmla="*/ 368612 w 417960"/>
                <a:gd name="connsiteY0" fmla="*/ 0 h 157638"/>
                <a:gd name="connsiteX1" fmla="*/ 356151 w 417960"/>
                <a:gd name="connsiteY1" fmla="*/ 61062 h 157638"/>
                <a:gd name="connsiteX2" fmla="*/ 320760 w 417960"/>
                <a:gd name="connsiteY2" fmla="*/ 61062 h 157638"/>
                <a:gd name="connsiteX3" fmla="*/ 333222 w 417960"/>
                <a:gd name="connsiteY3" fmla="*/ 0 h 157638"/>
                <a:gd name="connsiteX4" fmla="*/ 31652 w 417960"/>
                <a:gd name="connsiteY4" fmla="*/ 0 h 157638"/>
                <a:gd name="connsiteX5" fmla="*/ 0 w 417960"/>
                <a:gd name="connsiteY5" fmla="*/ 157638 h 157638"/>
                <a:gd name="connsiteX6" fmla="*/ 120254 w 417960"/>
                <a:gd name="connsiteY6" fmla="*/ 157638 h 157638"/>
                <a:gd name="connsiteX7" fmla="*/ 128105 w 417960"/>
                <a:gd name="connsiteY7" fmla="*/ 118260 h 157638"/>
                <a:gd name="connsiteX8" fmla="*/ 57074 w 417960"/>
                <a:gd name="connsiteY8" fmla="*/ 118260 h 157638"/>
                <a:gd name="connsiteX9" fmla="*/ 61435 w 417960"/>
                <a:gd name="connsiteY9" fmla="*/ 96577 h 157638"/>
                <a:gd name="connsiteX10" fmla="*/ 132342 w 417960"/>
                <a:gd name="connsiteY10" fmla="*/ 96577 h 157638"/>
                <a:gd name="connsiteX11" fmla="*/ 139569 w 417960"/>
                <a:gd name="connsiteY11" fmla="*/ 61062 h 157638"/>
                <a:gd name="connsiteX12" fmla="*/ 68538 w 417960"/>
                <a:gd name="connsiteY12" fmla="*/ 61062 h 157638"/>
                <a:gd name="connsiteX13" fmla="*/ 72900 w 417960"/>
                <a:gd name="connsiteY13" fmla="*/ 39378 h 157638"/>
                <a:gd name="connsiteX14" fmla="*/ 185303 w 417960"/>
                <a:gd name="connsiteY14" fmla="*/ 39378 h 157638"/>
                <a:gd name="connsiteX15" fmla="*/ 161626 w 417960"/>
                <a:gd name="connsiteY15" fmla="*/ 157638 h 157638"/>
                <a:gd name="connsiteX16" fmla="*/ 210849 w 417960"/>
                <a:gd name="connsiteY16" fmla="*/ 157638 h 157638"/>
                <a:gd name="connsiteX17" fmla="*/ 234651 w 417960"/>
                <a:gd name="connsiteY17" fmla="*/ 39378 h 157638"/>
                <a:gd name="connsiteX18" fmla="*/ 276023 w 417960"/>
                <a:gd name="connsiteY18" fmla="*/ 39378 h 157638"/>
                <a:gd name="connsiteX19" fmla="*/ 252222 w 417960"/>
                <a:gd name="connsiteY19" fmla="*/ 157638 h 157638"/>
                <a:gd name="connsiteX20" fmla="*/ 301569 w 417960"/>
                <a:gd name="connsiteY20" fmla="*/ 157638 h 157638"/>
                <a:gd name="connsiteX21" fmla="*/ 313657 w 417960"/>
                <a:gd name="connsiteY21" fmla="*/ 96577 h 157638"/>
                <a:gd name="connsiteX22" fmla="*/ 349172 w 417960"/>
                <a:gd name="connsiteY22" fmla="*/ 96577 h 157638"/>
                <a:gd name="connsiteX23" fmla="*/ 336960 w 417960"/>
                <a:gd name="connsiteY23" fmla="*/ 157638 h 157638"/>
                <a:gd name="connsiteX24" fmla="*/ 386308 w 417960"/>
                <a:gd name="connsiteY24" fmla="*/ 157638 h 157638"/>
                <a:gd name="connsiteX25" fmla="*/ 417960 w 417960"/>
                <a:gd name="connsiteY25" fmla="*/ 0 h 157638"/>
                <a:gd name="connsiteX26" fmla="*/ 368612 w 417960"/>
                <a:gd name="connsiteY26" fmla="*/ 0 h 15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17960" h="157638">
                  <a:moveTo>
                    <a:pt x="368612" y="0"/>
                  </a:moveTo>
                  <a:lnTo>
                    <a:pt x="356151" y="61062"/>
                  </a:lnTo>
                  <a:lnTo>
                    <a:pt x="320760" y="61062"/>
                  </a:lnTo>
                  <a:lnTo>
                    <a:pt x="333222" y="0"/>
                  </a:lnTo>
                  <a:lnTo>
                    <a:pt x="31652" y="0"/>
                  </a:lnTo>
                  <a:lnTo>
                    <a:pt x="0" y="157638"/>
                  </a:lnTo>
                  <a:lnTo>
                    <a:pt x="120254" y="157638"/>
                  </a:lnTo>
                  <a:lnTo>
                    <a:pt x="128105" y="118260"/>
                  </a:lnTo>
                  <a:lnTo>
                    <a:pt x="57074" y="118260"/>
                  </a:lnTo>
                  <a:lnTo>
                    <a:pt x="61435" y="96577"/>
                  </a:lnTo>
                  <a:lnTo>
                    <a:pt x="132342" y="96577"/>
                  </a:lnTo>
                  <a:lnTo>
                    <a:pt x="139569" y="61062"/>
                  </a:lnTo>
                  <a:lnTo>
                    <a:pt x="68538" y="61062"/>
                  </a:lnTo>
                  <a:lnTo>
                    <a:pt x="72900" y="39378"/>
                  </a:lnTo>
                  <a:lnTo>
                    <a:pt x="185303" y="39378"/>
                  </a:lnTo>
                  <a:lnTo>
                    <a:pt x="161626" y="157638"/>
                  </a:lnTo>
                  <a:lnTo>
                    <a:pt x="210849" y="157638"/>
                  </a:lnTo>
                  <a:lnTo>
                    <a:pt x="234651" y="39378"/>
                  </a:lnTo>
                  <a:lnTo>
                    <a:pt x="276023" y="39378"/>
                  </a:lnTo>
                  <a:lnTo>
                    <a:pt x="252222" y="157638"/>
                  </a:lnTo>
                  <a:lnTo>
                    <a:pt x="301569" y="157638"/>
                  </a:lnTo>
                  <a:lnTo>
                    <a:pt x="313657" y="96577"/>
                  </a:lnTo>
                  <a:lnTo>
                    <a:pt x="349172" y="96577"/>
                  </a:lnTo>
                  <a:lnTo>
                    <a:pt x="336960" y="157638"/>
                  </a:lnTo>
                  <a:lnTo>
                    <a:pt x="386308" y="157638"/>
                  </a:lnTo>
                  <a:lnTo>
                    <a:pt x="417960" y="0"/>
                  </a:lnTo>
                  <a:lnTo>
                    <a:pt x="368612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</p:grpSp>
    </p:spTree>
    <p:extLst>
      <p:ext uri="{BB962C8B-B14F-4D97-AF65-F5344CB8AC3E}">
        <p14:creationId xmlns:p14="http://schemas.microsoft.com/office/powerpoint/2010/main" val="3716835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C2547-0B26-4181-9958-0F74634B97A1}" type="datetime1">
              <a:rPr lang="de-CH" noProof="0" smtClean="0"/>
              <a:t>24.09.2026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7" y="1412874"/>
            <a:ext cx="10728000" cy="4860000"/>
          </a:xfrm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943852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33879-9C0F-4F94-919F-30B833E8871A}" type="datetime1">
              <a:rPr lang="de-CH" noProof="0" smtClean="0"/>
              <a:t>24.09.2026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7" y="260350"/>
            <a:ext cx="10728000" cy="6012524"/>
          </a:xfrm>
        </p:spPr>
        <p:txBody>
          <a:bodyPr tIns="21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8420483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zw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4163" y="1412875"/>
            <a:ext cx="5256000" cy="486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24.09.2026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5040000" cy="4860000"/>
          </a:xfrm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996394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5121800"/>
            <a:ext cx="5255999" cy="11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B9425-7348-43E2-B0E9-6A2A48F5FA8A}" type="datetime1">
              <a:rPr lang="de-CH" noProof="0" smtClean="0"/>
              <a:t>24.09.2026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5256000" cy="3420000"/>
          </a:xfrm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Bildplatzhalter 10">
            <a:extLst>
              <a:ext uri="{FF2B5EF4-FFF2-40B4-BE49-F238E27FC236}">
                <a16:creationId xmlns:a16="http://schemas.microsoft.com/office/drawing/2014/main" id="{1AAB6914-2518-430D-BF4C-14EA51B6141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04162" y="1412875"/>
            <a:ext cx="5256000" cy="3420000"/>
          </a:xfrm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5092EEFB-079B-4C38-A665-E52B9837601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04162" y="5121800"/>
            <a:ext cx="5256001" cy="11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085750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4166439"/>
            <a:ext cx="10728327" cy="212440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782B2-018B-4FD3-AD95-2F64EDE0E9D6}" type="datetime1">
              <a:rPr lang="de-CH" noProof="0" smtClean="0"/>
              <a:t>24.09.2026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6793346-BF6B-42A8-ADE0-3AA3DC3B23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40162" y="1414800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FE637F68-618E-43EB-B240-4BFA26852FC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385999" y="1414800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2529889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412875"/>
            <a:ext cx="10728325" cy="396000"/>
          </a:xfrm>
        </p:spPr>
        <p:txBody>
          <a:bodyPr/>
          <a:lstStyle>
            <a:lvl1pPr marL="0" indent="0">
              <a:buNone/>
              <a:defRPr b="1"/>
            </a:lvl1pPr>
            <a:lvl2pPr marL="266700" indent="0">
              <a:buNone/>
              <a:defRPr b="1"/>
            </a:lvl2pPr>
            <a:lvl3pPr marL="538163" indent="0">
              <a:buNone/>
              <a:defRPr b="1"/>
            </a:lvl3pPr>
            <a:lvl4pPr marL="804862" indent="0">
              <a:buNone/>
              <a:defRPr b="1"/>
            </a:lvl4pPr>
            <a:lvl5pPr marL="1076325" indent="0">
              <a:buNone/>
              <a:defRPr b="1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0FED0-443D-411A-B8E4-0668A8890EE3}" type="datetime1">
              <a:rPr lang="de-CH" noProof="0" smtClean="0"/>
              <a:t>24.09.2026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9" name="Tabellenplatzhalter 8">
            <a:extLst>
              <a:ext uri="{FF2B5EF4-FFF2-40B4-BE49-F238E27FC236}">
                <a16:creationId xmlns:a16="http://schemas.microsoft.com/office/drawing/2014/main" id="{A1D947E6-CC00-458E-BDE1-B0877E30333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731838" y="2061398"/>
            <a:ext cx="10728325" cy="4212401"/>
          </a:xfrm>
        </p:spPr>
        <p:txBody>
          <a:bodyPr tIns="1260000"/>
          <a:lstStyle>
            <a:lvl1pPr marL="0" indent="0" algn="ctr">
              <a:spcBef>
                <a:spcPts val="0"/>
              </a:spcBef>
              <a:buNone/>
              <a:defRPr sz="1400"/>
            </a:lvl1pPr>
          </a:lstStyle>
          <a:p>
            <a:r>
              <a:rPr lang="en-US" noProof="0"/>
              <a:t>Click icon to add table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928661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394B20FF-3667-40DF-92A1-C6CF3BBCA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2135492"/>
            <a:ext cx="10728325" cy="3960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540000" indent="0">
              <a:buNone/>
              <a:defRPr>
                <a:solidFill>
                  <a:schemeClr val="bg1"/>
                </a:solidFill>
              </a:defRPr>
            </a:lvl3pPr>
            <a:lvl4pPr marL="808537" indent="0">
              <a:buNone/>
              <a:defRPr>
                <a:solidFill>
                  <a:schemeClr val="bg1"/>
                </a:solidFill>
              </a:defRPr>
            </a:lvl4pPr>
            <a:lvl5pPr marL="1080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794484F1-3B7F-46CE-AD0B-2310A557A99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F900572E-A73E-42BE-96FA-38ADC4E79F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6703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98">
          <p15:clr>
            <a:srgbClr val="FBAE40"/>
          </p15:clr>
        </p15:guide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9CEF804-E58C-481B-A606-7D35AF68F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CH" noProof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C6EC0D-393C-42F2-B6A7-B19C9B098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837" y="1412875"/>
            <a:ext cx="10728325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CH" noProof="0"/>
              <a:t>Mastertextformat bearbeiten</a:t>
            </a:r>
          </a:p>
          <a:p>
            <a:pPr lvl="1"/>
            <a:r>
              <a:rPr lang="de-CH" noProof="0"/>
              <a:t>Zweite Ebene</a:t>
            </a:r>
          </a:p>
          <a:p>
            <a:pPr lvl="2"/>
            <a:r>
              <a:rPr lang="de-CH" noProof="0"/>
              <a:t>Dritte Ebene</a:t>
            </a:r>
          </a:p>
          <a:p>
            <a:pPr lvl="3"/>
            <a:r>
              <a:rPr lang="de-CH" noProof="0"/>
              <a:t>Vierte Ebene</a:t>
            </a:r>
          </a:p>
          <a:p>
            <a:pPr lvl="4"/>
            <a:r>
              <a:rPr lang="de-CH" noProof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C96E51-36C9-4BEE-A761-33378A0DF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3692" y="6522444"/>
            <a:ext cx="612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4A358CF3-A22A-46C1-A4E5-5810212466EF}" type="datetime1">
              <a:rPr lang="de-CH" noProof="0" smtClean="0"/>
              <a:t>24.09.2026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1EC403-6E63-4450-AFDD-66CA49D6CC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71700" y="6522444"/>
            <a:ext cx="540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DFCC57-7DDC-4B2C-A6BE-862DAF9C9F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ACA52AF-F19D-405C-AD5F-7D94B96A5CC3}" type="slidenum">
              <a:rPr lang="de-CH" noProof="0" smtClean="0"/>
              <a:pPr/>
              <a:t>‹#›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409606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0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271463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10000" indent="-27000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271463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50000" indent="-27000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461" userDrawn="1">
          <p15:clr>
            <a:srgbClr val="F26B43"/>
          </p15:clr>
        </p15:guide>
        <p15:guide id="3" pos="7219" userDrawn="1">
          <p15:clr>
            <a:srgbClr val="F26B43"/>
          </p15:clr>
        </p15:guide>
        <p15:guide id="4" orient="horz" pos="164" userDrawn="1">
          <p15:clr>
            <a:srgbClr val="F26B43"/>
          </p15:clr>
        </p15:guide>
        <p15:guide id="5" orient="horz" pos="890" userDrawn="1">
          <p15:clr>
            <a:srgbClr val="F26B43"/>
          </p15:clr>
        </p15:guide>
        <p15:guide id="6" orient="horz" pos="4201" userDrawn="1">
          <p15:clr>
            <a:srgbClr val="F26B43"/>
          </p15:clr>
        </p15:guide>
        <p15:guide id="7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BA8D0A7-2769-B750-01FC-18527E1C7A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43" b="8861"/>
          <a:stretch>
            <a:fillRect/>
          </a:stretch>
        </p:blipFill>
        <p:spPr>
          <a:xfrm>
            <a:off x="731837" y="986671"/>
            <a:ext cx="10728325" cy="5256001"/>
          </a:xfrm>
          <a:prstGeom prst="rect">
            <a:avLst/>
          </a:prstGeom>
        </p:spPr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AC1FB292-90C1-439C-8480-EB4116CF23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Woche 2:</a:t>
            </a:r>
            <a:br>
              <a:rPr lang="de-DE" dirty="0"/>
            </a:br>
            <a:r>
              <a:rPr lang="de-DE" dirty="0"/>
              <a:t>Interpolation</a:t>
            </a:r>
            <a:endParaRPr lang="de-CH" dirty="0"/>
          </a:p>
        </p:txBody>
      </p:sp>
      <p:sp>
        <p:nvSpPr>
          <p:cNvPr id="2" name="Bildplatzhalter 1">
            <a:extLst>
              <a:ext uri="{FF2B5EF4-FFF2-40B4-BE49-F238E27FC236}">
                <a16:creationId xmlns:a16="http://schemas.microsoft.com/office/drawing/2014/main" id="{11ADABBC-2742-48DB-BA2B-E411F07CEE7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171C1F6-869F-40B1-8975-92FF2042F4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b="1" dirty="0"/>
              <a:t>Jonas Vonäsch</a:t>
            </a:r>
          </a:p>
          <a:p>
            <a:r>
              <a:rPr lang="de-CH" dirty="0"/>
              <a:t>Numerical Methods for Computer Science</a:t>
            </a:r>
          </a:p>
          <a:p>
            <a:r>
              <a:rPr lang="de-DE" dirty="0"/>
              <a:t>17.09.2026</a:t>
            </a:r>
            <a:endParaRPr lang="de-CH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C6B18E6F-BDD9-4B0B-9B9E-C25187E0E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CH" dirty="0"/>
              <a:t>D-INFK ETHZ</a:t>
            </a:r>
          </a:p>
        </p:txBody>
      </p:sp>
    </p:spTree>
    <p:extLst>
      <p:ext uri="{BB962C8B-B14F-4D97-AF65-F5344CB8AC3E}">
        <p14:creationId xmlns:p14="http://schemas.microsoft.com/office/powerpoint/2010/main" val="3536168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050A74-6ED2-41B3-AD63-74F89C447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Inhaltsverzeichnis/Agenda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792F61-F3A1-4E2C-B0EE-9742603FD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Theorie-Recap</a:t>
            </a:r>
          </a:p>
          <a:p>
            <a:pPr lvl="1"/>
            <a:r>
              <a:rPr lang="de-DE" dirty="0"/>
              <a:t>Newton</a:t>
            </a:r>
          </a:p>
          <a:p>
            <a:pPr lvl="1"/>
            <a:r>
              <a:rPr lang="de-DE" dirty="0"/>
              <a:t>Lagrange / Baryzentrische Formel</a:t>
            </a:r>
          </a:p>
          <a:p>
            <a:pPr lvl="1"/>
            <a:r>
              <a:rPr lang="de-DE" dirty="0"/>
              <a:t>Runge-Phänomen / Lebesgue</a:t>
            </a:r>
          </a:p>
          <a:p>
            <a:pPr lvl="1"/>
            <a:r>
              <a:rPr lang="de-DE" dirty="0"/>
              <a:t>Chebyshev-Interpolation</a:t>
            </a:r>
          </a:p>
          <a:p>
            <a:pPr lvl="1"/>
            <a:endParaRPr lang="de-DE" dirty="0"/>
          </a:p>
          <a:p>
            <a:r>
              <a:rPr lang="de-DE" dirty="0"/>
              <a:t>Nachbesprechung Aufgaben 1</a:t>
            </a:r>
          </a:p>
          <a:p>
            <a:r>
              <a:rPr lang="de-DE" dirty="0"/>
              <a:t>Vorbesprechung Aufgaben 2</a:t>
            </a:r>
          </a:p>
          <a:p>
            <a:pPr lvl="1"/>
            <a:endParaRPr lang="de-DE" dirty="0"/>
          </a:p>
          <a:p>
            <a:pPr lvl="1"/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08BFF2-5DEB-4FE4-A3E3-C18FD3A38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D-INFK ETHZ</a:t>
            </a:r>
            <a:endParaRPr lang="de-CH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726846-AD64-4677-BEA5-D3BDD96C7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2947E-D2DB-4F76-9588-775FC8D85F8C}" type="datetime1">
              <a:rPr lang="de-CH" noProof="0" smtClean="0"/>
              <a:t>24.09.2026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665EC3-3ED3-4D21-AC3C-EAD0881BA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164086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AD847-B054-F5AC-38BE-D36C91DDD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Interpolation</a:t>
            </a:r>
            <a:endParaRPr lang="en-CH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89B941-37E5-A755-1866-10848557C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EAFE7-317E-4912-B75C-DD6945F82242}" type="datetime1">
              <a:rPr lang="de-CH" noProof="0" smtClean="0"/>
              <a:t>24.09.2026</a:t>
            </a:fld>
            <a:endParaRPr lang="de-CH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C3B885-C2DA-5EEF-675A-456B9A0B2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933BAB-2C92-ADCC-1831-7C14E8ADA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pPr/>
              <a:t>3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658242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FE22A1-56F7-4FF9-8A90-D307E6733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Interpolation</a:t>
            </a:r>
            <a:endParaRPr lang="de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6BD7DC3-17C3-4B09-9D8E-F143A82B20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:r>
                  <a:rPr lang="de-DE" dirty="0"/>
                  <a:t>Ziel der Interpolation ist es, eine Funktion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de-DE" dirty="0"/>
                  <a:t> zu </a:t>
                </a:r>
                <a:br>
                  <a:rPr lang="de-DE" dirty="0"/>
                </a:br>
                <a:r>
                  <a:rPr lang="de-DE" dirty="0"/>
                  <a:t>eine Menge gegebener Datenpunkte zu finden:</a:t>
                </a:r>
              </a:p>
              <a:p>
                <a:pPr marL="0" indent="0" algn="ctr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de-DE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de-DE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de-DE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de-DE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de-DE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de-DE" i="1" smtClean="0">
                                    <a:latin typeface="Cambria Math" panose="02040503050406030204" pitchFamily="18" charset="0"/>
                                  </a:rPr>
                                  <m:t>...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de-DE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de-DE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de-DE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de-DE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de-DE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de-DE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de-DE" i="1" smtClean="0">
                                    <a:latin typeface="Cambria Math" panose="02040503050406030204" pitchFamily="18" charset="0"/>
                                  </a:rPr>
                                  <m:t>...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de-DE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de-DE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Interpolationsbedingung: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e-DE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de-D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/>
                  <a:t>  for all i</a:t>
                </a:r>
              </a:p>
              <a:p>
                <a:pPr marL="0" indent="0">
                  <a:buNone/>
                </a:pPr>
                <a:r>
                  <a:rPr lang="de-DE" dirty="0"/>
                  <a:t>Jede Interpolation nimmt einen Unterraum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de-DE" dirty="0"/>
                  <a:t> dess Raumes aller Funktionen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𝒱</m:t>
                    </m:r>
                  </m:oMath>
                </a14:m>
                <a:r>
                  <a:rPr lang="de-DE" dirty="0"/>
                  <a:t> und eine Basis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de-DE" dirty="0"/>
                  <a:t> dieses Unterraumes mit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𝑠𝑝𝑎𝑛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,...,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de-DE" dirty="0"/>
                  <a:t> und projiziert die Datenpunkte auf diese Basis: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b="1" dirty="0"/>
                  <a:t>Achtung: </a:t>
                </a:r>
                <a:r>
                  <a:rPr lang="de-DE" dirty="0"/>
                  <a:t>Interpolation ist </a:t>
                </a:r>
                <a:r>
                  <a:rPr lang="de-DE" i="1" dirty="0"/>
                  <a:t>keine</a:t>
                </a:r>
                <a:r>
                  <a:rPr lang="de-DE" dirty="0"/>
                  <a:t> Regression.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de-DE" b="1" dirty="0"/>
                  <a:t> </a:t>
                </a:r>
                <a:r>
                  <a:rPr lang="de-DE" dirty="0"/>
                  <a:t>muss durch alle Datenpunkte gehen. </a:t>
                </a:r>
                <a:endParaRPr lang="de-DE" b="1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6BD7DC3-17C3-4B09-9D8E-F143A82B20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7" t="-1434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4837140-56B7-432E-8671-4B63B23EE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D-INFK ETHZ</a:t>
            </a:r>
            <a:endParaRPr lang="de-CH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6DB7874-B99C-4F6D-A86D-EA0EE8CA0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5686-0170-47AF-9B8A-7DF387E652FA}" type="datetime1">
              <a:rPr lang="de-CH" noProof="0" smtClean="0"/>
              <a:t>24.09.2026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620278B-D74F-421E-A3BD-EC66D5837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4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777112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05CA4-BC0D-CD30-71FE-05B87B731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Polynominterpolation</a:t>
            </a:r>
            <a:endParaRPr lang="en-CH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67DC61-6AE1-D56E-107C-C15CA5826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EAFE7-317E-4912-B75C-DD6945F82242}" type="datetime1">
              <a:rPr lang="de-CH" noProof="0" smtClean="0"/>
              <a:t>24.09.2026</a:t>
            </a:fld>
            <a:endParaRPr lang="de-CH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495200-EFF8-B980-C3AA-86C253267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04231D-34EC-0F3D-2A88-489C69D1A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pPr/>
              <a:t>5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4044364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1D497-F1B5-3083-A1D0-D6073FA66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Polynominterpolation</a:t>
            </a:r>
            <a:r>
              <a:rPr lang="en-US" dirty="0"/>
              <a:t>: </a:t>
            </a:r>
            <a:r>
              <a:rPr lang="en-US" dirty="0" err="1"/>
              <a:t>Monombasis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3A0055-3FD9-8647-204C-B00DFE678D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Der Raum </a:t>
                </a:r>
                <a:r>
                  <a:rPr lang="en-US" dirty="0" err="1"/>
                  <a:t>aller</a:t>
                </a:r>
                <a:r>
                  <a:rPr lang="en-US" dirty="0"/>
                  <a:t> </a:t>
                </a:r>
                <a:r>
                  <a:rPr lang="en-US" dirty="0" err="1"/>
                  <a:t>polynome</a:t>
                </a:r>
                <a:r>
                  <a:rPr lang="en-US" dirty="0"/>
                  <a:t> </a:t>
                </a:r>
                <a:r>
                  <a:rPr lang="en-US" dirty="0" err="1"/>
                  <a:t>sieht</a:t>
                </a:r>
                <a:r>
                  <a:rPr lang="en-US" dirty="0"/>
                  <a:t> </a:t>
                </a:r>
                <a:r>
                  <a:rPr lang="en-US" dirty="0" err="1"/>
                  <a:t>wie</a:t>
                </a:r>
                <a:r>
                  <a:rPr lang="en-US" dirty="0"/>
                  <a:t> </a:t>
                </a:r>
                <a:r>
                  <a:rPr lang="en-US" dirty="0" err="1"/>
                  <a:t>folgt</a:t>
                </a:r>
                <a:r>
                  <a:rPr lang="en-US" dirty="0"/>
                  <a:t> </a:t>
                </a:r>
                <a:r>
                  <a:rPr lang="en-US" dirty="0" err="1"/>
                  <a:t>aus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𝒫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↦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+...+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𝕂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Eine Basis dieses </a:t>
                </a:r>
                <a:r>
                  <a:rPr lang="en-US" dirty="0" err="1"/>
                  <a:t>Raumes</a:t>
                </a:r>
                <a:r>
                  <a:rPr lang="en-US" dirty="0"/>
                  <a:t> </a:t>
                </a:r>
                <a:r>
                  <a:rPr lang="en-US" dirty="0" err="1"/>
                  <a:t>ist</a:t>
                </a:r>
                <a:r>
                  <a:rPr lang="en-US" dirty="0"/>
                  <a:t> die </a:t>
                </a:r>
                <a:r>
                  <a:rPr lang="en-US" dirty="0" err="1"/>
                  <a:t>sog</a:t>
                </a:r>
                <a:r>
                  <a:rPr lang="en-US" dirty="0"/>
                  <a:t>. </a:t>
                </a:r>
                <a:r>
                  <a:rPr lang="en-US" dirty="0" err="1"/>
                  <a:t>Monombasis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↦1,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↦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,...,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↦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Man </a:t>
                </a:r>
                <a:r>
                  <a:rPr lang="en-US" dirty="0" err="1"/>
                  <a:t>spricht</a:t>
                </a:r>
                <a:r>
                  <a:rPr lang="en-US" dirty="0"/>
                  <a:t> </a:t>
                </a:r>
                <a:r>
                  <a:rPr lang="en-US" dirty="0" err="1"/>
                  <a:t>bei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+...+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von der </a:t>
                </a:r>
                <a:r>
                  <a:rPr lang="en-US" i="1" dirty="0" err="1"/>
                  <a:t>Monomdarstellung</a:t>
                </a:r>
                <a:r>
                  <a:rPr lang="en-US" dirty="0"/>
                  <a:t> </a:t>
                </a:r>
                <a:r>
                  <a:rPr lang="en-US" dirty="0" err="1"/>
                  <a:t>eines</a:t>
                </a:r>
                <a:r>
                  <a:rPr lang="en-US" dirty="0"/>
                  <a:t> </a:t>
                </a:r>
                <a:r>
                  <a:rPr lang="en-US" dirty="0" err="1"/>
                  <a:t>Polynoms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3A0055-3FD9-8647-204C-B00DFE678D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7" t="-1695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694C8-4986-DA2B-2048-D233B5329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24.09.2026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FEFF1-E3AE-0A42-5771-CAF316A52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0088A4-2D39-84FD-583A-37CDCD6D6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6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827529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312B9-DD9A-1F6F-CD52-135853097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Polynominterpolation</a:t>
            </a:r>
            <a:r>
              <a:rPr lang="en-US" dirty="0"/>
              <a:t>: </a:t>
            </a:r>
            <a:r>
              <a:rPr lang="en-US" dirty="0" err="1"/>
              <a:t>Monombasis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D547C1-FD31-D26C-7EA5-7D8CF0D0D5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 err="1"/>
                  <a:t>Polynominterpolation</a:t>
                </a:r>
                <a:r>
                  <a:rPr lang="en-US" dirty="0"/>
                  <a:t> in der </a:t>
                </a:r>
                <a:r>
                  <a:rPr lang="en-US" dirty="0" err="1"/>
                  <a:t>Monombasis</a:t>
                </a:r>
                <a:r>
                  <a:rPr lang="en-US" dirty="0"/>
                  <a:t> </a:t>
                </a:r>
                <a:r>
                  <a:rPr lang="en-US" dirty="0" err="1"/>
                  <a:t>entspricht</a:t>
                </a:r>
                <a:r>
                  <a:rPr lang="en-US" dirty="0"/>
                  <a:t> der </a:t>
                </a:r>
                <a:r>
                  <a:rPr lang="en-US" dirty="0" err="1"/>
                  <a:t>Lösung</a:t>
                </a:r>
                <a:r>
                  <a:rPr lang="en-US" dirty="0"/>
                  <a:t> des </a:t>
                </a:r>
                <a:r>
                  <a:rPr lang="en-US" dirty="0" err="1"/>
                  <a:t>Gleichungssystems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Nutzt</a:t>
                </a:r>
                <a:r>
                  <a:rPr lang="en-US" dirty="0"/>
                  <a:t>: </a:t>
                </a:r>
                <a:r>
                  <a:rPr lang="en-US" dirty="0" err="1">
                    <a:latin typeface="Cascadia Code" panose="020B0609020000020004" pitchFamily="49" charset="0"/>
                    <a:cs typeface="Cascadia Code" panose="020B0609020000020004" pitchFamily="49" charset="0"/>
                  </a:rPr>
                  <a:t>np.polyfit</a:t>
                </a:r>
                <a:endParaRPr lang="en-US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0" indent="0">
                  <a:buNone/>
                </a:pPr>
                <a:endParaRPr lang="en-US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0" indent="0" algn="ctr">
                  <a:buNone/>
                </a:pPr>
                <a:r>
                  <a:rPr lang="en-US" b="1" dirty="0" err="1"/>
                  <a:t>Monombasis</a:t>
                </a:r>
                <a:r>
                  <a:rPr lang="en-US" b="1" dirty="0"/>
                  <a:t> </a:t>
                </a:r>
                <a:r>
                  <a:rPr lang="en-US" b="1" dirty="0" err="1"/>
                  <a:t>ist</a:t>
                </a:r>
                <a:r>
                  <a:rPr lang="en-US" b="1" dirty="0"/>
                  <a:t> nicht </a:t>
                </a:r>
                <a:r>
                  <a:rPr lang="en-US" b="1" dirty="0" err="1"/>
                  <a:t>wirklich</a:t>
                </a:r>
                <a:r>
                  <a:rPr lang="en-US" b="1" dirty="0"/>
                  <a:t> </a:t>
                </a:r>
                <a:r>
                  <a:rPr lang="en-US" b="1" dirty="0" err="1"/>
                  <a:t>effizient</a:t>
                </a:r>
                <a:r>
                  <a:rPr lang="en-US" b="1" dirty="0"/>
                  <a:t>!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CH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D547C1-FD31-D26C-7EA5-7D8CF0D0D5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7" t="-1695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369602-C241-D96E-47E6-B05C0351B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24.09.2026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EBD44-3CE1-5E96-0410-E3627D94E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324C2-1C85-6588-4604-FA4469AB4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7</a:t>
            </a:fld>
            <a:endParaRPr lang="de-CH" noProof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6B37D7E-EDD7-CDA5-562E-7ED3567F0D9D}"/>
              </a:ext>
            </a:extLst>
          </p:cNvPr>
          <p:cNvGrpSpPr/>
          <p:nvPr/>
        </p:nvGrpSpPr>
        <p:grpSpPr>
          <a:xfrm>
            <a:off x="1137602" y="2185921"/>
            <a:ext cx="3341716" cy="484910"/>
            <a:chOff x="1072342" y="4801985"/>
            <a:chExt cx="3341716" cy="484910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5FBE8D2-6FF6-1765-6FB0-70F9DFD3A219}"/>
                </a:ext>
              </a:extLst>
            </p:cNvPr>
            <p:cNvCxnSpPr/>
            <p:nvPr/>
          </p:nvCxnSpPr>
          <p:spPr>
            <a:xfrm>
              <a:off x="3258589" y="5070764"/>
              <a:ext cx="1155469" cy="21613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3AD32E8-6E5A-3814-583B-1A4C08D06112}"/>
                </a:ext>
              </a:extLst>
            </p:cNvPr>
            <p:cNvSpPr txBox="1"/>
            <p:nvPr/>
          </p:nvSpPr>
          <p:spPr>
            <a:xfrm>
              <a:off x="1072342" y="4801985"/>
              <a:ext cx="2331720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Vandermonde</a:t>
              </a:r>
              <a:r>
                <a:rPr lang="en-US" dirty="0"/>
                <a:t>-matrix</a:t>
              </a:r>
              <a:endParaRPr lang="en-CH" dirty="0"/>
            </a:p>
          </p:txBody>
        </p:sp>
      </p:grpSp>
    </p:spTree>
    <p:extLst>
      <p:ext uri="{BB962C8B-B14F-4D97-AF65-F5344CB8AC3E}">
        <p14:creationId xmlns:p14="http://schemas.microsoft.com/office/powerpoint/2010/main" val="894664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42D15-BE8C-A84B-BF8D-D220D71F2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Newton-Interpolation</a:t>
            </a:r>
            <a:endParaRPr lang="en-CH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ABC5B4-CCBF-EAB3-DCFE-EFD59617D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EAFE7-317E-4912-B75C-DD6945F82242}" type="datetime1">
              <a:rPr lang="de-CH" noProof="0" smtClean="0"/>
              <a:t>24.09.2026</a:t>
            </a:fld>
            <a:endParaRPr lang="de-CH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33588C-4BEF-AB27-82E4-B8EC21977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06821C-69F9-50AC-D2B3-C85CFA436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pPr/>
              <a:t>8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971956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E80A0-3CB8-4711-0C5C-23A19616B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Polynominterpolation</a:t>
            </a:r>
            <a:r>
              <a:rPr lang="en-US" dirty="0"/>
              <a:t>: Newton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887E9E-B319-6AC8-C3A7-5EEA0E8C06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Idee: </a:t>
                </a:r>
                <a:r>
                  <a:rPr lang="en-US" dirty="0" err="1"/>
                  <a:t>mit</a:t>
                </a:r>
                <a:r>
                  <a:rPr lang="en-US" dirty="0"/>
                  <a:t> </a:t>
                </a:r>
                <a:r>
                  <a:rPr lang="en-US" dirty="0" err="1"/>
                  <a:t>einer</a:t>
                </a:r>
                <a:r>
                  <a:rPr lang="en-US" dirty="0"/>
                  <a:t> </a:t>
                </a:r>
                <a:r>
                  <a:rPr lang="en-US" dirty="0" err="1"/>
                  <a:t>Stützstelle</a:t>
                </a:r>
                <a:r>
                  <a:rPr lang="en-US" dirty="0"/>
                  <a:t> </a:t>
                </a:r>
                <a:r>
                  <a:rPr lang="en-US" dirty="0" err="1"/>
                  <a:t>anfangen</a:t>
                </a:r>
                <a:r>
                  <a:rPr lang="en-US" dirty="0"/>
                  <a:t>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 err="1"/>
                  <a:t>Aufbauen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Daraus</a:t>
                </a:r>
                <a:r>
                  <a:rPr lang="en-US" dirty="0"/>
                  <a:t> </a:t>
                </a:r>
                <a:r>
                  <a:rPr lang="en-US" dirty="0" err="1"/>
                  <a:t>ergibt</a:t>
                </a:r>
                <a:r>
                  <a:rPr lang="en-US" dirty="0"/>
                  <a:t> </a:t>
                </a:r>
                <a:r>
                  <a:rPr lang="en-US" dirty="0" err="1"/>
                  <a:t>sich</a:t>
                </a:r>
                <a:r>
                  <a:rPr lang="en-US" dirty="0"/>
                  <a:t> die Basis: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:=1,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,...,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:=</m:t>
                      </m:r>
                      <m:nary>
                        <m:naryPr>
                          <m:chr m:val="∏"/>
                          <m:limLoc m:val="undOvr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887E9E-B319-6AC8-C3A7-5EEA0E8C06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7" t="-1695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96BD5-9229-469F-FAA5-EAE9E31EA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24.09.2026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8796FD-E5C0-C2B7-9783-79D6FA4DF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FDC65-473F-39DA-95DE-FBA8E45C3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9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877676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2693F9DD-3635-1894-E702-D5545733A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/>
          <a:lstStyle/>
          <a:p>
            <a:r>
              <a:rPr lang="en-US" dirty="0" err="1"/>
              <a:t>Polynominterpolation</a:t>
            </a:r>
            <a:r>
              <a:rPr lang="en-US" dirty="0"/>
              <a:t>: Newton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F49EA-54A3-29F7-1413-D13A3B60A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3692" y="6522444"/>
            <a:ext cx="612000" cy="216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1B96697-4585-4368-989A-16003D150648}" type="datetime1">
              <a:rPr lang="de-CH" noProof="0" smtClean="0"/>
              <a:pPr>
                <a:spcAft>
                  <a:spcPts val="600"/>
                </a:spcAft>
              </a:pPr>
              <a:t>24.09.2026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867F2-5EEA-DE1B-A705-615B152FD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71700" y="6522444"/>
            <a:ext cx="5400000" cy="216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0913A-6FA0-A866-B59C-F0FD9B109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7585" y="6522444"/>
            <a:ext cx="322577" cy="216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ACA52AF-F19D-405C-AD5F-7D94B96A5CC3}" type="slidenum">
              <a:rPr lang="de-CH" noProof="0" smtClean="0"/>
              <a:pPr>
                <a:spcAft>
                  <a:spcPts val="600"/>
                </a:spcAft>
              </a:pPr>
              <a:t>10</a:t>
            </a:fld>
            <a:endParaRPr lang="de-CH" noProof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244C4EF-2C8C-B04E-AF1D-4BB5507587F1}"/>
              </a:ext>
            </a:extLst>
          </p:cNvPr>
          <p:cNvSpPr txBox="1">
            <a:spLocks/>
          </p:cNvSpPr>
          <p:nvPr/>
        </p:nvSpPr>
        <p:spPr>
          <a:xfrm>
            <a:off x="731837" y="1412875"/>
            <a:ext cx="10728325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539750" indent="-539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79500" indent="-539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12900" indent="-533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52650" indent="-539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92400" indent="-539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+mj-lt"/>
              <a:buNone/>
            </a:pPr>
            <a:r>
              <a:rPr lang="en-US" dirty="0"/>
              <a:t>Naive </a:t>
            </a:r>
            <a:r>
              <a:rPr lang="en-US" dirty="0" err="1"/>
              <a:t>Lösung</a:t>
            </a:r>
            <a:r>
              <a:rPr lang="en-US" dirty="0"/>
              <a:t> (</a:t>
            </a:r>
            <a:r>
              <a:rPr lang="en-US" dirty="0" err="1"/>
              <a:t>Skript</a:t>
            </a:r>
            <a:r>
              <a:rPr lang="en-US" dirty="0"/>
              <a:t> p.45):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E95458C-1C50-E884-D9BB-0EF0203E3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668" y="1977885"/>
            <a:ext cx="8600662" cy="4114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542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90E9B-7804-C2BB-E704-B14282A90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EFFC4-CD26-E75D-DAEC-CC65056CE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Polynominterpolation</a:t>
            </a:r>
            <a:r>
              <a:rPr lang="en-US" dirty="0"/>
              <a:t>: Newton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DFB131-C184-D9C7-AD10-5999F88ED1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0" dirty="0" err="1"/>
                  <a:t>Beobachte</a:t>
                </a:r>
                <a:r>
                  <a:rPr lang="en-US" b="0" dirty="0"/>
                  <a:t> die </a:t>
                </a:r>
                <a:r>
                  <a:rPr lang="en-US" b="0" dirty="0" err="1"/>
                  <a:t>Regelmässigkeit</a:t>
                </a:r>
                <a:r>
                  <a:rPr lang="en-US" b="0" dirty="0"/>
                  <a:t>:</a:t>
                </a: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DFB131-C184-D9C7-AD10-5999F88ED1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7" t="-1695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75918-AB9A-3B9C-41E8-962410969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24.09.2026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8A75F-6E9F-80C1-D9F3-A4F4E8CEC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734A7-9E25-4659-A501-5896CBE3D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11</a:t>
            </a:fld>
            <a:endParaRPr lang="de-CH" noProof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55E55F8-DBEE-405B-2E66-2B4664BA2AA2}"/>
              </a:ext>
            </a:extLst>
          </p:cNvPr>
          <p:cNvGrpSpPr/>
          <p:nvPr/>
        </p:nvGrpSpPr>
        <p:grpSpPr>
          <a:xfrm>
            <a:off x="6170646" y="2743200"/>
            <a:ext cx="1654627" cy="1475433"/>
            <a:chOff x="6170646" y="2743200"/>
            <a:chExt cx="1654627" cy="14754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2442036-042C-CCA1-A277-03A89694F111}"/>
                </a:ext>
              </a:extLst>
            </p:cNvPr>
            <p:cNvSpPr/>
            <p:nvPr/>
          </p:nvSpPr>
          <p:spPr>
            <a:xfrm>
              <a:off x="6879771" y="2743200"/>
              <a:ext cx="945502" cy="634482"/>
            </a:xfrm>
            <a:prstGeom prst="rect">
              <a:avLst/>
            </a:prstGeom>
            <a:noFill/>
            <a:ln w="28575"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34EED4F-4853-E31A-E825-35CD853E231A}"/>
                </a:ext>
              </a:extLst>
            </p:cNvPr>
            <p:cNvSpPr/>
            <p:nvPr/>
          </p:nvSpPr>
          <p:spPr>
            <a:xfrm>
              <a:off x="6170646" y="3639536"/>
              <a:ext cx="836644" cy="579097"/>
            </a:xfrm>
            <a:prstGeom prst="rect">
              <a:avLst/>
            </a:prstGeom>
            <a:noFill/>
            <a:ln w="28575"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dirty="0"/>
            </a:p>
          </p:txBody>
        </p:sp>
        <p:cxnSp>
          <p:nvCxnSpPr>
            <p:cNvPr id="13" name="Connector: Curved 12">
              <a:extLst>
                <a:ext uri="{FF2B5EF4-FFF2-40B4-BE49-F238E27FC236}">
                  <a16:creationId xmlns:a16="http://schemas.microsoft.com/office/drawing/2014/main" id="{4624DF52-CFA8-BC6A-4C75-3F4E00C623F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057339" y="3417980"/>
              <a:ext cx="448763" cy="443112"/>
            </a:xfrm>
            <a:prstGeom prst="curvedConnector3">
              <a:avLst>
                <a:gd name="adj1" fmla="val 99900"/>
              </a:avLst>
            </a:prstGeom>
            <a:ln w="28575">
              <a:solidFill>
                <a:srgbClr val="92D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CAE41361-6101-2895-BF0B-42E05FE0CDE0}"/>
              </a:ext>
            </a:extLst>
          </p:cNvPr>
          <p:cNvSpPr/>
          <p:nvPr/>
        </p:nvSpPr>
        <p:spPr>
          <a:xfrm>
            <a:off x="5172267" y="3639536"/>
            <a:ext cx="836645" cy="579097"/>
          </a:xfrm>
          <a:prstGeom prst="rect">
            <a:avLst/>
          </a:prstGeom>
          <a:noFill/>
          <a:ln w="28575">
            <a:solidFill>
              <a:srgbClr val="92D05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3DAD34D-7BAE-C9A0-ED40-58AAD2DF2B02}"/>
              </a:ext>
            </a:extLst>
          </p:cNvPr>
          <p:cNvGrpSpPr/>
          <p:nvPr/>
        </p:nvGrpSpPr>
        <p:grpSpPr>
          <a:xfrm>
            <a:off x="5113176" y="3589174"/>
            <a:ext cx="1946988" cy="2503701"/>
            <a:chOff x="5113176" y="3589174"/>
            <a:chExt cx="1946988" cy="2503701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1519D0F-F4F2-631B-C3BE-8220F516EC0E}"/>
                </a:ext>
              </a:extLst>
            </p:cNvPr>
            <p:cNvSpPr/>
            <p:nvPr/>
          </p:nvSpPr>
          <p:spPr>
            <a:xfrm>
              <a:off x="5113176" y="3589174"/>
              <a:ext cx="1946988" cy="1051249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FE1C64B-22B7-A326-7F83-51539F8416C5}"/>
                </a:ext>
              </a:extLst>
            </p:cNvPr>
            <p:cNvSpPr/>
            <p:nvPr/>
          </p:nvSpPr>
          <p:spPr>
            <a:xfrm>
              <a:off x="5113176" y="5041626"/>
              <a:ext cx="1946988" cy="1051249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cxnSp>
          <p:nvCxnSpPr>
            <p:cNvPr id="22" name="Connector: Curved 21">
              <a:extLst>
                <a:ext uri="{FF2B5EF4-FFF2-40B4-BE49-F238E27FC236}">
                  <a16:creationId xmlns:a16="http://schemas.microsoft.com/office/drawing/2014/main" id="{FA81AC88-CAFA-3DF9-5FD2-CCC62E3895C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914062" y="4825477"/>
              <a:ext cx="345218" cy="1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26098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00278-4B9C-862B-D6D3-31BC998C8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Polynominterpolation</a:t>
            </a:r>
            <a:r>
              <a:rPr lang="en-US" dirty="0"/>
              <a:t>: Newton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4090CFBD-787B-1511-537A-5F5BC89AE8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Die </a:t>
                </a:r>
                <a:r>
                  <a:rPr lang="en-US" dirty="0" err="1"/>
                  <a:t>wiederholten</a:t>
                </a:r>
                <a:r>
                  <a:rPr lang="en-US" dirty="0"/>
                  <a:t> Terme </a:t>
                </a:r>
                <a:r>
                  <a:rPr lang="en-US" dirty="0" err="1"/>
                  <a:t>nennen</a:t>
                </a:r>
                <a:r>
                  <a:rPr lang="en-US" dirty="0"/>
                  <a:t> </a:t>
                </a:r>
                <a:r>
                  <a:rPr lang="en-US" dirty="0" err="1"/>
                  <a:t>wir</a:t>
                </a:r>
                <a:r>
                  <a:rPr lang="en-US" dirty="0"/>
                  <a:t> </a:t>
                </a:r>
                <a:r>
                  <a:rPr lang="en-US" b="1" dirty="0" err="1"/>
                  <a:t>Dividierte</a:t>
                </a:r>
                <a:r>
                  <a:rPr lang="en-US" b="1" dirty="0"/>
                  <a:t> </a:t>
                </a:r>
                <a:r>
                  <a:rPr lang="en-US" b="1" dirty="0" err="1"/>
                  <a:t>Differenzen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Erinnert</a:t>
                </a:r>
                <a:r>
                  <a:rPr lang="en-US" dirty="0"/>
                  <a:t> an das Richardson-Schema: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Tipp: </a:t>
                </a:r>
                <a:r>
                  <a:rPr lang="en-US" i="1" dirty="0" err="1"/>
                  <a:t>sehr</a:t>
                </a:r>
                <a:r>
                  <a:rPr lang="en-US" dirty="0"/>
                  <a:t> </a:t>
                </a:r>
                <a:r>
                  <a:rPr lang="en-US" dirty="0" err="1"/>
                  <a:t>ähnlich</a:t>
                </a:r>
                <a:r>
                  <a:rPr lang="en-US" dirty="0"/>
                  <a:t> </a:t>
                </a:r>
                <a:r>
                  <a:rPr lang="en-US" dirty="0" err="1"/>
                  <a:t>wie</a:t>
                </a:r>
                <a:r>
                  <a:rPr lang="en-US" dirty="0"/>
                  <a:t> Richardson in Python.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,...,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,...,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entsprechen</a:t>
                </a:r>
                <a:r>
                  <a:rPr lang="en-US" dirty="0"/>
                  <a:t> nun </a:t>
                </a:r>
                <a:r>
                  <a:rPr lang="en-US" dirty="0" err="1"/>
                  <a:t>genau</a:t>
                </a:r>
                <a:r>
                  <a:rPr lang="en-US" dirty="0"/>
                  <a:t> den </a:t>
                </a:r>
                <a:r>
                  <a:rPr lang="en-US" dirty="0" err="1"/>
                  <a:t>Koeffizienten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. 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4090CFBD-787B-1511-537A-5F5BC89AE8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7" t="-1695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0A228-A2FB-8A3E-67B0-25DFEC2D7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24.09.2026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48D8C-1184-8E2D-B232-FE4224D60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559AD-10D8-3467-6DB3-A9F73453C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12</a:t>
            </a:fld>
            <a:endParaRPr lang="de-CH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4DDDF3-FD5D-BA34-3534-C620A8575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8284" y="3017268"/>
            <a:ext cx="4815432" cy="18159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D341529-74C2-29AB-C5F0-D779A290F4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7839" y="1796075"/>
            <a:ext cx="7479482" cy="791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426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8F26075-DEFF-8DAD-30BB-048936EAE0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8624" y="1160351"/>
            <a:ext cx="8474750" cy="30263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4753F2-A0CE-F545-5099-F3322FE14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Polynominterpolation</a:t>
            </a:r>
            <a:r>
              <a:rPr lang="en-US" dirty="0"/>
              <a:t>: Newton Fehler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9A5CB-7B5D-A6F0-E1D6-3771C310A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24.09.2026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77D252-8827-F00E-EB6E-65DFB7BCE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6F1DD-259A-204E-6D5C-288F4BAAA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13</a:t>
            </a:fld>
            <a:endParaRPr lang="de-CH" noProof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4692834-FF0A-95F5-0ED5-47E388F47C24}"/>
              </a:ext>
            </a:extLst>
          </p:cNvPr>
          <p:cNvGrpSpPr/>
          <p:nvPr/>
        </p:nvGrpSpPr>
        <p:grpSpPr>
          <a:xfrm>
            <a:off x="5287347" y="2363755"/>
            <a:ext cx="3763347" cy="2990796"/>
            <a:chOff x="5287347" y="2363755"/>
            <a:chExt cx="3763347" cy="299079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FA3160E-6BBD-52B5-3719-125666B59901}"/>
                </a:ext>
              </a:extLst>
            </p:cNvPr>
            <p:cNvSpPr/>
            <p:nvPr/>
          </p:nvSpPr>
          <p:spPr>
            <a:xfrm>
              <a:off x="5287347" y="2363755"/>
              <a:ext cx="2015412" cy="460310"/>
            </a:xfrm>
            <a:prstGeom prst="rect">
              <a:avLst/>
            </a:prstGeom>
            <a:noFill/>
            <a:ln w="28575"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3507BB3-15EA-F123-9173-06885FAC4CC8}"/>
                </a:ext>
              </a:extLst>
            </p:cNvPr>
            <p:cNvCxnSpPr/>
            <p:nvPr/>
          </p:nvCxnSpPr>
          <p:spPr>
            <a:xfrm>
              <a:off x="7053943" y="2824065"/>
              <a:ext cx="933061" cy="1872343"/>
            </a:xfrm>
            <a:prstGeom prst="straightConnector1">
              <a:avLst/>
            </a:prstGeom>
            <a:ln w="28575">
              <a:solidFill>
                <a:srgbClr val="92D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404B3EA-525C-6ADE-6FDF-1B6F0E988E7C}"/>
                </a:ext>
              </a:extLst>
            </p:cNvPr>
            <p:cNvSpPr txBox="1"/>
            <p:nvPr/>
          </p:nvSpPr>
          <p:spPr>
            <a:xfrm>
              <a:off x="7184571" y="4708220"/>
              <a:ext cx="1866123" cy="646331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Stark </a:t>
              </a:r>
              <a:r>
                <a:rPr lang="en-US" dirty="0" err="1"/>
                <a:t>abhängig</a:t>
              </a:r>
              <a:r>
                <a:rPr lang="en-US" dirty="0"/>
                <a:t> von </a:t>
              </a:r>
              <a:r>
                <a:rPr lang="en-US" dirty="0" err="1"/>
                <a:t>Stützstellen</a:t>
              </a:r>
              <a:endParaRPr lang="en-CH" dirty="0"/>
            </a:p>
          </p:txBody>
        </p:sp>
      </p:grpSp>
      <p:pic>
        <p:nvPicPr>
          <p:cNvPr id="7" name="Graphic 6" descr="Pin outline">
            <a:extLst>
              <a:ext uri="{FF2B5EF4-FFF2-40B4-BE49-F238E27FC236}">
                <a16:creationId xmlns:a16="http://schemas.microsoft.com/office/drawing/2014/main" id="{5A308620-D449-4B3E-9579-53517A95E5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1174360">
            <a:off x="6388359" y="403393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744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640B-AB75-6BB2-799D-B3EEAEA45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Polynominterpolation</a:t>
            </a:r>
            <a:r>
              <a:rPr lang="en-US" dirty="0"/>
              <a:t>: Newton </a:t>
            </a:r>
            <a:r>
              <a:rPr lang="en-US" dirty="0" err="1"/>
              <a:t>Visuell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F88F4B-47ED-A810-72BA-1C32DB7ED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24.09.2026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ACDB0-F981-2B47-4A15-D3011C656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154E89-3422-B799-BAC0-B356C09F7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14</a:t>
            </a:fld>
            <a:endParaRPr lang="de-CH" noProof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2C8805A-6C35-1CA4-F950-304C83EFD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3762" y="1438275"/>
            <a:ext cx="5324475" cy="398145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8060E55-8A91-B338-5BF1-FB4920A4F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3762" y="1438275"/>
            <a:ext cx="5324475" cy="398145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7B6DB00-659F-5DC7-C690-4322DA98F2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3762" y="1438275"/>
            <a:ext cx="5324475" cy="398145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CBDCC40-1539-5AD4-FDAD-B958B36B19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3762" y="1438275"/>
            <a:ext cx="5324475" cy="398145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B965537-4B81-34F8-095D-129F283FC5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3762" y="1438275"/>
            <a:ext cx="5324475" cy="398145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D1F8827-C62F-83BF-33C2-5AF7D8D1C8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3762" y="1438275"/>
            <a:ext cx="5324475" cy="398145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E1BE696D-90B4-DF36-96C0-6B1035A740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3762" y="1438275"/>
            <a:ext cx="5324475" cy="398145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05F6B61F-E5F4-49BB-571B-9B5D491506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3762" y="1438275"/>
            <a:ext cx="5324475" cy="398145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D95ACEA-6CC5-054A-E018-BF3A864532A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33762" y="1438275"/>
            <a:ext cx="5324475" cy="398145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0ECAF19-2789-E8D6-C75B-D81F7E2B6A9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33762" y="1438275"/>
            <a:ext cx="5324475" cy="398145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8F0F2CA2-BB31-BB45-1A0E-275525A8B1A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33762" y="1438275"/>
            <a:ext cx="5324475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385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E6F48-2513-6A41-C36B-25ECA4F03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Lagrange-Interpolation</a:t>
            </a:r>
            <a:endParaRPr lang="en-CH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5B525F-6706-032C-3606-FA5E45B36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EAFE7-317E-4912-B75C-DD6945F82242}" type="datetime1">
              <a:rPr lang="de-CH" noProof="0" smtClean="0"/>
              <a:t>24.09.2026</a:t>
            </a:fld>
            <a:endParaRPr lang="de-CH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AC7F0A-2EB4-68AF-6CFF-4DC9F976B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3ED6E6-258A-7780-9437-B065FB9EB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pPr/>
              <a:t>15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9222031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838FC-2A31-CF95-73A0-584EF795E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Polynominterpolation</a:t>
            </a:r>
            <a:r>
              <a:rPr lang="en-US" dirty="0"/>
              <a:t>: Lagrange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20D5B7-4366-6A13-7195-D916B86C35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:r>
                  <a:rPr lang="en-US" b="1" dirty="0"/>
                  <a:t>Idee:</a:t>
                </a:r>
                <a:r>
                  <a:rPr lang="en-US" dirty="0"/>
                  <a:t> </a:t>
                </a:r>
                <a:r>
                  <a:rPr lang="en-US" i="1" dirty="0"/>
                  <a:t>Was, </a:t>
                </a:r>
                <a:r>
                  <a:rPr lang="en-US" i="1" dirty="0" err="1"/>
                  <a:t>wenn</a:t>
                </a:r>
                <a:r>
                  <a:rPr lang="en-US" i="1" dirty="0"/>
                  <a:t> für </a:t>
                </a:r>
                <a:r>
                  <a:rPr lang="en-US" i="1" dirty="0" err="1"/>
                  <a:t>Basisfunktion</a:t>
                </a:r>
                <a:r>
                  <a:rPr lang="en-US" i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i="1" dirty="0"/>
                  <a:t> jeweils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i="1" dirty="0"/>
                  <a:t> und für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i="1" dirty="0"/>
                  <a:t> gilt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i="1" dirty="0"/>
                  <a:t> ?</a:t>
                </a:r>
                <a:endParaRPr lang="en-CH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20D5B7-4366-6A13-7195-D916B86C35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304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0B91A-DB5D-D1EF-9B9C-557E6A849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24.09.2026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4E86E-A979-F1CA-0BCA-D4367C1D1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2AD1-9C66-F4B7-80E6-234AF4AB4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16</a:t>
            </a:fld>
            <a:endParaRPr lang="de-CH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7BA248-582F-9B02-B725-0CB5FDD31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8099" y="2251527"/>
            <a:ext cx="4827527" cy="1045673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135278C2-1416-9E3B-0354-DEE1C11A6D1D}"/>
              </a:ext>
            </a:extLst>
          </p:cNvPr>
          <p:cNvGrpSpPr/>
          <p:nvPr/>
        </p:nvGrpSpPr>
        <p:grpSpPr>
          <a:xfrm>
            <a:off x="5788528" y="1758116"/>
            <a:ext cx="4553286" cy="748319"/>
            <a:chOff x="5788528" y="1758116"/>
            <a:chExt cx="4553286" cy="748319"/>
          </a:xfrm>
        </p:grpSpPr>
        <p:sp>
          <p:nvSpPr>
            <p:cNvPr id="9" name="Left Brace 8">
              <a:extLst>
                <a:ext uri="{FF2B5EF4-FFF2-40B4-BE49-F238E27FC236}">
                  <a16:creationId xmlns:a16="http://schemas.microsoft.com/office/drawing/2014/main" id="{11055188-7758-ADC9-FF9E-7DE2F7193021}"/>
                </a:ext>
              </a:extLst>
            </p:cNvPr>
            <p:cNvSpPr/>
            <p:nvPr/>
          </p:nvSpPr>
          <p:spPr>
            <a:xfrm rot="16200000">
              <a:off x="7989725" y="-443081"/>
              <a:ext cx="150891" cy="4553286"/>
            </a:xfrm>
            <a:prstGeom prst="leftBrace">
              <a:avLst>
                <a:gd name="adj1" fmla="val 72122"/>
                <a:gd name="adj2" fmla="val 34029"/>
              </a:avLst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4ACF1832-7234-4154-CFB6-63CF4B639216}"/>
                </a:ext>
              </a:extLst>
            </p:cNvPr>
            <p:cNvCxnSpPr>
              <a:cxnSpLocks/>
            </p:cNvCxnSpPr>
            <p:nvPr/>
          </p:nvCxnSpPr>
          <p:spPr>
            <a:xfrm>
              <a:off x="7337966" y="1906286"/>
              <a:ext cx="0" cy="60014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5287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35194-EFB0-1A3B-E0EE-12574C804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Polynominterpolation</a:t>
            </a:r>
            <a:r>
              <a:rPr lang="en-US" dirty="0"/>
              <a:t>: Lagrange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0FB76-7BFA-6475-D7A5-736EA67F30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Die Lagrange-Basis </a:t>
            </a:r>
            <a:r>
              <a:rPr lang="en-US" dirty="0" err="1"/>
              <a:t>produziert</a:t>
            </a:r>
            <a:r>
              <a:rPr lang="en-US" dirty="0"/>
              <a:t> quasi “</a:t>
            </a:r>
            <a:r>
              <a:rPr lang="en-US" dirty="0" err="1"/>
              <a:t>Einheitsvektoren</a:t>
            </a:r>
            <a:r>
              <a:rPr lang="en-US" dirty="0"/>
              <a:t>”: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BD7FB-6DEB-6A5B-D868-BEEFE6CBA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24.09.2026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9E34C2-CA8A-2FA6-AE69-4C5F5CD8C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80CEAF-87A1-8174-E622-DDA31F79D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17</a:t>
            </a:fld>
            <a:endParaRPr lang="de-CH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613657-54CF-D7D4-5263-268BABC34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36" y="1975766"/>
            <a:ext cx="4093479" cy="177710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F3A762A-4C99-5223-E9E1-9879991DB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9875" y="1975765"/>
            <a:ext cx="4900037" cy="3943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811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1E5CE-3415-ABAB-8675-138F78277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Polynominterpolation</a:t>
            </a:r>
            <a:r>
              <a:rPr lang="en-US" dirty="0"/>
              <a:t>: Lagrange </a:t>
            </a:r>
            <a:r>
              <a:rPr lang="en-US" dirty="0" err="1"/>
              <a:t>Baryzentrisch</a:t>
            </a:r>
            <a:r>
              <a:rPr lang="en-US" dirty="0"/>
              <a:t> (</a:t>
            </a:r>
            <a:r>
              <a:rPr lang="en-US" dirty="0" err="1"/>
              <a:t>Skript</a:t>
            </a:r>
            <a:r>
              <a:rPr lang="en-US" dirty="0"/>
              <a:t>)</a:t>
            </a:r>
            <a:endParaRPr lang="en-CH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3CF2430-DF42-87DD-E1ED-D45C413295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6531" y="1029722"/>
            <a:ext cx="7358935" cy="252010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1352B1-D330-FC44-3D35-FE18505AC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24.09.2026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6D2FB-7A48-D41E-3056-44F352D04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40CE7-0083-D1F3-1372-406A46C7B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18</a:t>
            </a:fld>
            <a:endParaRPr lang="de-CH" noProof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A6F94A3-ACD8-8D34-54DD-C7BAE3ADCD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6531" y="3621325"/>
            <a:ext cx="6839436" cy="282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1960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EBC99-5B8F-9BAB-5E24-6AEA380C0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Polynominterpolation</a:t>
            </a:r>
            <a:r>
              <a:rPr lang="en-US" dirty="0"/>
              <a:t>: Fehler</a:t>
            </a:r>
            <a:endParaRPr lang="en-CH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50B8DD-46E8-BD1A-B31B-07E14F3EE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EAFE7-317E-4912-B75C-DD6945F82242}" type="datetime1">
              <a:rPr lang="de-CH" noProof="0" smtClean="0"/>
              <a:t>24.09.2026</a:t>
            </a:fld>
            <a:endParaRPr lang="de-CH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6CC6EB-3616-0578-F9D2-F83B05568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BAA1FD-FB34-2870-4C40-445140F6E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pPr/>
              <a:t>19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3688417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1977A-BB36-0618-E799-9F4B5F64A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Polynominterpolation</a:t>
            </a:r>
            <a:r>
              <a:rPr lang="en-US" dirty="0"/>
              <a:t>: Runge-</a:t>
            </a:r>
            <a:r>
              <a:rPr lang="en-US" dirty="0" err="1"/>
              <a:t>Phänomen</a:t>
            </a:r>
            <a:endParaRPr lang="en-CH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6159EC-DC4A-7D29-5F7C-D3458D6475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882" y="1915862"/>
            <a:ext cx="7622233" cy="367402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D29DC-13F9-A547-2C3F-C2E4F54808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Fehler </a:t>
            </a:r>
            <a:r>
              <a:rPr lang="en-US" dirty="0" err="1"/>
              <a:t>einer</a:t>
            </a:r>
            <a:r>
              <a:rPr lang="en-US" dirty="0"/>
              <a:t> </a:t>
            </a:r>
            <a:r>
              <a:rPr lang="en-US" dirty="0" err="1"/>
              <a:t>Polynominterpolation</a:t>
            </a:r>
            <a:r>
              <a:rPr lang="en-US" dirty="0"/>
              <a:t> </a:t>
            </a:r>
            <a:r>
              <a:rPr lang="en-US" dirty="0" err="1"/>
              <a:t>hängt</a:t>
            </a:r>
            <a:r>
              <a:rPr lang="en-US" dirty="0"/>
              <a:t> von der Wahl der </a:t>
            </a:r>
            <a:r>
              <a:rPr lang="en-US" dirty="0" err="1"/>
              <a:t>Stützstellen</a:t>
            </a:r>
            <a:r>
              <a:rPr lang="en-US" dirty="0"/>
              <a:t> ab:</a:t>
            </a:r>
          </a:p>
          <a:p>
            <a:pPr marL="0" indent="0">
              <a:buNone/>
            </a:pP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A8D51-A5D2-6F08-C3E8-88668C562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24.09.2026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8FD5F-CE70-1CB1-FFD3-3537C1A6F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4D393-680D-AD53-9E7F-E9146CCC5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20</a:t>
            </a:fld>
            <a:endParaRPr lang="de-CH" noProof="0"/>
          </a:p>
        </p:txBody>
      </p:sp>
      <p:pic>
        <p:nvPicPr>
          <p:cNvPr id="9" name="Graphic 8" descr="Pin outline">
            <a:extLst>
              <a:ext uri="{FF2B5EF4-FFF2-40B4-BE49-F238E27FC236}">
                <a16:creationId xmlns:a16="http://schemas.microsoft.com/office/drawing/2014/main" id="{B88706DF-AFF3-2FA4-1BAC-D6CA2B014C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14500" y="198258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96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639AF-CEAC-5F74-5E83-04AF8B7A0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Polynominterpolation</a:t>
            </a:r>
            <a:r>
              <a:rPr lang="en-US" dirty="0"/>
              <a:t>: Runge-</a:t>
            </a:r>
            <a:r>
              <a:rPr lang="en-US" dirty="0" err="1"/>
              <a:t>Phänomen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41C2A-DE11-04D8-6732-5FAF2F4A3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24.09.2026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F1A9D-D311-09BD-0293-8410EEA6E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6939A-72A6-A19C-4513-B676DAF90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21</a:t>
            </a:fld>
            <a:endParaRPr lang="de-CH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CBC375-7A9D-4A29-0AE6-6DB5756FA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5725" y="1469472"/>
            <a:ext cx="5190615" cy="3919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5695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9A1E7-A1ED-6733-5914-83BA2F84E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Lebesgue-</a:t>
            </a:r>
            <a:r>
              <a:rPr lang="en-US" dirty="0" err="1"/>
              <a:t>Konstante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2B3115-5140-DD0D-6AE8-8A04B6394F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nary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Stark </a:t>
                </a:r>
                <a:r>
                  <a:rPr lang="en-US" dirty="0" err="1"/>
                  <a:t>abhängig</a:t>
                </a:r>
                <a:r>
                  <a:rPr lang="en-US" dirty="0"/>
                  <a:t> von der Wahl </a:t>
                </a:r>
                <a:r>
                  <a:rPr lang="en-US" dirty="0" err="1"/>
                  <a:t>aller</a:t>
                </a:r>
                <a:r>
                  <a:rPr lang="en-US" dirty="0"/>
                  <a:t> </a:t>
                </a:r>
                <a:r>
                  <a:rPr lang="en-US" dirty="0" err="1"/>
                  <a:t>Stützstellen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lim>
                          </m:limLow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̃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=0,...,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Für </a:t>
                </a:r>
                <a:r>
                  <a:rPr lang="en-US" dirty="0" err="1"/>
                  <a:t>beliebige</a:t>
                </a:r>
                <a:r>
                  <a:rPr lang="en-US" dirty="0"/>
                  <a:t> </a:t>
                </a:r>
                <a:r>
                  <a:rPr lang="en-US" dirty="0" err="1"/>
                  <a:t>polynome</a:t>
                </a:r>
                <a:r>
                  <a:rPr lang="en-US" dirty="0"/>
                  <a:t> </a:t>
                </a:r>
                <a:r>
                  <a:rPr lang="en-US" dirty="0" err="1"/>
                  <a:t>limitiert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den Fehler!</a:t>
                </a:r>
              </a:p>
              <a:p>
                <a:pPr marL="0" indent="0">
                  <a:buNone/>
                </a:pPr>
                <a:r>
                  <a:rPr lang="en-US" dirty="0" err="1"/>
                  <a:t>Äquidistant</a:t>
                </a:r>
                <a:r>
                  <a:rPr lang="en-US" dirty="0"/>
                  <a:t> </a:t>
                </a:r>
                <a:r>
                  <a:rPr lang="en-US" dirty="0" err="1"/>
                  <a:t>ist</a:t>
                </a:r>
                <a:r>
                  <a:rPr lang="en-US" dirty="0"/>
                  <a:t> </a:t>
                </a:r>
                <a:r>
                  <a:rPr lang="en-US" dirty="0" err="1"/>
                  <a:t>katastrophal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2B3115-5140-DD0D-6AE8-8A04B6394F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7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53C87-C48B-9B20-C98D-4A6508289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24.09.2026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5B839-D0BF-72D3-12A7-2B4CBB7B0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63BA38-788B-83B7-5CB1-A3C70FA03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22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40480400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C28A8-FF44-D62B-6DFB-ABBA4947A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Chebyshev-Interpolation</a:t>
            </a:r>
            <a:endParaRPr lang="en-CH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04BABF-E822-77CB-42E7-358DC4954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EAFE7-317E-4912-B75C-DD6945F82242}" type="datetime1">
              <a:rPr lang="de-CH" noProof="0" smtClean="0"/>
              <a:t>24.09.2026</a:t>
            </a:fld>
            <a:endParaRPr lang="de-CH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4FC469-6186-9D63-F4A7-76F4D10F3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A93C62-37E9-B267-7496-F44FA9212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pPr/>
              <a:t>23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4793530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5D50E-D7E9-4275-6498-E02A8EF6E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Polynominterpolation</a:t>
            </a:r>
            <a:r>
              <a:rPr lang="en-US" dirty="0"/>
              <a:t>: Chebyshev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C4C30-5057-08F6-0313-78E3E0A16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24.09.2026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9E1A6-263E-1EDA-AB66-B45D79E3C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5786E-6B8C-17B2-EECF-FB6271453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24</a:t>
            </a:fld>
            <a:endParaRPr lang="de-CH" noProof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C41B94-DD62-CB1C-3B36-A631C30C9C2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1837" y="1412875"/>
                <a:ext cx="10728325" cy="4680000"/>
              </a:xfrm>
              <a:prstGeom prst="rect">
                <a:avLst/>
              </a:prstGeom>
            </p:spPr>
            <p:txBody>
              <a:bodyPr vert="horz" lIns="0" tIns="0" rIns="0" bIns="0" rtlCol="0">
                <a:noAutofit/>
              </a:bodyPr>
              <a:lstStyle>
                <a:lvl1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8163" indent="-27146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Symbol" panose="05050102010706020507" pitchFamily="18" charset="2"/>
                  <a:buChar char="-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10000" indent="-2700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Symbol" panose="05050102010706020507" pitchFamily="18" charset="2"/>
                  <a:buChar char="-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80000" indent="-27146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Symbol" panose="05050102010706020507" pitchFamily="18" charset="2"/>
                  <a:buChar char="-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50000" indent="-2700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Symbol" panose="05050102010706020507" pitchFamily="18" charset="2"/>
                  <a:buChar char="-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Chebyshev-</a:t>
                </a:r>
                <a:r>
                  <a:rPr lang="en-US" dirty="0" err="1"/>
                  <a:t>Polynome</a:t>
                </a:r>
                <a:r>
                  <a:rPr lang="en-US" dirty="0"/>
                  <a:t> </a:t>
                </a:r>
                <a:r>
                  <a:rPr lang="en-US" dirty="0" err="1"/>
                  <a:t>erster</a:t>
                </a:r>
                <a:r>
                  <a:rPr lang="en-US" dirty="0"/>
                  <a:t> Art: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𝑐𝑜𝑠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arccos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−1,1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Chebyshev-</a:t>
                </a:r>
                <a:r>
                  <a:rPr lang="en-US" dirty="0" err="1"/>
                  <a:t>Polynome</a:t>
                </a:r>
                <a:r>
                  <a:rPr lang="en-US" dirty="0"/>
                  <a:t> </a:t>
                </a:r>
                <a:r>
                  <a:rPr lang="en-US" dirty="0" err="1"/>
                  <a:t>zweiter</a:t>
                </a:r>
                <a:r>
                  <a:rPr lang="en-US" dirty="0"/>
                  <a:t> Art: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e>
                                  </m:d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arccos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e>
                                  </m:func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arccos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</m:e>
                          </m:func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−1,1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Sind orthogonal </a:t>
                </a:r>
                <a:r>
                  <a:rPr lang="en-US" dirty="0" err="1"/>
                  <a:t>bezügl</a:t>
                </a:r>
                <a:r>
                  <a:rPr lang="en-US" dirty="0"/>
                  <a:t> </a:t>
                </a:r>
                <a:r>
                  <a:rPr lang="en-US" dirty="0" err="1"/>
                  <a:t>diskretes</a:t>
                </a:r>
                <a:r>
                  <a:rPr lang="en-US" dirty="0"/>
                  <a:t> und </a:t>
                </a:r>
                <a:r>
                  <a:rPr lang="en-US" dirty="0" err="1"/>
                  <a:t>stetiges</a:t>
                </a:r>
                <a:r>
                  <a:rPr lang="en-US" dirty="0"/>
                  <a:t> </a:t>
                </a:r>
                <a:r>
                  <a:rPr lang="en-US" dirty="0" err="1"/>
                  <a:t>Skalarprodukt</a:t>
                </a:r>
                <a:r>
                  <a:rPr lang="en-US" dirty="0"/>
                  <a:t> (</a:t>
                </a:r>
                <a:r>
                  <a:rPr lang="en-US" dirty="0" err="1"/>
                  <a:t>Diskret</a:t>
                </a:r>
                <a:r>
                  <a:rPr lang="en-US" dirty="0"/>
                  <a:t> auf Chebyshev-Knoten):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subSup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C41B94-DD62-CB1C-3B36-A631C30C9C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837" y="1412875"/>
                <a:ext cx="10728325" cy="4680000"/>
              </a:xfrm>
              <a:prstGeom prst="rect">
                <a:avLst/>
              </a:prstGeom>
              <a:blipFill>
                <a:blip r:embed="rId2"/>
                <a:stretch>
                  <a:fillRect l="-1307" t="-1695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2842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11AA3-6A62-245F-6780-5CD1044DC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Polynominterpolation</a:t>
            </a:r>
            <a:r>
              <a:rPr lang="en-US" dirty="0"/>
              <a:t>: Chebyshev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10F1B5-5677-5072-87CB-6A5C2FDDF3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Chebyshev-Knoten (</a:t>
                </a:r>
                <a:r>
                  <a:rPr lang="en-US" dirty="0" err="1"/>
                  <a:t>Nullstellen</a:t>
                </a:r>
                <a:r>
                  <a:rPr lang="en-US" dirty="0"/>
                  <a:t> von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):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𝑐𝑜𝑠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e>
                                </m:d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=0,...,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Chebyshev-</a:t>
                </a:r>
                <a:r>
                  <a:rPr lang="en-US" dirty="0" err="1"/>
                  <a:t>Abszissen</a:t>
                </a:r>
                <a:r>
                  <a:rPr lang="en-US" dirty="0"/>
                  <a:t> (Extrema von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):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𝑐𝑜𝑠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=0,...,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Beide</a:t>
                </a:r>
                <a:r>
                  <a:rPr lang="en-US" dirty="0"/>
                  <a:t> </a:t>
                </a:r>
                <a:r>
                  <a:rPr lang="en-US" dirty="0" err="1"/>
                  <a:t>sind</a:t>
                </a:r>
                <a:r>
                  <a:rPr lang="en-US" dirty="0"/>
                  <a:t> </a:t>
                </a:r>
                <a:r>
                  <a:rPr lang="en-US" dirty="0" err="1"/>
                  <a:t>sehr</a:t>
                </a:r>
                <a:r>
                  <a:rPr lang="en-US" dirty="0"/>
                  <a:t> </a:t>
                </a:r>
                <a:r>
                  <a:rPr lang="en-US" dirty="0" err="1"/>
                  <a:t>viel</a:t>
                </a:r>
                <a:r>
                  <a:rPr lang="en-US" dirty="0"/>
                  <a:t> </a:t>
                </a:r>
                <a:r>
                  <a:rPr lang="en-US" dirty="0" err="1"/>
                  <a:t>bessere</a:t>
                </a:r>
                <a:r>
                  <a:rPr lang="en-US" dirty="0"/>
                  <a:t> </a:t>
                </a:r>
                <a:r>
                  <a:rPr lang="en-US" dirty="0" err="1"/>
                  <a:t>Verteilungen</a:t>
                </a:r>
                <a:r>
                  <a:rPr lang="en-US" dirty="0"/>
                  <a:t> </a:t>
                </a:r>
                <a:r>
                  <a:rPr lang="en-US" dirty="0" err="1"/>
                  <a:t>als</a:t>
                </a:r>
                <a:r>
                  <a:rPr lang="en-US" dirty="0"/>
                  <a:t> </a:t>
                </a:r>
                <a:r>
                  <a:rPr lang="en-US" dirty="0" err="1"/>
                  <a:t>äquidistante</a:t>
                </a:r>
                <a:r>
                  <a:rPr lang="en-US" dirty="0"/>
                  <a:t> </a:t>
                </a:r>
                <a:r>
                  <a:rPr lang="en-US" dirty="0" err="1"/>
                  <a:t>Stützstellen</a:t>
                </a:r>
                <a:r>
                  <a:rPr lang="en-US" dirty="0"/>
                  <a:t>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10F1B5-5677-5072-87CB-6A5C2FDDF3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7" t="-1695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C9F98-E685-94D0-C7EC-AEA9A114D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24.09.2026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1AFE2-75F1-4EE1-B0B7-3EC77969C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57646-5057-0460-CC93-27B5C8477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25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7481748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EAD5C-7B99-B928-816F-B9E12194A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Polynominterpolation</a:t>
            </a:r>
            <a:r>
              <a:rPr lang="en-US" dirty="0"/>
              <a:t>: Chebyshev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94F68-007C-B8B9-9C76-6797403D5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24.09.2026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833D5-7203-7931-7C4F-43927ABB4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BF8E9-4363-6079-EFCF-4B240B18E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26</a:t>
            </a:fld>
            <a:endParaRPr lang="de-CH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F11C61-00C4-CCEE-2A90-18738E490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198" y="1539124"/>
            <a:ext cx="8691604" cy="3779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7047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748FB-2598-702C-538F-B057EEC96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Polynominterpolation</a:t>
            </a:r>
            <a:r>
              <a:rPr lang="en-US" dirty="0"/>
              <a:t>: Chebyshev</a:t>
            </a:r>
            <a:endParaRPr lang="en-CH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91B140B-776F-C11F-EABD-4B05B77500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4819" y="1366157"/>
            <a:ext cx="10102362" cy="477338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9C348-FB92-5597-3773-25273705A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24.09.2026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86CBB-79AD-324B-8C03-AFED555B2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AAD8E-E94B-D2D5-794A-F60A05D0D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27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2679926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5EDBE-50EC-6589-3FDB-A1E3DEB5D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Lebesgue-</a:t>
            </a:r>
            <a:r>
              <a:rPr lang="en-US" dirty="0" err="1"/>
              <a:t>Konstante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Chebyshev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C19683-BFB0-FDA6-7829-2F28FBD645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Wir </a:t>
                </a:r>
                <a:r>
                  <a:rPr lang="en-US" dirty="0" err="1"/>
                  <a:t>erinnern</a:t>
                </a:r>
                <a:r>
                  <a:rPr lang="en-US" dirty="0"/>
                  <a:t> </a:t>
                </a:r>
                <a:r>
                  <a:rPr lang="en-US" dirty="0" err="1"/>
                  <a:t>uns</a:t>
                </a:r>
                <a:r>
                  <a:rPr lang="en-US" dirty="0"/>
                  <a:t> für </a:t>
                </a:r>
                <a:r>
                  <a:rPr lang="en-US" dirty="0" err="1"/>
                  <a:t>Äquidistant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≈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Nun für Chebyshev: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=40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145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Chebyshev-Knoten </a:t>
                </a:r>
                <a:r>
                  <a:rPr lang="en-US" dirty="0" err="1"/>
                  <a:t>sind</a:t>
                </a:r>
                <a:r>
                  <a:rPr lang="en-US" dirty="0"/>
                  <a:t> die </a:t>
                </a:r>
                <a:r>
                  <a:rPr lang="en-US" b="1" dirty="0" err="1"/>
                  <a:t>beste</a:t>
                </a:r>
                <a:r>
                  <a:rPr lang="en-US" dirty="0"/>
                  <a:t> Wahl der </a:t>
                </a:r>
                <a:r>
                  <a:rPr lang="en-US" dirty="0" err="1"/>
                  <a:t>Stützstellen</a:t>
                </a:r>
                <a:r>
                  <a:rPr lang="en-US" dirty="0"/>
                  <a:t> - </a:t>
                </a:r>
                <a:r>
                  <a:rPr lang="en-US" b="1" dirty="0" err="1"/>
                  <a:t>unabhängig</a:t>
                </a:r>
                <a:r>
                  <a:rPr lang="en-US" dirty="0"/>
                  <a:t> von der </a:t>
                </a:r>
                <a:r>
                  <a:rPr lang="en-US" dirty="0" err="1"/>
                  <a:t>Interpolationsmethode</a:t>
                </a:r>
                <a:r>
                  <a:rPr lang="en-US" dirty="0"/>
                  <a:t>! </a:t>
                </a:r>
              </a:p>
              <a:p>
                <a:pPr marL="0" indent="0">
                  <a:buNone/>
                </a:pPr>
                <a:endParaRPr lang="en-CH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C19683-BFB0-FDA6-7829-2F28FBD645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7" t="-1695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11510-F6D9-7831-4166-2BCDBEF8E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24.09.2026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E8159-5D66-2258-67A3-DC932537E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79B9C6-D722-578C-E08B-C27115489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28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42094757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A91A0-07DD-7EDE-11C7-3D119A0B2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Chebyshev-</a:t>
            </a:r>
            <a:r>
              <a:rPr lang="en-US" dirty="0" err="1"/>
              <a:t>Interpolationspolynom</a:t>
            </a:r>
            <a:endParaRPr lang="en-CH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EE892D8D-F417-3DA6-7FCD-AC59D8FA6F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31837" y="1412875"/>
                <a:ext cx="10728325" cy="46800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 err="1"/>
                  <a:t>Natürlich</a:t>
                </a:r>
                <a:r>
                  <a:rPr lang="en-US" dirty="0"/>
                  <a:t> </a:t>
                </a:r>
                <a:r>
                  <a:rPr lang="en-US" dirty="0" err="1"/>
                  <a:t>gibt</a:t>
                </a:r>
                <a:r>
                  <a:rPr lang="en-US" dirty="0"/>
                  <a:t> es </a:t>
                </a:r>
                <a:r>
                  <a:rPr lang="en-US" dirty="0" err="1"/>
                  <a:t>auch</a:t>
                </a:r>
                <a:r>
                  <a:rPr lang="en-US" dirty="0"/>
                  <a:t> </a:t>
                </a:r>
                <a:r>
                  <a:rPr lang="en-US" dirty="0" err="1"/>
                  <a:t>eine</a:t>
                </a:r>
                <a:r>
                  <a:rPr lang="en-US" dirty="0"/>
                  <a:t> Chebyshev-</a:t>
                </a:r>
                <a:r>
                  <a:rPr lang="en-US" dirty="0" err="1"/>
                  <a:t>Interpolationsformel</a:t>
                </a:r>
                <a:r>
                  <a:rPr lang="en-US" dirty="0"/>
                  <a:t>: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+...+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Die </a:t>
                </a:r>
                <a:r>
                  <a:rPr lang="en-US" dirty="0" err="1"/>
                  <a:t>Koeffizienten</a:t>
                </a:r>
                <a:r>
                  <a:rPr lang="en-US" dirty="0"/>
                  <a:t> </a:t>
                </a:r>
                <a:r>
                  <a:rPr lang="en-US" dirty="0" err="1"/>
                  <a:t>berechnen</a:t>
                </a:r>
                <a:r>
                  <a:rPr lang="en-US" dirty="0"/>
                  <a:t> </a:t>
                </a:r>
                <a:r>
                  <a:rPr lang="en-US" dirty="0" err="1"/>
                  <a:t>sich</a:t>
                </a:r>
                <a:r>
                  <a:rPr lang="en-US" dirty="0"/>
                  <a:t> </a:t>
                </a:r>
                <a:r>
                  <a:rPr lang="en-US" dirty="0" err="1"/>
                  <a:t>wie</a:t>
                </a:r>
                <a:r>
                  <a:rPr lang="en-US" dirty="0"/>
                  <a:t> </a:t>
                </a:r>
                <a:r>
                  <a:rPr lang="en-US" dirty="0" err="1"/>
                  <a:t>folgt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Für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=1,...,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EE892D8D-F417-3DA6-7FCD-AC59D8FA6F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31837" y="1412875"/>
                <a:ext cx="10728325" cy="4680000"/>
              </a:xfrm>
              <a:blipFill>
                <a:blip r:embed="rId2"/>
                <a:stretch>
                  <a:fillRect l="-1307" t="-1695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D3CA0-FE23-CF8E-B9EB-EAAF10B81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24.09.2026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61F50-E712-9D86-1380-192FBAB1C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E2D06-44EA-8566-E6DF-F71F96532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29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1824483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3DB27-4D7E-A41B-664B-A3630519C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Chebyshev-</a:t>
            </a:r>
            <a:r>
              <a:rPr lang="en-US" dirty="0" err="1"/>
              <a:t>Auswertung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Clenshaw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D2B955-946C-83B9-EBE3-008835149C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:r>
                  <a:rPr lang="en-US" b="1" dirty="0"/>
                  <a:t>Ziel</a:t>
                </a:r>
                <a:r>
                  <a:rPr lang="en-US" dirty="0"/>
                  <a:t>: </a:t>
                </a:r>
                <a:r>
                  <a:rPr lang="en-US" i="1" dirty="0" err="1"/>
                  <a:t>Auswertung</a:t>
                </a:r>
                <a:r>
                  <a:rPr lang="en-US" i="1" dirty="0"/>
                  <a:t> von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+...+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i="1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Rekursion</a:t>
                </a:r>
                <a:r>
                  <a:rPr lang="en-US" dirty="0"/>
                  <a:t> (</a:t>
                </a:r>
                <a:r>
                  <a:rPr lang="en-US" dirty="0" err="1"/>
                  <a:t>rückwärts</a:t>
                </a:r>
                <a:r>
                  <a:rPr lang="en-US" dirty="0"/>
                  <a:t>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Auswertung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Sehr </a:t>
                </a:r>
                <a:r>
                  <a:rPr lang="en-US" b="1" dirty="0" err="1"/>
                  <a:t>stabil</a:t>
                </a:r>
                <a:r>
                  <a:rPr lang="en-US" b="1" dirty="0"/>
                  <a:t>!!</a:t>
                </a:r>
                <a:endParaRPr lang="en-CH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D2B955-946C-83B9-EBE3-008835149C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7" t="-1695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9FA65-1E32-D69F-911C-CF6C0F632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24.09.2026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2A785-9849-D78A-6EF4-40428F174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ED990-C90A-44F2-281F-E49BBEB17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30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41840816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4B13B-6A55-04C3-1B86-61D8A0D5D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Fazit</a:t>
            </a:r>
            <a:endParaRPr lang="en-CH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4C87484-4430-FF5D-B77A-67BC72F10A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10461" y="1412875"/>
            <a:ext cx="4171078" cy="467995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47217-6F50-D548-B03F-C92484CBB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24.09.2026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061D87-E427-E571-467B-D0E029C19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F1DDB7-0C67-8AC9-9BAE-863DE82D2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31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841271255"/>
      </p:ext>
    </p:extLst>
  </p:cSld>
  <p:clrMapOvr>
    <a:masterClrMapping/>
  </p:clrMapOvr>
</p:sld>
</file>

<file path=ppt/theme/theme1.xml><?xml version="1.0" encoding="utf-8"?>
<a:theme xmlns:a="http://schemas.openxmlformats.org/drawingml/2006/main" name="ETH Zürich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H Blau">
      <a:srgbClr val="215CAF"/>
    </a:custClr>
    <a:custClr name="ETH Petrol">
      <a:srgbClr val="007894"/>
    </a:custClr>
    <a:custClr name="ETH Gruen">
      <a:srgbClr val="627313"/>
    </a:custClr>
    <a:custClr name="ETH Bronze">
      <a:srgbClr val="8E6713"/>
    </a:custClr>
    <a:custClr name="ETH Rot">
      <a:srgbClr val="B7352D"/>
    </a:custClr>
    <a:custClr name="ETH Purpur">
      <a:srgbClr val="A30774"/>
    </a:custClr>
    <a:custClr name="ETH Grau">
      <a:srgbClr val="6F6F6F"/>
    </a:custClr>
  </a:custClrLst>
  <a:extLst>
    <a:ext uri="{05A4C25C-085E-4340-85A3-A5531E510DB2}">
      <thm15:themeFamily xmlns:thm15="http://schemas.microsoft.com/office/thememl/2012/main" name="NumCS Powerpoint.potx" id="{59DEFDE5-0850-49A0-9828-DC26DB68461C}" vid="{639E688A-C2DF-4F26-82EE-F41DFC958ADB}"/>
    </a:ext>
  </a:extLst>
</a:theme>
</file>

<file path=ppt/theme/theme2.xml><?xml version="1.0" encoding="utf-8"?>
<a:theme xmlns:a="http://schemas.openxmlformats.org/drawingml/2006/main" name="Office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H Blau">
      <a:srgbClr val="215CAF"/>
    </a:custClr>
    <a:custClr name="ETH Petrol">
      <a:srgbClr val="007894"/>
    </a:custClr>
    <a:custClr name="ETH Gruen">
      <a:srgbClr val="627313"/>
    </a:custClr>
    <a:custClr name="ETH Bronze">
      <a:srgbClr val="8E6713"/>
    </a:custClr>
    <a:custClr name="ETH Rot">
      <a:srgbClr val="B7352D"/>
    </a:custClr>
    <a:custClr name="ETH Purpur">
      <a:srgbClr val="A30774"/>
    </a:custClr>
    <a:custClr name="ETH Grau">
      <a:srgbClr val="6F6F6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NumCS Powerpoint</Template>
  <TotalTime>539</TotalTime>
  <Words>809</Words>
  <Application>Microsoft Office PowerPoint</Application>
  <PresentationFormat>Widescreen</PresentationFormat>
  <Paragraphs>245</Paragraphs>
  <Slides>31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Cambria Math</vt:lpstr>
      <vt:lpstr>Cascadia Code</vt:lpstr>
      <vt:lpstr>Symbol</vt:lpstr>
      <vt:lpstr>ETH Zürich</vt:lpstr>
      <vt:lpstr>Woche 2: Interpolation</vt:lpstr>
      <vt:lpstr>Inhaltsverzeichnis/Agenda</vt:lpstr>
      <vt:lpstr>Interpolation</vt:lpstr>
      <vt:lpstr>Interpolation</vt:lpstr>
      <vt:lpstr>Polynominterpolation</vt:lpstr>
      <vt:lpstr>Polynominterpolation: Monombasis</vt:lpstr>
      <vt:lpstr>Polynominterpolation: Monombasis</vt:lpstr>
      <vt:lpstr>Newton-Interpolation</vt:lpstr>
      <vt:lpstr>Polynominterpolation: Newton</vt:lpstr>
      <vt:lpstr>Polynominterpolation: Newton</vt:lpstr>
      <vt:lpstr>Polynominterpolation: Newton</vt:lpstr>
      <vt:lpstr>Polynominterpolation: Newton</vt:lpstr>
      <vt:lpstr>Polynominterpolation: Newton Fehler</vt:lpstr>
      <vt:lpstr>Polynominterpolation: Newton Visuell</vt:lpstr>
      <vt:lpstr>Lagrange-Interpolation</vt:lpstr>
      <vt:lpstr>Polynominterpolation: Lagrange</vt:lpstr>
      <vt:lpstr>Polynominterpolation: Lagrange</vt:lpstr>
      <vt:lpstr>Polynominterpolation: Lagrange Baryzentrisch (Skript)</vt:lpstr>
      <vt:lpstr>Polynominterpolation: Fehler</vt:lpstr>
      <vt:lpstr>Polynominterpolation: Runge-Phänomen</vt:lpstr>
      <vt:lpstr>Polynominterpolation: Runge-Phänomen</vt:lpstr>
      <vt:lpstr>Lebesgue-Konstante</vt:lpstr>
      <vt:lpstr>Chebyshev-Interpolation</vt:lpstr>
      <vt:lpstr>Polynominterpolation: Chebyshev</vt:lpstr>
      <vt:lpstr>Polynominterpolation: Chebyshev</vt:lpstr>
      <vt:lpstr>Polynominterpolation: Chebyshev</vt:lpstr>
      <vt:lpstr>Polynominterpolation: Chebyshev</vt:lpstr>
      <vt:lpstr>Lebesgue-Konstante bei Chebyshev</vt:lpstr>
      <vt:lpstr>Chebyshev-Interpolationspolynom</vt:lpstr>
      <vt:lpstr>Chebyshev-Auswertung mit Clenshaw</vt:lpstr>
      <vt:lpstr>Fazit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Jonas Vonäsch</dc:creator>
  <cp:lastModifiedBy>Jonas Vonäsch</cp:lastModifiedBy>
  <cp:revision>180</cp:revision>
  <dcterms:created xsi:type="dcterms:W3CDTF">2026-09-17T07:58:24Z</dcterms:created>
  <dcterms:modified xsi:type="dcterms:W3CDTF">2026-09-24T12:09:03Z</dcterms:modified>
</cp:coreProperties>
</file>