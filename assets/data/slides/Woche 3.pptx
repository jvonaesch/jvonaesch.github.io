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61" r:id="rId3"/>
    <p:sldId id="292" r:id="rId4"/>
    <p:sldId id="302" r:id="rId5"/>
    <p:sldId id="303" r:id="rId6"/>
    <p:sldId id="308" r:id="rId7"/>
    <p:sldId id="274" r:id="rId8"/>
    <p:sldId id="262" r:id="rId9"/>
    <p:sldId id="276" r:id="rId10"/>
    <p:sldId id="277" r:id="rId11"/>
    <p:sldId id="263" r:id="rId12"/>
    <p:sldId id="275" r:id="rId13"/>
    <p:sldId id="264" r:id="rId14"/>
    <p:sldId id="279" r:id="rId15"/>
    <p:sldId id="266" r:id="rId16"/>
    <p:sldId id="278" r:id="rId17"/>
    <p:sldId id="280" r:id="rId18"/>
    <p:sldId id="265" r:id="rId19"/>
    <p:sldId id="281" r:id="rId20"/>
    <p:sldId id="270" r:id="rId21"/>
    <p:sldId id="268" r:id="rId22"/>
    <p:sldId id="267" r:id="rId23"/>
    <p:sldId id="269" r:id="rId24"/>
    <p:sldId id="288" r:id="rId25"/>
    <p:sldId id="272" r:id="rId26"/>
    <p:sldId id="285" r:id="rId27"/>
    <p:sldId id="286" r:id="rId28"/>
    <p:sldId id="287" r:id="rId29"/>
    <p:sldId id="282" r:id="rId30"/>
    <p:sldId id="271" r:id="rId31"/>
    <p:sldId id="283" r:id="rId32"/>
    <p:sldId id="284" r:id="rId33"/>
    <p:sldId id="289" r:id="rId34"/>
    <p:sldId id="290" r:id="rId35"/>
    <p:sldId id="291" r:id="rId36"/>
    <p:sldId id="309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2" y="2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v0YEaeIClKY?start=176&amp;feature=oembed" TargetMode="External"/><Relationship Id="rId4" Type="http://schemas.openxmlformats.org/officeDocument/2006/relationships/hyperlink" Target="https://youtu.be/v0YEaeIClKY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6563B3-27E0-6DAE-53A4-EA49A3CAA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b="8861"/>
          <a:stretch>
            <a:fillRect/>
          </a:stretch>
        </p:blipFill>
        <p:spPr>
          <a:xfrm>
            <a:off x="731837" y="1013567"/>
            <a:ext cx="10728325" cy="5256001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726947" cy="2772000"/>
          </a:xfrm>
        </p:spPr>
        <p:txBody>
          <a:bodyPr/>
          <a:lstStyle/>
          <a:p>
            <a:r>
              <a:rPr lang="de-DE" dirty="0"/>
              <a:t>Woche 3: </a:t>
            </a:r>
            <a:br>
              <a:rPr lang="de-DE" dirty="0"/>
            </a:br>
            <a:r>
              <a:rPr lang="de-DE" dirty="0"/>
              <a:t>Trigonometrische Interpolation</a:t>
            </a:r>
            <a:endParaRPr lang="de-CH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Jonas Vonäsch</a:t>
            </a:r>
          </a:p>
          <a:p>
            <a:r>
              <a:rPr lang="de-DE" dirty="0"/>
              <a:t>Numerical Methods for Computer Science</a:t>
            </a:r>
          </a:p>
          <a:p>
            <a:r>
              <a:rPr lang="de-CH" dirty="0"/>
              <a:t>02.10.2026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Clenshaw Recap</a:t>
            </a:r>
          </a:p>
          <a:p>
            <a:r>
              <a:rPr lang="de-DE" dirty="0"/>
              <a:t>Trigonometrische Polynome</a:t>
            </a:r>
          </a:p>
          <a:p>
            <a:r>
              <a:rPr lang="de-DE" dirty="0"/>
              <a:t>Fourier-Reihen</a:t>
            </a:r>
          </a:p>
          <a:p>
            <a:r>
              <a:rPr lang="de-DE" dirty="0"/>
              <a:t>Diskrete Fourier-Transformation</a:t>
            </a:r>
          </a:p>
          <a:p>
            <a:r>
              <a:rPr lang="de-DE" dirty="0"/>
              <a:t>Fourier in Numpy</a:t>
            </a:r>
          </a:p>
          <a:p>
            <a:endParaRPr lang="de-DE" dirty="0"/>
          </a:p>
          <a:p>
            <a:r>
              <a:rPr lang="de-DE" dirty="0"/>
              <a:t>Quiz review</a:t>
            </a:r>
          </a:p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B426-DF10-39FC-3293-8CF86202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Clenshaw Recap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95860-970E-4DCD-AC8A-5F175D39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1C382-D614-911E-89A4-70F28422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6AEF-B382-6E10-972C-D701C760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8813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91A0-07DD-7EDE-11C7-3D119A0B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Chebyshev-</a:t>
            </a:r>
            <a:r>
              <a:rPr lang="en-US" dirty="0" err="1"/>
              <a:t>Interpolationspolynom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E892D8D-F417-3DA6-7FCD-AC59D8FA6F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Natürlich</a:t>
                </a:r>
                <a:r>
                  <a:rPr lang="en-US" dirty="0"/>
                  <a:t> </a:t>
                </a:r>
                <a:r>
                  <a:rPr lang="en-US" dirty="0" err="1"/>
                  <a:t>gibt</a:t>
                </a:r>
                <a:r>
                  <a:rPr lang="en-US" dirty="0"/>
                  <a:t> es </a:t>
                </a:r>
                <a:r>
                  <a:rPr lang="en-US" dirty="0" err="1"/>
                  <a:t>auch</a:t>
                </a:r>
                <a:r>
                  <a:rPr lang="en-US" dirty="0"/>
                  <a:t> </a:t>
                </a:r>
                <a:r>
                  <a:rPr lang="en-US" dirty="0" err="1"/>
                  <a:t>eine</a:t>
                </a:r>
                <a:r>
                  <a:rPr lang="en-US" dirty="0"/>
                  <a:t> Chebyshev-</a:t>
                </a:r>
                <a:r>
                  <a:rPr lang="en-US" dirty="0" err="1"/>
                  <a:t>Interpolationsformel</a:t>
                </a:r>
                <a:r>
                  <a:rPr lang="en-US" dirty="0"/>
                  <a:t>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Koeffizienten</a:t>
                </a:r>
                <a:r>
                  <a:rPr lang="en-US" dirty="0"/>
                  <a:t> </a:t>
                </a:r>
                <a:r>
                  <a:rPr lang="en-US" dirty="0" err="1"/>
                  <a:t>berechnen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wie</a:t>
                </a:r>
                <a:r>
                  <a:rPr lang="en-US" dirty="0"/>
                  <a:t> </a:t>
                </a:r>
                <a:r>
                  <a:rPr lang="en-US" dirty="0" err="1"/>
                  <a:t>folgt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Für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E892D8D-F417-3DA6-7FCD-AC59D8FA6F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D3CA0-FE23-CF8E-B9EB-EAAF10B8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1F50-E712-9D86-1380-192FBAB1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E2D06-44EA-8566-E6DF-F71F9653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8244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DB27-4D7E-A41B-664B-A3630519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Chebyshev-</a:t>
            </a:r>
            <a:r>
              <a:rPr lang="en-US" dirty="0" err="1"/>
              <a:t>Auswertung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Clenshaw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2B955-946C-83B9-EBE3-008835149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Ziel</a:t>
                </a:r>
                <a:r>
                  <a:rPr lang="en-US" dirty="0"/>
                  <a:t>: </a:t>
                </a:r>
                <a:r>
                  <a:rPr lang="en-US" i="1" dirty="0" err="1"/>
                  <a:t>Auswertung</a:t>
                </a:r>
                <a:r>
                  <a:rPr lang="en-US" i="1" dirty="0"/>
                  <a:t>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Rekursion</a:t>
                </a:r>
                <a:r>
                  <a:rPr lang="en-US" dirty="0"/>
                  <a:t> (</a:t>
                </a:r>
                <a:r>
                  <a:rPr lang="en-US" dirty="0" err="1"/>
                  <a:t>rückwärts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Auswertung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Sehr </a:t>
                </a:r>
                <a:r>
                  <a:rPr lang="en-US" b="1" dirty="0" err="1"/>
                  <a:t>stabil</a:t>
                </a:r>
                <a:r>
                  <a:rPr lang="en-US" b="1" dirty="0"/>
                  <a:t>!!</a:t>
                </a:r>
                <a:endParaRPr lang="en-CH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2B955-946C-83B9-EBE3-008835149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FA65-1E32-D69F-911C-CF6C0F63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2A785-9849-D78A-6EF4-40428F17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ED990-C90A-44F2-281F-E49BBEB1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18408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B13B-6A55-04C3-1B86-61D8A0D5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Fazit</a:t>
            </a:r>
            <a:endParaRPr lang="en-C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C87484-4430-FF5D-B77A-67BC72F10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461" y="1412875"/>
            <a:ext cx="4171078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47217-6F50-D548-B03F-C92484CB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1D87-E427-E571-467B-D0E029C1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1DDB7-0C67-8AC9-9BAE-863DE82D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127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BF62-1742-D8F9-C171-1965A7E3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Trigonometrische</a:t>
            </a:r>
            <a:r>
              <a:rPr lang="en-US" dirty="0"/>
              <a:t> </a:t>
            </a:r>
            <a:r>
              <a:rPr lang="en-US" dirty="0" err="1"/>
              <a:t>Polynome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97217-86C5-641A-A731-F649754D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FE037-27EF-59AC-45B9-FB2031BF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D-Infk ETHZ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DD8BB-C584-02A1-C058-B25DA25E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85434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2E2F-FAA7-AE85-6EF0-3BBF069D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Trigonometrische</a:t>
            </a:r>
            <a:r>
              <a:rPr lang="en-US" dirty="0"/>
              <a:t> </a:t>
            </a:r>
            <a:r>
              <a:rPr lang="en-US" dirty="0" err="1"/>
              <a:t>Polynome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8C46C-3C2F-CC06-F484-9839883EB5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Basis: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1" dirty="0"/>
                  <a:t> sind Orthogonal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Schnell </a:t>
                </a:r>
                <a:r>
                  <a:rPr lang="en-US" dirty="0" err="1"/>
                  <a:t>konvertierbar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8C46C-3C2F-CC06-F484-9839883EB5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4C082-F91F-B7BA-415E-E75FABD1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6194-0ECB-01E1-A881-DF5874B9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3CCE8-53A4-C07F-1FDA-01811219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912" y="1654175"/>
            <a:ext cx="3905250" cy="379095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FAB6EED-F2EC-83F9-F5D6-DA3FB40C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noProof="0" dirty="0"/>
              <a:t>Department Informatik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03380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4D16-FF3F-2ACA-9593-BB381C08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der Basis-</a:t>
            </a:r>
            <a:r>
              <a:rPr lang="en-US" dirty="0" err="1"/>
              <a:t>Oszillatoren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60397-0F86-08DF-F4AB-FCF784210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rgbClr val="A3077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60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6000" b="0" i="1" smtClean="0">
                              <a:solidFill>
                                <a:srgbClr val="B735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6000" b="0" i="1" smtClean="0">
                              <a:solidFill>
                                <a:srgbClr val="B7352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6000" b="0" i="1" smtClean="0">
                              <a:solidFill>
                                <a:srgbClr val="A3077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60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6000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60397-0F86-08DF-F4AB-FCF784210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5F85-615C-D67E-EA88-0D5E6177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C386E-B861-54DA-F29E-2C18B90F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5928A-EED4-04F5-2815-AB3F6643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4A03B3-54B4-9D6C-82A0-704A84266A3D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037348" y="2422358"/>
            <a:ext cx="2117557" cy="100664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A3CE36-09AD-EE9B-7C69-E388C20F27CA}"/>
              </a:ext>
            </a:extLst>
          </p:cNvPr>
          <p:cNvSpPr txBox="1"/>
          <p:nvPr/>
        </p:nvSpPr>
        <p:spPr>
          <a:xfrm>
            <a:off x="1208506" y="3429000"/>
            <a:ext cx="16576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/>
                </a:solidFill>
              </a:rPr>
              <a:t>Frequenz</a:t>
            </a:r>
            <a:br>
              <a:rPr lang="en-US" b="1" dirty="0"/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 Index</a:t>
            </a:r>
            <a:endParaRPr lang="en-CH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F947C-5E88-9CED-543A-60CF3EA1C62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4422274" y="2422358"/>
            <a:ext cx="540084" cy="200066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2BBD50-A22E-A93B-975E-79BDFAFC4B64}"/>
                  </a:ext>
                </a:extLst>
              </p:cNvPr>
              <p:cNvSpPr txBox="1"/>
              <p:nvPr/>
            </p:nvSpPr>
            <p:spPr>
              <a:xfrm>
                <a:off x="3989137" y="4423021"/>
                <a:ext cx="8662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215CAF"/>
                    </a:solidFill>
                  </a:rPr>
                  <a:t>Zeit</a:t>
                </a:r>
                <a:br>
                  <a:rPr lang="en-US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CH" b="1" i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2BBD50-A22E-A93B-975E-79BDFAFC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137" y="4423021"/>
                <a:ext cx="866274" cy="738664"/>
              </a:xfrm>
              <a:prstGeom prst="rect">
                <a:avLst/>
              </a:prstGeom>
              <a:blipFill>
                <a:blip r:embed="rId3"/>
                <a:stretch>
                  <a:fillRect l="-10563" t="-57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F2B656-A4EA-E6A3-D3C7-0CE53D4AC1C4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7246438" y="2026653"/>
            <a:ext cx="0" cy="253236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A9ECB8-1810-0535-7F95-E4BCC15D1C93}"/>
                  </a:ext>
                </a:extLst>
              </p:cNvPr>
              <p:cNvSpPr txBox="1"/>
              <p:nvPr/>
            </p:nvSpPr>
            <p:spPr>
              <a:xfrm>
                <a:off x="6187659" y="4559015"/>
                <a:ext cx="211755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B7352D"/>
                    </a:solidFill>
                  </a:rPr>
                  <a:t>Streckung</a:t>
                </a:r>
                <a:br>
                  <a:rPr lang="en-US" b="1" dirty="0"/>
                </a:b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von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i="1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zu</a:t>
                </a:r>
                <a:r>
                  <a:rPr lang="en-US" i="1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CH" i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A9ECB8-1810-0535-7F95-E4BCC15D1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659" y="4559015"/>
                <a:ext cx="2117557" cy="738664"/>
              </a:xfrm>
              <a:prstGeom prst="rect">
                <a:avLst/>
              </a:prstGeom>
              <a:blipFill>
                <a:blip r:embed="rId4"/>
                <a:stretch>
                  <a:fillRect l="-4323" t="-5785" b="-1239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303152-ED88-C665-3087-EA883282EB31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7798930" y="2026653"/>
            <a:ext cx="2434012" cy="1396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C3304C-2D6E-F2C9-25F9-7271CE9AC7AF}"/>
                  </a:ext>
                </a:extLst>
              </p:cNvPr>
              <p:cNvSpPr txBox="1"/>
              <p:nvPr/>
            </p:nvSpPr>
            <p:spPr>
              <a:xfrm>
                <a:off x="9095873" y="3422689"/>
                <a:ext cx="2274138" cy="102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sup>
                      </m:sSup>
                    </m:oMath>
                  </m:oMathPara>
                </a14:m>
                <a:br>
                  <a:rPr lang="en-US" b="1" dirty="0"/>
                </a:b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Oszillator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gemäss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Euler</a:t>
                </a:r>
                <a:endParaRPr lang="en-CH" i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C3304C-2D6E-F2C9-25F9-7271CE9AC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873" y="3422689"/>
                <a:ext cx="2274138" cy="1029897"/>
              </a:xfrm>
              <a:prstGeom prst="rect">
                <a:avLst/>
              </a:prstGeom>
              <a:blipFill>
                <a:blip r:embed="rId5"/>
                <a:stretch>
                  <a:fillRect r="-2413" b="-828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12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CFAA-8EBA-8A81-C1C3-82E3B8C8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der Basis-</a:t>
            </a:r>
            <a:r>
              <a:rPr lang="en-US" dirty="0" err="1"/>
              <a:t>Oszillatoren</a:t>
            </a:r>
            <a:r>
              <a:rPr lang="en-US" dirty="0"/>
              <a:t>: 3Blue1Brown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6AF3-0707-F645-2FDD-377FFE50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ED413-9227-2483-B5CC-90E83290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D1325-1F67-7959-22DB-C03FFEFB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pic>
        <p:nvPicPr>
          <p:cNvPr id="12" name="Online Media 11" title="e^(iπ) in 3.14 minutes, using dynamics | DE5">
            <a:hlinkClick r:id="" action="ppaction://media"/>
            <a:extLst>
              <a:ext uri="{FF2B5EF4-FFF2-40B4-BE49-F238E27FC236}">
                <a16:creationId xmlns:a16="http://schemas.microsoft.com/office/drawing/2014/main" id="{3B1350F9-FA95-4D10-0219-B136BC0B911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12363" y="1012430"/>
            <a:ext cx="8567272" cy="48331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7E4B80-4FE3-C298-2581-D57470AA1D40}"/>
              </a:ext>
            </a:extLst>
          </p:cNvPr>
          <p:cNvSpPr txBox="1"/>
          <p:nvPr/>
        </p:nvSpPr>
        <p:spPr>
          <a:xfrm>
            <a:off x="1812362" y="5845570"/>
            <a:ext cx="8567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https://youtu.be/v0YEaeIClKY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1272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1C4A-D0B7-32BB-2167-CF87325D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E4E-A1CD-982B-3825-F06D8C49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BA597-4122-13B4-A0A2-93071C68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6D6702-04C6-C651-9C9A-25868E989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786181"/>
            <a:ext cx="8301992" cy="5312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A491B-CAE3-E105-5BCF-5BF6ADE9F9DC}"/>
              </a:ext>
            </a:extLst>
          </p:cNvPr>
          <p:cNvSpPr txBox="1"/>
          <p:nvPr/>
        </p:nvSpPr>
        <p:spPr>
          <a:xfrm>
            <a:off x="4387516" y="6507333"/>
            <a:ext cx="3416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(this plot was generated with the help of AI)</a:t>
            </a:r>
            <a:endParaRPr lang="en-CH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C28E1-9058-7AC2-5C20-9E1F19DFB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en-US" dirty="0"/>
              <a:t>Unser Ziel: </a:t>
            </a:r>
            <a:r>
              <a:rPr lang="en-US" dirty="0" err="1"/>
              <a:t>Frequenzen</a:t>
            </a:r>
            <a:r>
              <a:rPr lang="en-US" dirty="0"/>
              <a:t> Trennen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3451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DEC85F-F9D1-7FDA-26CB-3B506C3BF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err="1"/>
                  <a:t>Reelle</a:t>
                </a:r>
                <a:r>
                  <a:rPr lang="en-US" dirty="0"/>
                  <a:t> </a:t>
                </a:r>
                <a:r>
                  <a:rPr lang="en-US" dirty="0" err="1"/>
                  <a:t>Schwingungen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Komplexe</a:t>
                </a:r>
                <a:r>
                  <a:rPr lang="en-US" dirty="0"/>
                  <a:t> </a:t>
                </a:r>
                <a:r>
                  <a:rPr lang="en-US" dirty="0" err="1"/>
                  <a:t>Schwingungen</a:t>
                </a:r>
                <a:endParaRPr lang="en-CH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DEC85F-F9D1-7FDA-26CB-3B506C3BF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75" t="-1632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02EFF-9144-8524-462C-3D44A9241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Linearkombination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tatsächlich</a:t>
                </a:r>
                <a:r>
                  <a:rPr lang="en-US" dirty="0"/>
                  <a:t> </a:t>
                </a:r>
                <a:r>
                  <a:rPr lang="en-US" dirty="0" err="1"/>
                  <a:t>äquivalent</a:t>
                </a:r>
                <a:r>
                  <a:rPr lang="en-US" dirty="0"/>
                  <a:t> </a:t>
                </a:r>
                <a:r>
                  <a:rPr lang="en-US" dirty="0" err="1"/>
                  <a:t>zu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Für </a:t>
                </a:r>
                <a:r>
                  <a:rPr lang="en-US" dirty="0" err="1"/>
                  <a:t>ein</a:t>
                </a:r>
                <a:r>
                  <a:rPr lang="en-US" dirty="0"/>
                  <a:t> </a:t>
                </a:r>
                <a:r>
                  <a:rPr lang="en-US" dirty="0" err="1"/>
                  <a:t>gewisses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Dies </a:t>
                </a:r>
                <a:r>
                  <a:rPr lang="en-US" dirty="0" err="1"/>
                  <a:t>lässt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visuell</a:t>
                </a:r>
                <a:r>
                  <a:rPr lang="en-US" dirty="0"/>
                  <a:t> </a:t>
                </a:r>
                <a:r>
                  <a:rPr lang="en-US" dirty="0" err="1"/>
                  <a:t>zeigen</a:t>
                </a:r>
                <a:r>
                  <a:rPr lang="en-US" dirty="0"/>
                  <a:t>…</a:t>
                </a: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02EFF-9144-8524-462C-3D44A9241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FBAF-926C-583A-F9AE-535F7B5C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6AF7B-3300-6CCC-F7A5-B7306E96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EEFD-AA12-B485-7C14-B99C9FDC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6886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6417F0-E956-2641-E393-CC0851EC2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Reelle </a:t>
                </a:r>
                <a:r>
                  <a:rPr lang="en-US" dirty="0" err="1"/>
                  <a:t>Schwingungen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Komplexe</a:t>
                </a:r>
                <a:r>
                  <a:rPr lang="en-US" dirty="0"/>
                  <a:t> </a:t>
                </a:r>
                <a:r>
                  <a:rPr lang="en-US" dirty="0" err="1"/>
                  <a:t>Schwingungen</a:t>
                </a:r>
                <a:endParaRPr lang="en-CH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6417F0-E956-2641-E393-CC0851EC2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75" t="-1632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B7D39-95F7-42C4-184E-BEBF924B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DA8B-B1D8-5AE9-25DF-2A9A5674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Department Informatik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448F-DDA7-A407-6BF2-AAA7B51D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2E5B35-AD75-DCB9-9054-9A93C47362E3}"/>
              </a:ext>
            </a:extLst>
          </p:cNvPr>
          <p:cNvSpPr txBox="1"/>
          <p:nvPr/>
        </p:nvSpPr>
        <p:spPr>
          <a:xfrm>
            <a:off x="4387516" y="6507333"/>
            <a:ext cx="3416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(this plot was generated with the help of AI)</a:t>
            </a:r>
            <a:endParaRPr lang="en-CH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7CDABA-49F5-C34F-EF37-80420072B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49" y="1445037"/>
            <a:ext cx="1047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8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37BF-EF4B-D932-4F75-7F1E8F4B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</a:t>
            </a:r>
            <a:r>
              <a:rPr lang="en-US" dirty="0" err="1"/>
              <a:t>Reihen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217AB-497C-6554-DA8D-AA2B81E5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32B3D-DC16-EE83-E3B3-3AA325CF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1007F-3D98-5373-FADA-D4A20F40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70347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678B-F97B-7FF8-E6A6-847C1670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</a:t>
            </a:r>
            <a:r>
              <a:rPr lang="en-US" dirty="0" err="1"/>
              <a:t>Reihen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F4780-3DA1-5056-C931-7F8761376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 err="1"/>
                  <a:t>Jede</a:t>
                </a:r>
                <a:r>
                  <a:rPr lang="en-US" dirty="0"/>
                  <a:t> </a:t>
                </a:r>
                <a:r>
                  <a:rPr lang="en-US" dirty="0" err="1"/>
                  <a:t>Funktion</a:t>
                </a:r>
                <a:r>
                  <a:rPr lang="en-US" dirty="0"/>
                  <a:t> </a:t>
                </a:r>
                <a:r>
                  <a:rPr lang="en-US" dirty="0" err="1"/>
                  <a:t>im</a:t>
                </a:r>
                <a:r>
                  <a:rPr lang="en-US" dirty="0"/>
                  <a:t> </a:t>
                </a:r>
                <a:r>
                  <a:rPr lang="en-US" dirty="0" err="1"/>
                  <a:t>Intervall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lässt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:r>
                  <a:rPr lang="en-US" dirty="0" err="1"/>
                  <a:t>ihrer</a:t>
                </a:r>
                <a:r>
                  <a:rPr lang="en-US" dirty="0"/>
                  <a:t> Fourier-Reihe </a:t>
                </a:r>
                <a:r>
                  <a:rPr lang="en-US" dirty="0" err="1"/>
                  <a:t>annähern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 err="1"/>
                  <a:t>Wobei</a:t>
                </a:r>
                <a:r>
                  <a:rPr lang="en-US" dirty="0"/>
                  <a:t> die </a:t>
                </a:r>
                <a:r>
                  <a:rPr lang="en-US" b="1" dirty="0" err="1"/>
                  <a:t>fourier-koeffizienten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wie </a:t>
                </a:r>
                <a:r>
                  <a:rPr lang="en-US" dirty="0" err="1"/>
                  <a:t>folgt</a:t>
                </a:r>
                <a:r>
                  <a:rPr lang="en-US" dirty="0"/>
                  <a:t> </a:t>
                </a:r>
                <a:r>
                  <a:rPr lang="en-US" dirty="0" err="1"/>
                  <a:t>aussehen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Funktion</a:t>
                </a:r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Grenzwert</a:t>
                </a:r>
                <a:r>
                  <a:rPr lang="en-US" dirty="0"/>
                  <a:t> der Fourier-Reihe (</a:t>
                </a:r>
                <a:r>
                  <a:rPr lang="en-US" dirty="0" err="1"/>
                  <a:t>Parseval’sche</a:t>
                </a:r>
                <a:r>
                  <a:rPr lang="en-US" dirty="0"/>
                  <a:t> </a:t>
                </a:r>
                <a:r>
                  <a:rPr lang="en-US" dirty="0" err="1"/>
                  <a:t>Gleichung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Fkt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bilden</a:t>
                </a:r>
                <a:r>
                  <a:rPr lang="en-US" dirty="0"/>
                  <a:t> </a:t>
                </a:r>
                <a:r>
                  <a:rPr lang="en-US" dirty="0" err="1"/>
                  <a:t>eine</a:t>
                </a:r>
                <a:r>
                  <a:rPr lang="en-US" dirty="0"/>
                  <a:t> </a:t>
                </a:r>
                <a:r>
                  <a:rPr lang="en-US" b="1" dirty="0" err="1"/>
                  <a:t>vollständige</a:t>
                </a:r>
                <a:r>
                  <a:rPr lang="en-US" b="1" dirty="0"/>
                  <a:t> </a:t>
                </a:r>
                <a:r>
                  <a:rPr lang="en-US" b="1" dirty="0" err="1"/>
                  <a:t>Orthonormalbasis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F4780-3DA1-5056-C931-7F8761376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B4140-D335-E14A-96BA-947DA89D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AC17D-3CED-CCE5-0842-D56ED002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831B4-6CF5-104C-2B4A-C39AE5EC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821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0824-3ACB-C9E2-44D7-FB8AB4DB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</a:t>
            </a:r>
            <a:r>
              <a:rPr lang="en-US" dirty="0" err="1"/>
              <a:t>Reihen</a:t>
            </a:r>
            <a:r>
              <a:rPr lang="en-US" dirty="0"/>
              <a:t>: </a:t>
            </a:r>
            <a:r>
              <a:rPr lang="en-US" b="1" dirty="0"/>
              <a:t>Achtung!!!</a:t>
            </a:r>
            <a:endParaRPr lang="en-CH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8A8B5-C536-7ACE-25AF-1C3FAAE24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Die Notation </a:t>
                </a:r>
                <a:r>
                  <a:rPr lang="en-US" dirty="0" err="1"/>
                  <a:t>kann</a:t>
                </a:r>
                <a:r>
                  <a:rPr lang="en-US" dirty="0"/>
                  <a:t> für </a:t>
                </a:r>
                <a:r>
                  <a:rPr lang="en-US" dirty="0" err="1"/>
                  <a:t>Verwirrung</a:t>
                </a:r>
                <a:r>
                  <a:rPr lang="en-US" dirty="0"/>
                  <a:t> Sorgen! </a:t>
                </a:r>
              </a:p>
              <a:p>
                <a:pPr marL="0" indent="0">
                  <a:buNone/>
                </a:pPr>
                <a:r>
                  <a:rPr lang="en-US" dirty="0"/>
                  <a:t>Es </a:t>
                </a:r>
                <a:r>
                  <a:rPr lang="en-US" dirty="0" err="1"/>
                  <a:t>gelten</a:t>
                </a:r>
                <a:r>
                  <a:rPr lang="en-US" dirty="0"/>
                  <a:t> </a:t>
                </a:r>
                <a:r>
                  <a:rPr lang="en-US" dirty="0" err="1"/>
                  <a:t>folgende</a:t>
                </a:r>
                <a:r>
                  <a:rPr lang="en-US" dirty="0"/>
                  <a:t> </a:t>
                </a:r>
                <a:r>
                  <a:rPr lang="en-US" dirty="0" err="1"/>
                  <a:t>Analogien</a:t>
                </a:r>
                <a:r>
                  <a:rPr lang="en-US" dirty="0"/>
                  <a:t> </a:t>
                </a:r>
                <a:r>
                  <a:rPr lang="en-US" dirty="0" err="1"/>
                  <a:t>zur</a:t>
                </a:r>
                <a:r>
                  <a:rPr lang="en-US" dirty="0"/>
                  <a:t> Newton- und </a:t>
                </a:r>
                <a:r>
                  <a:rPr lang="en-US" dirty="0" err="1"/>
                  <a:t>Monom</a:t>
                </a:r>
                <a:r>
                  <a:rPr lang="en-US" dirty="0"/>
                  <a:t>-Interpolation: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Ähnlicher</a:t>
                </a:r>
                <a:r>
                  <a:rPr lang="en-US" dirty="0"/>
                  <a:t> </a:t>
                </a:r>
                <a:r>
                  <a:rPr lang="en-US" dirty="0" err="1"/>
                  <a:t>zur</a:t>
                </a:r>
                <a:r>
                  <a:rPr lang="en-US" dirty="0"/>
                  <a:t> </a:t>
                </a:r>
                <a:r>
                  <a:rPr lang="en-US" dirty="0" err="1"/>
                  <a:t>bisherigen</a:t>
                </a:r>
                <a:r>
                  <a:rPr lang="en-US" dirty="0"/>
                  <a:t> Notation: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+ ... 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+ ...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Mit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Oszillatoren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𝑖𝑗𝑡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und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Koeffizienten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ˆ"/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. Nur für Intuition!</a:t>
                </a:r>
                <a:endParaRPr lang="en-CH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8A8B5-C536-7ACE-25AF-1C3FAAE24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 b="-221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25E7C-6483-4407-94C5-AE1E59C6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88D73-E1DB-7068-4893-BDDB6390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A8C4-63DC-199C-2912-6DFB8532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62938B9-4B3C-64B7-930B-5770B15C01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831639"/>
                  </p:ext>
                </p:extLst>
              </p:nvPr>
            </p:nvGraphicFramePr>
            <p:xfrm>
              <a:off x="2171700" y="2411390"/>
              <a:ext cx="8127999" cy="13414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6344679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5796833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125620006"/>
                        </a:ext>
                      </a:extLst>
                    </a:gridCol>
                  </a:tblGrid>
                  <a:tr h="339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Fourier</a:t>
                          </a:r>
                          <a:endParaRPr lang="en-CH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/>
                            <a:t>Monom</a:t>
                          </a:r>
                          <a:endParaRPr lang="en-CH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Newton</a:t>
                          </a:r>
                          <a:endParaRPr lang="en-CH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259239"/>
                      </a:ext>
                    </a:extLst>
                  </a:tr>
                  <a:tr h="49643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ˆ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6384575"/>
                      </a:ext>
                    </a:extLst>
                  </a:tr>
                  <a:tr h="4792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𝑖𝑘𝑡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H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2526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62938B9-4B3C-64B7-930B-5770B15C01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831639"/>
                  </p:ext>
                </p:extLst>
              </p:nvPr>
            </p:nvGraphicFramePr>
            <p:xfrm>
              <a:off x="2171700" y="2411390"/>
              <a:ext cx="8127999" cy="13414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6344679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5796833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12562000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Fourier</a:t>
                          </a:r>
                          <a:endParaRPr lang="en-CH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/>
                            <a:t>Monom</a:t>
                          </a:r>
                          <a:endParaRPr lang="en-CH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Newton</a:t>
                          </a:r>
                          <a:endParaRPr lang="en-CH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259239"/>
                      </a:ext>
                    </a:extLst>
                  </a:tr>
                  <a:tr h="496434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225" t="-79268" r="-200674" b="-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79268" r="-101126" b="-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79268" r="-899" b="-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6384575"/>
                      </a:ext>
                    </a:extLst>
                  </a:tr>
                  <a:tr h="479291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86076" r="-200674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86076" r="-101126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86076" r="-899" b="-2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25264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7745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24F7-DB31-D7C3-E3DF-830FFC85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Fourier-Reihe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35E4B-01BD-12CD-6842-E976343DE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4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4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ˆ"/>
                              <m:ctrlPr>
                                <a:rPr lang="en-US" sz="4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4000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4000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4000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:endParaRPr lang="en-CH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35E4B-01BD-12CD-6842-E976343DE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57CEA-1068-5930-ACE5-4A9FD31A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6A661-96D3-69E0-EEE3-92FBC2CF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76512-1168-D88D-A3A4-E4964AD2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908EE9-D0B0-104B-F0E5-0619DD6F7888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394696" y="2619829"/>
            <a:ext cx="535875" cy="248253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C47857-3C05-5308-E349-4D7518D478ED}"/>
              </a:ext>
            </a:extLst>
          </p:cNvPr>
          <p:cNvSpPr txBox="1"/>
          <p:nvPr/>
        </p:nvSpPr>
        <p:spPr>
          <a:xfrm>
            <a:off x="4916525" y="5102364"/>
            <a:ext cx="29563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B7352D"/>
                </a:solidFill>
              </a:rPr>
              <a:t>Koeffizient</a:t>
            </a:r>
            <a:br>
              <a:rPr lang="en-US" b="1" dirty="0"/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Amplitude der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Schwingung</a:t>
            </a:r>
            <a:endParaRPr lang="en-CH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343ADD-FBDF-C0B0-101C-0B77ACF104A6}"/>
              </a:ext>
            </a:extLst>
          </p:cNvPr>
          <p:cNvSpPr txBox="1"/>
          <p:nvPr/>
        </p:nvSpPr>
        <p:spPr>
          <a:xfrm>
            <a:off x="8129351" y="4306270"/>
            <a:ext cx="3162763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215CAF"/>
                </a:solidFill>
              </a:rPr>
              <a:t>Basisvektor</a:t>
            </a:r>
            <a:br>
              <a:rPr lang="en-US" b="1" dirty="0"/>
            </a:b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Frequenz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der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Schwingung</a:t>
            </a:r>
            <a:endParaRPr lang="en-CH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F25348-76B7-2C43-5A6D-E243FC8C500E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040914" y="2551730"/>
            <a:ext cx="1669819" cy="175454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638B00-0C75-0A44-0406-B46563F9B7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908205" y="3178629"/>
            <a:ext cx="2173047" cy="108602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F8BFE61-EFC2-A106-D320-B30CB7EEE560}"/>
                  </a:ext>
                </a:extLst>
              </p:cNvPr>
              <p:cNvSpPr txBox="1"/>
              <p:nvPr/>
            </p:nvSpPr>
            <p:spPr>
              <a:xfrm>
                <a:off x="1430034" y="4264650"/>
                <a:ext cx="29563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b="1" dirty="0">
                    <a:solidFill>
                      <a:schemeClr val="accent3"/>
                    </a:solidFill>
                  </a:rPr>
                  <a:t> Schwingungen</a:t>
                </a:r>
                <a:br>
                  <a:rPr lang="en-US" b="1" dirty="0"/>
                </a:br>
                <a:endParaRPr lang="en-CH" i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F8BFE61-EFC2-A106-D320-B30CB7EEE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34" y="4264650"/>
                <a:ext cx="2956341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730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F166-41ED-63EE-707D-A1E97543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Reelle</a:t>
            </a:r>
            <a:r>
              <a:rPr lang="en-US" dirty="0"/>
              <a:t> Fourier-</a:t>
            </a:r>
            <a:r>
              <a:rPr lang="en-US" dirty="0" err="1"/>
              <a:t>Reihen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6ADD6-AE27-0F25-5519-50E8717F1F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Für </a:t>
                </a:r>
                <a:r>
                  <a:rPr lang="en-US" dirty="0" err="1"/>
                  <a:t>reellwertige</a:t>
                </a:r>
                <a:r>
                  <a:rPr lang="en-US" dirty="0"/>
                  <a:t> </a:t>
                </a:r>
                <a:r>
                  <a:rPr lang="en-US" dirty="0" err="1"/>
                  <a:t>Funktionen</a:t>
                </a:r>
                <a:r>
                  <a:rPr lang="en-US" dirty="0"/>
                  <a:t> </a:t>
                </a:r>
                <a:r>
                  <a:rPr lang="en-US" dirty="0" err="1"/>
                  <a:t>können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dies </a:t>
                </a:r>
                <a:r>
                  <a:rPr lang="en-US" dirty="0" err="1"/>
                  <a:t>auch</a:t>
                </a:r>
                <a:r>
                  <a:rPr lang="en-US" dirty="0"/>
                  <a:t> </a:t>
                </a:r>
                <a:r>
                  <a:rPr lang="en-US" dirty="0" err="1"/>
                  <a:t>darstellen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Reellwertiges</a:t>
                </a:r>
                <a:r>
                  <a:rPr lang="en-US" dirty="0"/>
                  <a:t> trig. </a:t>
                </a:r>
                <a:r>
                  <a:rPr lang="en-US" dirty="0" err="1"/>
                  <a:t>Polynom</a:t>
                </a:r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 Basis: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Reelle</a:t>
                </a:r>
                <a:r>
                  <a:rPr lang="en-US" dirty="0"/>
                  <a:t> Fourier-Reihe </a:t>
                </a:r>
                <a:r>
                  <a:rPr lang="en-US" dirty="0" err="1"/>
                  <a:t>Koeffizienten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6ADD6-AE27-0F25-5519-50E8717F1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E6547-8F77-005A-F420-A03D0372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AE8C7-74AC-3BEE-E26B-A36295DC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3D6A-6D10-B431-A07B-1FA44830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31747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B4A7-AF14-B3B2-CED1-C48BD5B1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WHY!?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28FE6-680D-3011-7EBB-0F160D32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40C63-C32A-0988-3F69-4338091C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F254B-846E-F57A-3B82-CDB4CB6B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653269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E550-E3E7-6BEF-7639-B3556949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Wieso</a:t>
            </a:r>
            <a:r>
              <a:rPr lang="en-US" dirty="0"/>
              <a:t> Fourier-</a:t>
            </a:r>
            <a:r>
              <a:rPr lang="en-US" dirty="0" err="1"/>
              <a:t>Reihen</a:t>
            </a:r>
            <a:r>
              <a:rPr lang="en-US" dirty="0"/>
              <a:t>?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890A52-FAAB-39B7-2340-FC71ADE36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2288" y="1890712"/>
            <a:ext cx="6067425" cy="37242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03D20-4535-888C-1FE0-694207E2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3F5B-2B0F-6B89-C7F4-B3D1E6D5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3F641-D131-0CA6-14F3-FB7119D3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595577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A632-7C36-820D-F150-992EA4A6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Wieso</a:t>
            </a:r>
            <a:r>
              <a:rPr lang="en-US" dirty="0"/>
              <a:t> Fourier-</a:t>
            </a:r>
            <a:r>
              <a:rPr lang="en-US" dirty="0" err="1"/>
              <a:t>Reihen</a:t>
            </a:r>
            <a:r>
              <a:rPr lang="en-US" dirty="0"/>
              <a:t>?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AE08-6497-3423-36E0-256FDAA7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Wieso</a:t>
            </a:r>
            <a:r>
              <a:rPr lang="en-US" dirty="0"/>
              <a:t> </a:t>
            </a:r>
            <a:r>
              <a:rPr lang="en-US" dirty="0" err="1"/>
              <a:t>Furier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Konvergiert</a:t>
            </a:r>
            <a:r>
              <a:rPr lang="en-US" dirty="0"/>
              <a:t> schnell, </a:t>
            </a:r>
            <a:r>
              <a:rPr lang="en-US" dirty="0" err="1"/>
              <a:t>wenn</a:t>
            </a:r>
            <a:r>
              <a:rPr lang="en-US" dirty="0"/>
              <a:t> signal </a:t>
            </a:r>
            <a:r>
              <a:rPr lang="en-US" dirty="0" err="1"/>
              <a:t>glatt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Nähert</a:t>
            </a:r>
            <a:r>
              <a:rPr lang="en-US" dirty="0"/>
              <a:t> </a:t>
            </a:r>
            <a:r>
              <a:rPr lang="en-US" i="1" dirty="0" err="1"/>
              <a:t>Jedes</a:t>
            </a:r>
            <a:r>
              <a:rPr lang="en-US" dirty="0"/>
              <a:t> Signal 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Erlaubt</a:t>
            </a:r>
            <a:r>
              <a:rPr lang="en-US" dirty="0"/>
              <a:t> </a:t>
            </a:r>
            <a:r>
              <a:rPr lang="en-US" dirty="0" err="1"/>
              <a:t>Darstellung</a:t>
            </a:r>
            <a:r>
              <a:rPr lang="en-US" dirty="0"/>
              <a:t> in der ‘Frequency Domain’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Kann </a:t>
            </a:r>
            <a:r>
              <a:rPr lang="en-US" dirty="0" err="1"/>
              <a:t>Signale</a:t>
            </a:r>
            <a:r>
              <a:rPr lang="en-US" dirty="0"/>
              <a:t> </a:t>
            </a:r>
            <a:r>
              <a:rPr lang="en-US" dirty="0" err="1"/>
              <a:t>filtern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7B44E-8216-BD71-5596-471D8804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ECA01-2833-C797-A5E0-A3584633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D67B-8C89-F8AA-1446-47E3CA65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3CED5-657D-EF3A-A925-54E6C6A88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22" y="2547258"/>
            <a:ext cx="5540340" cy="354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31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ED82-D720-6A3F-B314-0E2D421A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AEEE-218F-E2AC-A325-49E11E69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5B29-130C-BCF7-F4E7-13369419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BFA5D-30A5-F24D-3EAA-08EEE940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C7558-60AE-D1F5-CFC2-06A2101B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78" y="1233619"/>
            <a:ext cx="7701643" cy="4928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C3515C-30F8-7029-1D63-5D3BB76A5B61}"/>
              </a:ext>
            </a:extLst>
          </p:cNvPr>
          <p:cNvSpPr txBox="1"/>
          <p:nvPr/>
        </p:nvSpPr>
        <p:spPr>
          <a:xfrm>
            <a:off x="4387516" y="6507333"/>
            <a:ext cx="3416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(this plot was generated with the help of AI)</a:t>
            </a:r>
            <a:endParaRPr lang="en-CH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966591-1FC2-C8E3-892C-2D137FEA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en-US" dirty="0"/>
              <a:t>“Frequency Domain”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2585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1D43-0FC8-8008-7289-613B4C67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Fourier-Transformation: </a:t>
            </a:r>
            <a:r>
              <a:rPr lang="en-US" dirty="0" err="1"/>
              <a:t>Filterung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7EFF1-A6C3-F33F-4C10-556B4E16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1CCC2-B793-D3D6-065B-B5FE328E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3D1D5-A493-F4E0-3AB0-DED4D0B6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7BADB3-5F5C-2283-925D-13B747900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52" y="1701571"/>
            <a:ext cx="5200650" cy="3933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EE41DE-C2D4-1A29-6FA8-DA6610B4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701572"/>
            <a:ext cx="5200650" cy="39338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95C090-F0FE-5CB1-EE17-7A7EA12A4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4680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Kann in der Frequency Domain die </a:t>
            </a:r>
            <a:r>
              <a:rPr lang="en-US" dirty="0" err="1"/>
              <a:t>schwachen</a:t>
            </a:r>
            <a:r>
              <a:rPr lang="en-US" dirty="0"/>
              <a:t> </a:t>
            </a:r>
            <a:r>
              <a:rPr lang="en-US" dirty="0" err="1"/>
              <a:t>Frequenzen</a:t>
            </a:r>
            <a:r>
              <a:rPr lang="en-US" dirty="0"/>
              <a:t> </a:t>
            </a:r>
            <a:r>
              <a:rPr lang="en-US" dirty="0" err="1"/>
              <a:t>entfernen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8787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CA80-9FBF-D231-3A24-80C6550F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Diskrete</a:t>
            </a:r>
            <a:r>
              <a:rPr lang="en-US" dirty="0"/>
              <a:t> Fourier-Transformation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B9C58-8BBD-6B79-BD2D-9A2421C4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F7D1D-EE9F-A0E0-DE9F-FD069989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61B7F-DB1A-9CE1-5872-EEE8D4A5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42983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A3D5-E487-0B58-C7BC-CA097883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</a:t>
            </a:r>
            <a:r>
              <a:rPr lang="en-US" dirty="0" err="1"/>
              <a:t>Reihen</a:t>
            </a:r>
            <a:r>
              <a:rPr lang="en-US" dirty="0"/>
              <a:t>: </a:t>
            </a:r>
            <a:r>
              <a:rPr lang="en-US" dirty="0" err="1"/>
              <a:t>Annäherung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67A96-E0E4-5BC9-8438-695834003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analytischen</a:t>
                </a:r>
                <a:r>
                  <a:rPr lang="en-US" dirty="0"/>
                  <a:t> </a:t>
                </a:r>
                <a:r>
                  <a:rPr lang="en-US" dirty="0" err="1"/>
                  <a:t>Formeln</a:t>
                </a:r>
                <a:r>
                  <a:rPr lang="en-US" dirty="0"/>
                  <a:t> </a:t>
                </a:r>
                <a:r>
                  <a:rPr lang="en-US" dirty="0" err="1"/>
                  <a:t>lassen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oft nicht </a:t>
                </a:r>
                <a:r>
                  <a:rPr lang="en-US" dirty="0" err="1"/>
                  <a:t>direkt</a:t>
                </a:r>
                <a:r>
                  <a:rPr lang="en-US" dirty="0"/>
                  <a:t> </a:t>
                </a:r>
                <a:r>
                  <a:rPr lang="en-US" dirty="0" err="1"/>
                  <a:t>berechnen</a:t>
                </a:r>
                <a:r>
                  <a:rPr lang="en-US" dirty="0"/>
                  <a:t>. </a:t>
                </a:r>
                <a:r>
                  <a:rPr lang="en-US" dirty="0" err="1"/>
                  <a:t>Deswegen</a:t>
                </a:r>
                <a:r>
                  <a:rPr lang="en-US" dirty="0"/>
                  <a:t> </a:t>
                </a:r>
                <a:r>
                  <a:rPr lang="en-US" dirty="0" err="1"/>
                  <a:t>werden</a:t>
                </a:r>
                <a:r>
                  <a:rPr lang="en-US" dirty="0"/>
                  <a:t> </a:t>
                </a:r>
                <a:r>
                  <a:rPr lang="en-US" dirty="0" err="1"/>
                  <a:t>sie</a:t>
                </a:r>
                <a:r>
                  <a:rPr lang="en-US" dirty="0"/>
                  <a:t> </a:t>
                </a:r>
                <a:r>
                  <a:rPr lang="en-US" dirty="0" err="1"/>
                  <a:t>angenähert</a:t>
                </a:r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 N </a:t>
                </a:r>
                <a:r>
                  <a:rPr lang="en-US" dirty="0" err="1"/>
                  <a:t>fourier-Koeffizienten</a:t>
                </a:r>
                <a:r>
                  <a:rPr lang="en-US" dirty="0"/>
                  <a:t> an N </a:t>
                </a:r>
                <a:r>
                  <a:rPr lang="en-US" dirty="0" err="1"/>
                  <a:t>Stützstellen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Und </a:t>
                </a:r>
                <a:r>
                  <a:rPr lang="en-US" dirty="0" err="1"/>
                  <a:t>kombiniert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67A96-E0E4-5BC9-8438-695834003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 r="-682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5D8E-714B-013F-2C64-A413EB35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044C-A7BE-115E-03EE-D9EE38FF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9B4F6-02D8-8A8E-2411-709AAD0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26C88-25EF-75F2-6F9B-1F620F6044A3}"/>
              </a:ext>
            </a:extLst>
          </p:cNvPr>
          <p:cNvSpPr txBox="1"/>
          <p:nvPr/>
        </p:nvSpPr>
        <p:spPr>
          <a:xfrm>
            <a:off x="9546274" y="2329543"/>
            <a:ext cx="175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Summe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abschneiden</a:t>
            </a:r>
            <a:endParaRPr lang="en-CH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00EDE-70A7-7204-CB85-4BBC0D4ABC19}"/>
              </a:ext>
            </a:extLst>
          </p:cNvPr>
          <p:cNvSpPr txBox="1"/>
          <p:nvPr/>
        </p:nvSpPr>
        <p:spPr>
          <a:xfrm>
            <a:off x="9546274" y="3569376"/>
            <a:ext cx="175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Riemann-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Annäherung</a:t>
            </a:r>
            <a:endParaRPr lang="en-CH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84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D74B-D051-9C1C-B854-2C8B7BBD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dirty="0" err="1"/>
              <a:t>sind</a:t>
            </a:r>
            <a:r>
              <a:rPr lang="en-US" dirty="0"/>
              <a:t> fast so </a:t>
            </a:r>
            <a:r>
              <a:rPr lang="en-US" dirty="0" err="1"/>
              <a:t>weit</a:t>
            </a:r>
            <a:r>
              <a:rPr lang="en-US" dirty="0"/>
              <a:t>!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E4768-D9FE-D32F-C293-7D890C86E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Wait What???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E4768-D9FE-D32F-C293-7D890C86E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06BA-884B-31AA-C5D0-9E0CD01E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F8B8-C66F-2ED5-E767-D7CB4C7D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1E37-F608-4BC6-056F-E26F7749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649619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2036-F2F0-E44F-F2A8-8072B431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</a:t>
            </a:r>
            <a:r>
              <a:rPr lang="en-US" dirty="0" err="1"/>
              <a:t>Frequenzen</a:t>
            </a:r>
            <a:r>
              <a:rPr lang="en-US" dirty="0"/>
              <a:t> Analog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Hohen</a:t>
            </a:r>
            <a:r>
              <a:rPr lang="en-US" dirty="0"/>
              <a:t> </a:t>
            </a:r>
            <a:r>
              <a:rPr lang="en-US" dirty="0" err="1"/>
              <a:t>Frequenzen</a:t>
            </a:r>
            <a:r>
              <a:rPr lang="en-US" dirty="0"/>
              <a:t>?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171A5-82B4-A649-5464-B7333DBA52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Bei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Messstellen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...∗</m:t>
                              </m:r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gilt: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CH" sz="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171A5-82B4-A649-5464-B7333DBA5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EC1C1-2547-55D7-7BCB-AFB0A067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FF7E-4F30-BAD6-09DF-6C6BE02C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5CBD-5FB7-B832-CE0E-B74D8F3E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F32C31-684D-8308-21DF-F0B85039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07" y="3129897"/>
            <a:ext cx="3525739" cy="29629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F1F2B-46C4-32A6-DAC7-A7804F7C3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130" y="3129897"/>
            <a:ext cx="3525739" cy="2962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38F4A3-23D8-8241-7EBD-BA3D8BA5C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353" y="3129897"/>
            <a:ext cx="3525740" cy="296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3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9F69-6C65-A135-9068-CCBE082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 FORMEL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D28D-00BF-DD9B-5554-1D0E27568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p>
                        <m:sSup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4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Jetzt</a:t>
                </a:r>
                <a:r>
                  <a:rPr lang="en-US" dirty="0"/>
                  <a:t> </a:t>
                </a:r>
                <a:r>
                  <a:rPr lang="en-US" dirty="0" err="1"/>
                  <a:t>noch</a:t>
                </a:r>
                <a:r>
                  <a:rPr lang="en-US" dirty="0"/>
                  <a:t> </a:t>
                </a:r>
                <a:r>
                  <a:rPr lang="en-US" dirty="0" err="1"/>
                  <a:t>effizient</a:t>
                </a:r>
                <a:r>
                  <a:rPr lang="en-US" dirty="0"/>
                  <a:t> die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finden</a:t>
                </a:r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 der…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D28D-00BF-DD9B-5554-1D0E27568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FB0C6-3F7F-850A-F1E7-E5DF1D72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87FDC-5CB2-0F08-E230-1B62CC66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D58B6-35CE-3CB1-1007-0EE41D58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01911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7A0F-48D2-C0BE-019B-B9DA79A8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Fourier-Matrix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3BB12-9469-9A87-E977-3069F7DA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B788D-967C-0FF9-5B40-8932D3AF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21DC4-A4C7-4096-0A48-56ABA372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827469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C297-1716-072C-DA57-BCDD6682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DFT: Ansatz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55AD-5514-83B6-B7E3-D6A258651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Seien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die </a:t>
                </a:r>
                <a:r>
                  <a:rPr lang="en-US" b="1" dirty="0" err="1"/>
                  <a:t>Einheitswurzeln</a:t>
                </a:r>
                <a:r>
                  <a:rPr lang="en-US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folgenden</a:t>
                </a:r>
                <a:r>
                  <a:rPr lang="en-US" dirty="0"/>
                  <a:t> </a:t>
                </a:r>
                <a:r>
                  <a:rPr lang="en-US" dirty="0" err="1"/>
                  <a:t>Vektoren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die </a:t>
                </a:r>
                <a:r>
                  <a:rPr lang="en-US" i="1" dirty="0" err="1"/>
                  <a:t>trigonometrische</a:t>
                </a:r>
                <a:r>
                  <a:rPr lang="en-US" i="1" dirty="0"/>
                  <a:t> Basis </a:t>
                </a:r>
                <a:r>
                  <a:rPr lang="en-US" dirty="0"/>
                  <a:t>von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 (Orthogonal):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0∙0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1∙0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∙0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0∙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1∙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Heisst</a:t>
                </a:r>
                <a:r>
                  <a:rPr lang="en-US" dirty="0"/>
                  <a:t> für die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55AD-5514-83B6-B7E3-D6A258651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26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1E343-DA09-A301-EF41-6D9CB46C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4014-6D05-0A61-A54D-48076283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AE13-4370-9D4A-2212-F86544C8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B1534-082C-15B0-FC5C-78E06F161E2B}"/>
                  </a:ext>
                </a:extLst>
              </p:cNvPr>
              <p:cNvSpPr txBox="1"/>
              <p:nvPr/>
            </p:nvSpPr>
            <p:spPr>
              <a:xfrm>
                <a:off x="8512628" y="1432379"/>
                <a:ext cx="2947533" cy="38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ist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ein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75000"/>
                      </a:schemeClr>
                    </a:solidFill>
                  </a:rPr>
                  <a:t>Oszillator</a:t>
                </a:r>
                <a:endParaRPr lang="en-CH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B1534-082C-15B0-FC5C-78E06F161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28" y="1432379"/>
                <a:ext cx="2947533" cy="380425"/>
              </a:xfrm>
              <a:prstGeom prst="rect">
                <a:avLst/>
              </a:prstGeom>
              <a:blipFill>
                <a:blip r:embed="rId3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779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ED36-5C95-8872-84FD-A0F3B974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Fourier-Matrix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22DE01-16D4-815A-4F1E-F135B089A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34" y="1160351"/>
            <a:ext cx="9773930" cy="27377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99F47-F93D-1773-F349-EBC34D1A8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EF335-AA76-1003-D6B0-ACAA7699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A929E-F4F0-8415-4AAC-111EBAC8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87626BF-F0FC-BB4A-44E1-3696CEE728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837" y="4386943"/>
                <a:ext cx="10728325" cy="170593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539750" indent="-539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+mj-lt"/>
                  <a:buAutoNum type="arabicPeriod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79500" indent="-5397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+mj-lt"/>
                  <a:buAutoNum type="arabicPeriod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612900" indent="-5334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+mj-lt"/>
                  <a:buAutoNum type="arabicPeriod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52650" indent="-5397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+mj-lt"/>
                  <a:buAutoNum type="arabicPeriod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692400" indent="-5397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+mj-lt"/>
                  <a:buAutoNum type="arabicPeriod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+mj-lt"/>
                  <a:buNone/>
                </a:pPr>
                <a:r>
                  <a:rPr lang="en-US" dirty="0"/>
                  <a:t>Dank </a:t>
                </a:r>
                <a:r>
                  <a:rPr lang="en-US" dirty="0" err="1"/>
                  <a:t>Orthogonalität</a:t>
                </a:r>
                <a:r>
                  <a:rPr lang="en-US" dirty="0"/>
                  <a:t>:</a:t>
                </a:r>
              </a:p>
              <a:p>
                <a:pPr marL="0" indent="0">
                  <a:buFont typeface="+mj-lt"/>
                  <a:buNone/>
                </a:pPr>
                <a:endParaRPr lang="en-US" dirty="0"/>
              </a:p>
              <a:p>
                <a:pPr marL="0" indent="0" algn="ctr">
                  <a:buFont typeface="+mj-lt"/>
                  <a:buNone/>
                </a:pPr>
                <a:r>
                  <a:rPr lang="en-US" b="1" dirty="0" err="1"/>
                  <a:t>Multiplikation</a:t>
                </a:r>
                <a:r>
                  <a:rPr lang="en-US" b="1" dirty="0"/>
                  <a:t> </a:t>
                </a:r>
                <a:r>
                  <a:rPr lang="en-US" b="1" dirty="0" err="1"/>
                  <a:t>mit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entspricht</a:t>
                </a:r>
                <a:r>
                  <a:rPr lang="en-US" b="1" dirty="0"/>
                  <a:t> der </a:t>
                </a:r>
                <a:r>
                  <a:rPr lang="en-US" b="1" dirty="0" err="1"/>
                  <a:t>Diskreten</a:t>
                </a:r>
                <a:r>
                  <a:rPr lang="en-US" b="1" dirty="0"/>
                  <a:t> Fourier-Transformation!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87626BF-F0FC-BB4A-44E1-3696CEE72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7" y="4386943"/>
                <a:ext cx="10728325" cy="1705932"/>
              </a:xfrm>
              <a:prstGeom prst="rect">
                <a:avLst/>
              </a:prstGeom>
              <a:blipFill>
                <a:blip r:embed="rId3"/>
                <a:stretch>
                  <a:fillRect l="-1307" t="-4659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58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4A35B86-40BC-B0BF-A1A3-DB5BAAE5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en-US" dirty="0" err="1"/>
              <a:t>Diskrete</a:t>
            </a:r>
            <a:r>
              <a:rPr lang="en-US" dirty="0"/>
              <a:t> Fourier-Transformation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44235-4B32-BEE1-F0ED-E40F6A2B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8" y="1412875"/>
            <a:ext cx="10697142" cy="468000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09719-7C0C-1A25-EBD4-687B96D5D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1B96697-4585-4368-989A-16003D150648}" type="datetime1">
              <a:rPr lang="de-CH" noProof="0" smtClean="0"/>
              <a:pPr>
                <a:spcAft>
                  <a:spcPts val="600"/>
                </a:spcAft>
              </a:pPr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CB47-E835-5B75-1011-580F6396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C6D8E-377E-FD63-2D2B-38C29F08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32</a:t>
            </a:fld>
            <a:endParaRPr lang="de-CH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C2F505-6E14-84E6-6427-D4A26669A5CB}"/>
              </a:ext>
            </a:extLst>
          </p:cNvPr>
          <p:cNvGrpSpPr/>
          <p:nvPr/>
        </p:nvGrpSpPr>
        <p:grpSpPr>
          <a:xfrm>
            <a:off x="8164286" y="1866900"/>
            <a:ext cx="2476500" cy="2334986"/>
            <a:chOff x="8164286" y="1866900"/>
            <a:chExt cx="2476500" cy="23349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9A1656-5F27-3EA6-3517-77CE6E17C3AD}"/>
                </a:ext>
              </a:extLst>
            </p:cNvPr>
            <p:cNvSpPr txBox="1"/>
            <p:nvPr/>
          </p:nvSpPr>
          <p:spPr>
            <a:xfrm>
              <a:off x="8164286" y="1866900"/>
              <a:ext cx="2476500" cy="9233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Die </a:t>
              </a:r>
              <a:r>
                <a:rPr lang="en-US" dirty="0" err="1"/>
                <a:t>mittleren</a:t>
              </a:r>
              <a:r>
                <a:rPr lang="en-US" dirty="0"/>
                <a:t> </a:t>
              </a:r>
              <a:r>
                <a:rPr lang="en-US" dirty="0" err="1"/>
                <a:t>Frequenzen</a:t>
              </a:r>
              <a:r>
                <a:rPr lang="en-US" dirty="0"/>
                <a:t> </a:t>
              </a:r>
              <a:r>
                <a:rPr lang="en-US" dirty="0" err="1"/>
                <a:t>sind</a:t>
              </a:r>
              <a:r>
                <a:rPr lang="en-US" dirty="0"/>
                <a:t> oft am </a:t>
              </a:r>
              <a:r>
                <a:rPr lang="en-US" dirty="0" err="1"/>
                <a:t>schwächsten</a:t>
              </a:r>
              <a:r>
                <a:rPr lang="en-US" dirty="0"/>
                <a:t>!!!</a:t>
              </a:r>
              <a:endParaRPr lang="en-CH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70CDF40-6164-DFF7-B66A-F5642038BA7F}"/>
                </a:ext>
              </a:extLst>
            </p:cNvPr>
            <p:cNvCxnSpPr>
              <a:stCxn id="2" idx="2"/>
            </p:cNvCxnSpPr>
            <p:nvPr/>
          </p:nvCxnSpPr>
          <p:spPr>
            <a:xfrm flipH="1">
              <a:off x="8822871" y="2790230"/>
              <a:ext cx="579665" cy="1411656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842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0907-FC9D-71E8-1A6F-ED55E46A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in </a:t>
            </a:r>
            <a:r>
              <a:rPr lang="en-US" dirty="0" err="1"/>
              <a:t>Numpy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40D20-4818-08BF-2507-05F367A7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0E363-8714-AD1C-4415-7EF51952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AFCC8-63B7-A6DD-BC47-51BEC41B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041315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8BD8-DF6B-6071-04DA-3F6FA841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in </a:t>
            </a:r>
            <a:r>
              <a:rPr lang="en-US" dirty="0" err="1"/>
              <a:t>Numpy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A9C99-5287-6073-FA48-A6339D66F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np.fft.fft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</a:t>
                </a:r>
                <a:r>
                  <a:rPr lang="en-US" dirty="0">
                    <a:cs typeface="Cascadia Mono" panose="020B0609020000020004" pitchFamily="49" charset="0"/>
                  </a:rPr>
                  <a:t>		</a:t>
                </a:r>
                <a:r>
                  <a:rPr lang="en-US" dirty="0" err="1">
                    <a:cs typeface="Cascadia Mono" panose="020B0609020000020004" pitchFamily="49" charset="0"/>
                  </a:rPr>
                  <a:t>Nimmt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Messwerte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an </a:t>
                </a:r>
                <a:r>
                  <a:rPr lang="en-US" dirty="0" err="1">
                    <a:cs typeface="Cascadia Mono" panose="020B0609020000020004" pitchFamily="49" charset="0"/>
                  </a:rPr>
                  <a:t>Stellen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entgegen,</a:t>
                </a:r>
              </a:p>
              <a:p>
                <a:pPr marL="0" indent="0">
                  <a:buNone/>
                </a:pPr>
                <a:r>
                  <a:rPr lang="en-US" dirty="0">
                    <a:cs typeface="Cascadia Mono" panose="020B0609020000020004" pitchFamily="49" charset="0"/>
                  </a:rPr>
                  <a:t>			</a:t>
                </a:r>
                <a:r>
                  <a:rPr lang="en-US" dirty="0" err="1">
                    <a:cs typeface="Cascadia Mono" panose="020B0609020000020004" pitchFamily="49" charset="0"/>
                  </a:rPr>
                  <a:t>Gibt</a:t>
                </a:r>
                <a:r>
                  <a:rPr lang="en-US" dirty="0">
                    <a:cs typeface="Cascadia Mono" panose="020B0609020000020004" pitchFamily="49" charset="0"/>
                  </a:rPr>
                  <a:t> Fourier-</a:t>
                </a:r>
                <a:r>
                  <a:rPr lang="en-US" dirty="0" err="1">
                    <a:cs typeface="Cascadia Mono" panose="020B0609020000020004" pitchFamily="49" charset="0"/>
                  </a:rPr>
                  <a:t>Koeffizienten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zurück</a:t>
                </a:r>
                <a:r>
                  <a:rPr lang="en-US" dirty="0">
                    <a:cs typeface="Cascadia Mono" panose="020B0609020000020004" pitchFamily="49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dirty="0">
                  <a:cs typeface="Cascadia Mono" panose="020B0609020000020004" pitchFamily="49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np.fft.ifft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</a:t>
                </a:r>
                <a:r>
                  <a:rPr lang="en-US" dirty="0">
                    <a:cs typeface="Cascadia Mono" panose="020B0609020000020004" pitchFamily="49" charset="0"/>
                  </a:rPr>
                  <a:t>		</a:t>
                </a:r>
                <a:r>
                  <a:rPr lang="en-US" dirty="0" err="1">
                    <a:cs typeface="Cascadia Mono" panose="020B0609020000020004" pitchFamily="49" charset="0"/>
                  </a:rPr>
                  <a:t>Nimmt</a:t>
                </a:r>
                <a:r>
                  <a:rPr lang="en-US" dirty="0">
                    <a:cs typeface="Cascadia Mono" panose="020B0609020000020004" pitchFamily="49" charset="0"/>
                  </a:rPr>
                  <a:t> Fourier-</a:t>
                </a:r>
                <a:r>
                  <a:rPr lang="en-US" dirty="0" err="1">
                    <a:cs typeface="Cascadia Mono" panose="020B0609020000020004" pitchFamily="49" charset="0"/>
                  </a:rPr>
                  <a:t>Koeffizienten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entgegen,</a:t>
                </a:r>
              </a:p>
              <a:p>
                <a:pPr marL="0" indent="0">
                  <a:buNone/>
                </a:pPr>
                <a:r>
                  <a:rPr lang="en-US" dirty="0">
                    <a:cs typeface="Cascadia Mono" panose="020B0609020000020004" pitchFamily="49" charset="0"/>
                  </a:rPr>
                  <a:t>			</a:t>
                </a:r>
                <a:r>
                  <a:rPr lang="en-US" dirty="0" err="1">
                    <a:cs typeface="Cascadia Mono" panose="020B0609020000020004" pitchFamily="49" charset="0"/>
                  </a:rPr>
                  <a:t>Gibt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Auswertung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an </a:t>
                </a:r>
                <a:r>
                  <a:rPr lang="en-US" dirty="0" err="1">
                    <a:cs typeface="Cascadia Mono" panose="020B0609020000020004" pitchFamily="49" charset="0"/>
                  </a:rPr>
                  <a:t>Stellen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zurück</a:t>
                </a:r>
                <a:r>
                  <a:rPr lang="en-US" dirty="0">
                    <a:cs typeface="Cascadia Mono" panose="020B0609020000020004" pitchFamily="49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cs typeface="Cascadia Mono" panose="020B0609020000020004" pitchFamily="49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np.fft.fftshift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</a:t>
                </a:r>
                <a:r>
                  <a:rPr lang="en-US" dirty="0">
                    <a:cs typeface="Cascadia Mono" panose="020B0609020000020004" pitchFamily="49" charset="0"/>
                  </a:rPr>
                  <a:t>	</a:t>
                </a:r>
                <a:r>
                  <a:rPr lang="en-US" dirty="0" err="1">
                    <a:cs typeface="Cascadia Mono" panose="020B0609020000020004" pitchFamily="49" charset="0"/>
                  </a:rPr>
                  <a:t>Nimmt</a:t>
                </a:r>
                <a:r>
                  <a:rPr lang="en-US" dirty="0">
                    <a:cs typeface="Cascadia Mono" panose="020B0609020000020004" pitchFamily="49" charset="0"/>
                  </a:rPr>
                  <a:t> Fourier-</a:t>
                </a:r>
                <a:r>
                  <a:rPr lang="en-US" dirty="0" err="1">
                    <a:cs typeface="Cascadia Mono" panose="020B0609020000020004" pitchFamily="49" charset="0"/>
                  </a:rPr>
                  <a:t>Koeffizienten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entgegen</a:t>
                </a:r>
                <a:r>
                  <a:rPr lang="en-US" dirty="0">
                    <a:cs typeface="Cascadia Mono" panose="020B0609020000020004" pitchFamily="49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dirty="0">
                    <a:cs typeface="Cascadia Mono" panose="020B0609020000020004" pitchFamily="49" charset="0"/>
                  </a:rPr>
                  <a:t>			</a:t>
                </a:r>
                <a:r>
                  <a:rPr lang="en-US" dirty="0" err="1">
                    <a:cs typeface="Cascadia Mono" panose="020B0609020000020004" pitchFamily="49" charset="0"/>
                  </a:rPr>
                  <a:t>Gibt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diese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umgeordnet</a:t>
                </a:r>
                <a:r>
                  <a:rPr lang="en-US" dirty="0">
                    <a:cs typeface="Cascadia Mono" panose="020B0609020000020004" pitchFamily="49" charset="0"/>
                  </a:rPr>
                  <a:t> </a:t>
                </a:r>
                <a:r>
                  <a:rPr lang="en-US" dirty="0" err="1">
                    <a:cs typeface="Cascadia Mono" panose="020B0609020000020004" pitchFamily="49" charset="0"/>
                  </a:rPr>
                  <a:t>zurück</a:t>
                </a:r>
                <a:r>
                  <a:rPr lang="en-US" dirty="0">
                    <a:cs typeface="Cascadia Mono" panose="020B0609020000020004" pitchFamily="49" charset="0"/>
                  </a:rPr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cs typeface="Cascadia Mono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A9C99-5287-6073-FA48-A6339D66F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261" r="-11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58386-2219-E01D-D471-380B31EA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C8D9E-24E5-6F5C-3E98-3BF97349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0FEBB-D7BA-FEA2-24FF-8AA8908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79143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E708-728A-928E-9737-D362215B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Session…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E4F1-A7CF-A4B0-40B4-3B4142EF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02.10.2026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26C99-9A02-4656-3400-1DC7966F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4AC9-5618-5EF7-1F0A-5631069E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808448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Jonas Vonäsch</a:t>
            </a:r>
          </a:p>
          <a:p>
            <a:r>
              <a:rPr lang="de-CH" noProof="0" dirty="0"/>
              <a:t>Teaching Assistant NumCS</a:t>
            </a:r>
          </a:p>
          <a:p>
            <a:r>
              <a:rPr lang="de-CH" noProof="0" dirty="0"/>
              <a:t>jvonaesch@student.ethz.ch</a:t>
            </a:r>
          </a:p>
          <a:p>
            <a:endParaRPr lang="de-CH" noProof="0" dirty="0"/>
          </a:p>
          <a:p>
            <a:r>
              <a:rPr lang="de-CH" dirty="0"/>
              <a:t>j</a:t>
            </a:r>
            <a:r>
              <a:rPr lang="de-CH" noProof="0" dirty="0"/>
              <a:t>vonaesch.github.io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7932926-A987-44F4-A8A1-AB55FBE1FD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NumCS Powerpoint.potx" id="{C0EDE8DF-9BDB-4F99-BC3E-08DEC1079641}" vid="{07E87EA8-80A8-4F10-B825-41539FDB5AED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925</Words>
  <Application>Microsoft Office PowerPoint</Application>
  <PresentationFormat>Widescreen</PresentationFormat>
  <Paragraphs>282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Cambria Math</vt:lpstr>
      <vt:lpstr>Cascadia Mono</vt:lpstr>
      <vt:lpstr>Symbol</vt:lpstr>
      <vt:lpstr>ETH Zürich</vt:lpstr>
      <vt:lpstr>Woche 3:  Trigonometrische Interpolation</vt:lpstr>
      <vt:lpstr>Agenda</vt:lpstr>
      <vt:lpstr>Clenshaw Recap</vt:lpstr>
      <vt:lpstr>Chebyshev-Interpolationspolynom</vt:lpstr>
      <vt:lpstr>Chebyshev-Auswertung mit Clenshaw</vt:lpstr>
      <vt:lpstr>Fazit</vt:lpstr>
      <vt:lpstr>Trigonometrische Polynome</vt:lpstr>
      <vt:lpstr>Trigonometrische Polynome</vt:lpstr>
      <vt:lpstr>Anatomie der Basis-Oszillatoren</vt:lpstr>
      <vt:lpstr>Anatomie der Basis-Oszillatoren: 3Blue1Brown</vt:lpstr>
      <vt:lpstr>Unser Ziel: Frequenzen Trennen</vt:lpstr>
      <vt:lpstr>Reelle Schwingungen ~ Komplexe Schwingungen</vt:lpstr>
      <vt:lpstr>Reelle Schwingungen ~ Komplexe Schwingungen</vt:lpstr>
      <vt:lpstr>Fourier-Reihen</vt:lpstr>
      <vt:lpstr>Fourier-Reihen</vt:lpstr>
      <vt:lpstr>Fourier-Reihen: Achtung!!!</vt:lpstr>
      <vt:lpstr>Anatomie einer Fourier-Reihe</vt:lpstr>
      <vt:lpstr>Reelle Fourier-Reihen</vt:lpstr>
      <vt:lpstr>WHY!?</vt:lpstr>
      <vt:lpstr>Wieso Fourier-Reihen?</vt:lpstr>
      <vt:lpstr>Wieso Fourier-Reihen?</vt:lpstr>
      <vt:lpstr>“Frequency Domain”</vt:lpstr>
      <vt:lpstr>Fourier-Transformation: Filterung</vt:lpstr>
      <vt:lpstr>Diskrete Fourier-Transformation</vt:lpstr>
      <vt:lpstr>Fourier-Reihen: Annäherung</vt:lpstr>
      <vt:lpstr>Wir sind fast so weit!</vt:lpstr>
      <vt:lpstr>Negative Frequenzen Analog zu Hohen Frequenzen?</vt:lpstr>
      <vt:lpstr>DIE FORMEL</vt:lpstr>
      <vt:lpstr>Fourier-Matrix</vt:lpstr>
      <vt:lpstr>DFT: Ansatz</vt:lpstr>
      <vt:lpstr>Fourier-Matrix</vt:lpstr>
      <vt:lpstr>Diskrete Fourier-Transformation</vt:lpstr>
      <vt:lpstr>Fourier in Numpy</vt:lpstr>
      <vt:lpstr>Fourier in Numpy</vt:lpstr>
      <vt:lpstr>Coding Session…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Vonäsch</dc:creator>
  <cp:lastModifiedBy>Jonas Vonäsch</cp:lastModifiedBy>
  <cp:revision>224</cp:revision>
  <dcterms:created xsi:type="dcterms:W3CDTF">2026-09-25T08:15:36Z</dcterms:created>
  <dcterms:modified xsi:type="dcterms:W3CDTF">2026-10-02T08:48:38Z</dcterms:modified>
</cp:coreProperties>
</file>